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1b0d4c87-7fad-6712-24de-391d609755db}">
          <p14:sldIdLst>
            <p14:sldId id="256"/>
            <p14:sldId id="257"/>
            <p14:sldId id="258"/>
            <p14:sldId id="259"/>
          </p14:sldIdLst>
        </p14:section>
        <p14:section name="Passwortmanager" id="{5934c2fd-e275-4ece-76c1-2fb6d6233fd8}">
          <p14:sldIdLst>
            <p14:sldId id="260"/>
            <p14:sldId id="261"/>
            <p14:sldId id="262"/>
            <p14:sldId id="263"/>
            <p14:sldId id="264"/>
            <p14:sldId id="265"/>
            <p14:sldId id="266"/>
            <p14:sldId id="267"/>
            <p14:sldId id="268"/>
          </p14:sldIdLst>
        </p14:section>
        <p14:section name="Zwei-Faktor" id="{1b299760-177e-cdfb-69b5-98e7d23bd3d6}">
          <p14:sldIdLst>
            <p14:sldId id="269"/>
            <p14:sldId id="270"/>
            <p14:sldId id="271"/>
            <p14:sldId id="272"/>
          </p14:sldIdLst>
        </p14:section>
        <p14:section name="Praxis und Ausblick" id="{78e99824-f0c2-765d-e121-d237639f4e36}">
          <p14:sldIdLst>
            <p14:sldId id="273"/>
            <p14:sldId id="274"/>
          </p14:sldIdLst>
        </p14:section>
        <p14:section name="Quellen" id="{352d1b1b-badd-101c-d7f1-e5734c8a5d11}">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Heute geht es um zwei einfache Dinge, die euch im Internet viel sicherer machen: einen Passwortmanager – also einen Tresor für eure Passwörter – und einen zweiten Schlüssel, die Zwei-Faktor-Anmeldung. Grundlage sind zwei „Wechselrezepte“ vom Digital Independence Day auf di.day. Keine Angst: Es wird nicht technisch.
Quellen:
[1] di.day – Wechselrezept „Passwörter in Deiner Hand“: https://di.day/de/wechselrezepte/passwords
[2] di.day – Wechselrezept „Authenticator“: https://di.day/de/wechselrezepte/authenticator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 mir: Ich bin Teil von bitcircus101, einem offenen Hackspace hier in Bonn, und Mitglied im Datenburg e.V., dem Bonner Chaostreff und Hackspace. Und privat gilt: I like computers &amp; bikes – ich tüftle am Rechner und bin gern mit dem Rad unterwegs. Und für Passwörter und Codes nutze ich selbst den iCloud-Schlüsselbund, Bitwarden und 2FAS – dazu später mehr.
Quellen:
[3] bitcircus101 – offener Hackspace in Bonn: https://bitcircus101.de
[4] Datenburg e.V. – Bonner Chaostreff und Hackspace: https://datenburg.org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läuft es oft: Ein Passwort, das man sich gut merken kann, wird überall benutzt. „Sommer2024!“ zum Beispiel steht laut Have I Been Pwned schon 678-mal in bekannten Datenlecks. Dann wird irgendein kleiner Online-Shop gehackt. Die Angreifer nehmen die Liste mit E-Mail und Passwort und probieren sie automatisch bei anderen Diensten aus – Fachleute nennen das Credential Stuffing. Mit einem Leck stehen so alle Türen offen. Das BSI sagt deshalb: ein Passwort immer nur für einen Zugang. Merken kann sich das niemand – das macht ein Passwortmanager.
Quellen:
[5] BSI – Sichere Passwörter erstellen: https://www.bsi.bund.de/DE/Themen/Verbraucherinnen-und-Verbraucher/Informationen-und-Empfehlungen/Cyber-Sicherheitsempfehlungen/Accountschutz/Sichere-Passwoerter-erstellen/sichere-passwoerter-erstellen_node.html
[6] OWASP – Credential Stuffing: https://community.owasp.org/attacks/Credential_stuffing
[7] Have I Been Pwned – Pwned Passwords (Abfrage am 27.10.2026): https://haveibeenpwned.com/Passwords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wichtigste Botschaft heute. Fachleute streiten gern darüber, welcher Passwortmanager der beste ist. Das BSI hat 2025 zehn Passwortmanager untersucht und Mängel gefunden – und sagt trotzdem: Der Nutzen überwiegt bei weitem. Für euch zählt erst mal nur: überhaupt einen benutzen. Der Passwortspeicher im Browser ist schon ein riesiger Schritt nach vorn. Unabhängiger werden kann man danach immer noch – Schritt für Schritt.
Quellen:
[8] BSI – Pressemitteilung „Verbesserungsbedarf bei Passwortmanagern“ (09.12.2025): https://www.bsi.bund.de/DE/Service-Navi/Presse/Pressemitteilungen/Presse2025/251209_Verbesserungsbedarf_Passwortmanager.html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Passwortmanager macht vier Dinge: Er merkt sich alle Passwörter – verschlüsselt, also für Fremde unlesbar. Er erfindet neue, starke Passwörter, wenn ihr euch irgendwo anmeldet. Er füllt sie automatisch aus. Und viele warnen euch, wenn ein Passwort zu schwach ist, doppelt benutzt wird oder in einem Datenleck aufgetaucht ist. Ihr selbst merkt euch nur noch ein Passwort, oder ihr entsperrt mit Fingerabdruck oder Gesicht.
Quellen:
[9] BSI – Passwörter verwalten mit dem Passwort-Manager: https://www.bsi.bund.de/DE/Themen/Verbraucherinnen-und-Verbraucher/Informationen-und-Empfehlungen/Cyber-Sicherheitsempfehlungen/Accountschutz/Sichere-Passwoerter-erstellen/Passwort-Manager/passwort-manager_node.html
[10] Google Chrome-Hilfe – Passwörter in Chrome verwalten: https://support.google.com/chrome/answer/95606?hl=de
[11] Mozilla Support – Passwortverwaltung in Firefox: https://support.mozilla.org/de/kb/passworter-verwalten-speichern-loeschen-aendern
[12] Google-Konto-Hilfe – Kompromittierte Passwörter ändern (Passwortcheck): https://support.google.com/accounts/answer/9457609?hl=de
[13] Apple Support – Die App „Passwörter“: https://support.apple.com/de-de/120758
[14] Apple Support – Gespeicherte Passwörter und Passkeys auf dem iPhone: https://support.apple.com/de-de/104955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Stellt euch eine Treppe vor. Ganz unten: gar kein Passwortmanager – Zettel oder ein Passwort für alles. Stufe 1 ist der Browser: Chrome, Firefox, Safari oder Edge fragen sowieso „Passwort speichern?“. Stufe 2 ist das Betriebssystem: der Schlüsselbund bei Apple, der Google-Passwortmanager auf Android, Windows oder der Schlüsselbund unter Linux. Stufe 3 sind eigene Passwortmanager-Apps wie Bitwarden, KeePassXC oder Proton Pass. Die funktionieren überall. Jede Stufe ist besser als die darunter. Ihr müsst nicht ganz oben anfangen.
Quellen:
[1] di.day – Wechselrezept „Passwörter in Deiner Hand“: https://di.day/de/wechselrezepte/passwords
[5] BSI – Sichere Passwörter erstellen: https://www.bsi.bund.de/DE/Themen/Verbraucherinnen-und-Verbraucher/Informationen-und-Empfehlungen/Cyber-Sicherheitsempfehlungen/Accountschutz/Sichere-Passwoerter-erstellen/sichere-passwoerter-erstellen_node.html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einfachste Stufe: Jeder Browser hat einen Passwortspeicher eingebaut. Wenn er fragt „Passwort speichern?“, sagt einfach ja. Und wenn ihr ein neues Konto anlegt, schlägt er euch ein starkes Passwort vor – nehmt das. Die di.day-Leute sehen den Browser kritisch: Man ist an einen Browser und seinen Konzern gebunden, der Anbieter erfährt, welche Dienste man nutzt, und laut BSI kann Schadsoftware Browser-Passwörter relativ einfach auslesen. Das stimmt alles. Trotzdem: Das ist viel besser als ein Passwort für alles.
Quellen:
[1] di.day – Wechselrezept „Passwörter in Deiner Hand“: https://di.day/de/wechselrezepte/passwords
[9] BSI – Passwörter verwalten mit dem Passwort-Manager: https://www.bsi.bund.de/DE/Themen/Verbraucherinnen-und-Verbraucher/Informationen-und-Empfehlungen/Cyber-Sicherheitsempfehlungen/Accountschutz/Sichere-Passwoerter-erstellen/Passwort-Manager/passwort-manager_node.html
[10] Google Chrome-Hilfe – Passwörter in Chrome verwalten: https://support.google.com/chrome/answer/95606?hl=de
[11] Mozilla Support – Passwortverwaltung in Firefox: https://support.mozilla.org/de/kb/passworter-verwalten-speichern-loeschen-aendern
[13] Apple Support – Die App „Passwörter“: https://support.apple.com/de-de/120758
[15] Microsoft Support – Microsoft Edge geräteübergreifend synchronisieren: https://support.microsoft.com/de-de/microsoft-edge/anmelden-um-microsoft-edge-ger%C3%A4te%C3%BCbergreifend-zu-synchronisieren-e6ffa79b-ed52-aa32-47e2-5d5597fe4674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2: Das Betriebssystem bringt selbst einen Passwortmanager mit. Bei Apple heißt er iCloud-Schlüsselbund, inzwischen gibt es dafür die App „Passwörter“. Den nutze ich selbst auf allen Apple-Geräten. Laut Apple ist der Schlüsselbund Ende-zu-Ende-verschlüsselt. Auf Android ist es der Google-Passwortmanager, bei Windows liegen die Passwörter im Microsoft-Konto und in Edge. Unter Linux gibt es den GNOME-Schlüsselbund oder KDE Wallet. Dort legen Programme ihre Passwörter ab – Chrome zum Beispiel. Für Webseiten nimmt man unter Linux meistens KeePassXC oder Bitwarden. Der Haken: Das funktioniert am besten, solange man in einer Welt bleibt. Wer iPhone und Windows-PC mischt, stößt schnell an Grenzen.
Quellen:
[12] Google-Konto-Hilfe – Kompromittierte Passwörter ändern (Passwortcheck): https://support.google.com/accounts/answer/9457609?hl=de
[13] Apple Support – Die App „Passwörter“: https://support.apple.com/de-de/120758
[14] Apple Support – Gespeicherte Passwörter und Passkeys auf dem iPhone: https://support.apple.com/de-de/104955
[15] Microsoft Support – Microsoft Edge geräteübergreifend synchronisieren: https://support.microsoft.com/de-de/microsoft-edge/anmelden-um-microsoft-edge-ger%C3%A4te%C3%BCbergreifend-zu-synchronisieren-e6ffa79b-ed52-aa32-47e2-5d5597fe4674
[16] Apple Support – Sicherheitsüberblick iCloud-Daten: https://support.apple.com/de-de/102651
[17] Apple Support – iCloud-Passwörter auf dem Windows-Computer einrichten: https://support.apple.com/de-de/guide/icloud-windows/icw2babf5e03/icloud
[18] Microsoft Support – Kennwortmonitor in Microsoft Edge: https://support.microsoft.com/de-de/edge/use-password-monitor-to-help-protect-your-passwords-in-microsoft-edge
[19] Chromium-Dokumentation – Passwortspeicher unter Linux: https://chromium.googlesource.com/chromium/src/+/main/docs/linux/password_storage.md
[20] Debian-Manpage – gnome-keyring-daemon: https://manpages.debian.org/bookworm/gnome-keyring/gnome-keyring-daemon.1.en.html
[21] KDE – KWalletManager (Digitale Brieftasche): https://apps.kde.org/de/kwalletmanager5/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3: eigene Passwortmanager-Apps. Die laufen auf iPhone, Android, Windows, Mac und Linux – egal, welches Handy ihr nächstes Jahr kauft. Ich nutze Bitwarden: Open Source, also der Code ist öffentlich, es gibt eine kostenlose Version, und es läuft überall. di.day sieht kritisch, dass die Firma in den USA sitzt. Man kann aber die EU-Cloud wählen oder es mit Vaultwarden sogar selbst betreiben. KeePassXC ist der Klassiker ohne Cloud: Alles liegt in einer verschlüsselten Datei bei euch. Proton Pass kommt aus der Schweiz. Alle drei sind gute Wahl.
Quellen:
[1] di.day – Wechselrezept „Passwörter in Deiner Hand“: https://di.day/de/wechselrezepte/passwords
[22] Bitwarden – Startseite: https://bitwarden.com/
[23] Bitwarden-Hilfe – Server-Regionen (USA und EU): https://bitwarden.com/help/server-geographies/
[24] Vaultwarden – selbst gehosteter Bitwarden-kompatibler Server (GitHub): https://github.com/dani-garcia/vaultwarden
[25] KeePassXC – Startseite: https://keepassxc.org/
[26] Proton Pass – Startseite: https://proton.me/de/pass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Umzug dauert etwa eine halbe Stunde. Erstens: App aussuchen und installieren, am besten zuerst aufs Handy. Zweitens: ein Master-Passwort festlegen – dazu gleich mehr. Schreibt es auf Papier und legt es an einen sicheren Ort. Drittens: Im Browser gibt es in den Einstellungen „Passwörter exportieren“. Das ergibt eine CSV-Datei, die importiert ihr in die neue App. Viertens, ganz wichtig: Die CSV-Datei sofort löschen, auch aus dem Papierkorb. Da stehen alle Passwörter lesbar drin.
Quellen:
[1] di.day – Wechselrezept „Passwörter in Deiner Hand“: https://di.day/de/wechselrezepte/passwords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Master-Passwort ist der eine Schlüssel zum Tresor. Hier gilt: Länge schlägt Kompliziertheit. „P@ssw0rt!“ sieht kompliziert aus, aber genau solche Tricks kennen Angreifer: Laut Have I Been Pwned steht es schon 42-mal in bekannten Datenlecks (Abfrage am 27.10.2026). Das BSI sagt: Je länger, desto besser. Als Merkhilfe empfiehlt es fünf bis sechs zufällige Wörter, getrennt durch Leerzeichen oder Sonderzeichen wie Bindestriche. Ab 25 Zeichen braucht ein Passwort keine Sonderzeichen. Wichtig: Dieses Passwort nur für den Passwortmanager benutzen, und es auf Papier sicher aufbewahren – zum Beispiel bei wichtigen Unterlagen, nicht am Bildschirm.
Quellen:
[1] di.day – Wechselrezept „Passwörter in Deiner Hand“: https://di.day/de/wechselrezepte/passwords
[5] BSI – Sichere Passwörter erstellen: https://www.bsi.bund.de/DE/Themen/Verbraucherinnen-und-Verbraucher/Informationen-und-Empfehlungen/Cyber-Sicherheitsempfehlungen/Accountschutz/Sichere-Passwoerter-erstellen/sichere-passwoerter-erstellen_node.html
[7] Have I Been Pwned – Pwned Passwords (Abfrage am 27.10.2026): https://haveibeenpwned.com/Passwords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Trick, den viele nicht kennen: Der Passwortmanager kann nicht nur Passwörter erfinden, sondern auch E-Mail-Adressen. Statt überall dieselbe Adresse anzugeben, bekommt jedes Konto eine eigene – einen Alias. Die Mails landen trotzdem alle in eurem normalen Postfach. Der Vorteil: Der Shop oder das Forum kennt eure echte Adresse nicht. Kommt Spam, schaltet ihr den Alias einfach ab. Und wer eure echte Adresse nicht kennt, kann euch schwerer gezielt anschreiben – Proton nennt das Schutz vor Phishing und Spam. Eingebaut ist das in Bitwarden – auch in der kostenlosen Version –, bei Apple heißt es „E-Mail-Adresse verbergen“ und braucht iCloud+, und Proton Pass hat zehn Aliase gratis.
Quellen:
[27] Bitwarden-Blog – Forwarded email alias generator (08.04.2026): https://bitwarden.com/blog/how-to-use-the-bitwarden-forwarded-email-alias-generator/
[28] Bitwarden-Hilfe – Generator (Benutzernamen-Typen): https://bitwarden.com/help/generator/
[29] Proton-Blog – Why email aliases are better than fake email addresses: https://proton.me/blog/fake-email
[30] Apple Support – „E-Mail-Adresse verbergen“ mit iCloud+: https://support.apple.com/de-de/guide/icloud/mme38e1602db/icloud
[31] Proton Pass – Preise und Pläne: https://proton.me/pass/pricing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geht das in Bitwarden: Beim Anlegen eines neuen Eintrags gibt es neben dem Benutzernamen ein Generator-Symbol. Dort wählt ihr einen von drei Typen. Erstens die Plus-Adresse: Bitwarden hängt an eure Adresse ein Plus und eine Zufallsfolge an. Die Mail landet ganz normal in eurem Postfach – das klappt, wenn euer Mail-Anbieter Plus-Adressen unterstützt. Zweitens Catch-all: Wer eine eigene Domain hat, bei der alle Adressen in einem Sammel-Postfach landen, bekommt eine zufällige Adresse unter dieser Domain. Drittens der Weiterleitungs-Alias: Ihr verbindet Bitwarden einmal per API-Schlüssel mit einem Alias-Dienst wie SimpleLogin, addy.io, Firefox Relay, DuckDuckGo, Fastmail oder Forward Email. Dann legt Bitwarden den Alias dort automatisch an. Laut Bitwarden geht das mit dem kostenlosen Konto; manche Alias-Dienste verlangen ein Abo. In der Handy-App stehen laut Bitwarden-Hilfe nicht alle Dienste zur Auswahl.
Quellen:
[27] Bitwarden-Blog – Forwarded email alias generator (08.04.2026): https://bitwarden.com/blog/how-to-use-the-bitwarden-forwarded-email-alias-generator/
[28] Bitwarden-Hilfe – Generator (Benutzernamen-Typen): https://bitwarden.com/help/generator/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Teil zwei: der zweite Schlüssel. Zwei-Faktor heißt: Zum Passwort – etwas, das ihr wisst – kommt etwas, das ihr habt, nämlich euer Handy. Eine App zeigt einen sechsstelligen Code, der sich alle 30 Sekunden ändert. Wie am Geldautomaten: Karte und PIN. Selbst wenn jemand euer Passwort klaut, fehlt ihm der Code. Das BSI sagt: Zwei-Faktor einschalten, sobald ein Dienst es anbietet – besonders beim E-Mail-Konto.
Quellen:
[9] BSI – Passwörter verwalten mit dem Passwort-Manager: https://www.bsi.bund.de/DE/Themen/Verbraucherinnen-und-Verbraucher/Informationen-und-Empfehlungen/Cyber-Sicherheitsempfehlungen/Accountschutz/Sichere-Passwoerter-erstellen/Passwort-Manager/passwort-manager_node.html
[32] BSI – Zwei-Faktor-Authentisierung: https://www.bsi.bund.de/DE/Themen/Verbraucherinnen-und-Verbraucher/Informationen-und-Empfehlungen/Cyber-Sicherheitsempfehlungen/Accountschutz/Zwei-Faktor-Authentisierung/zwei-faktor-authentisierung_node.html
[33] RFC 6238 – TOTP, Abschnitt 5.2 (Zeitschritt 30 Sekunden): https://www.rfc-editor.org/rfc/rfc6238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Codes braucht ihr eine Authenticator-App. Viele haben den Google oder Microsoft Authenticator. di.day rät zum Wechsel: Die Codes landen in der Cloud der Konzerne, und man bekommt sie nur schwer wieder heraus. Freie Alternativen sind zum Beispiel 2FAS – die nutze ich –, Aegis für Android, Ente Auth, Proton Authenticator, FreeOTP oder der Bitwarden Authenticator. Für das Firmen-Konto kann man den Microsoft Authenticator behalten, wenn der Arbeitgeber das so will.
Quellen:
[2] di.day – Wechselrezept „Authenticator“: https://di.day/de/wechselrezepte/authenticator
[34] 2FAS Auth – Produktseite: https://2fas.com/auth/
[35] Aegis Authenticator – Startseite: https://getaegis.app/
[36] Ente Auth – Startseite: https://ente.com/auth/
[37] Proton Authenticator – Startseite: https://proton.me/de/authenticator
[38] FreeOTP – Startseite: https://freeotp.github.io/
[39] Bitwarden Authenticator – Produktseite: https://bitwarden.com/products/authenticator/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nutze 2FAS. Die App ist kostenlos, braucht kein Konto, und der Quellcode ist öffentlich auf GitHub. Es gibt sie für iPhone und Android, sie gleicht zwischen Geräten ab, und es gibt eine Browser-Erweiterung für Chrome, Firefox, Safari, Edge, Brave und Opera. Einrichten ist einfach: Die Webseite zeigt einen QR-Code, den scannt ihr mit der App – fertig. Wichtig ist das Backup, damit die Codes bei einem neuen oder verlorenen Handy nicht weg sind. Das geht direkt in der App: über die eigene iCloud, Google Drive oder als Datei. Laut 2FAS ist das Backup Ende-zu-Ende-verschlüsselt und lässt sich zusätzlich mit einem eigenen Passwort schützen. Dieses Passwort gut merken – ohne ist das Backup nutzlos.
Quellen:
[34] 2FAS Auth – Produktseite: https://2fas.com/auth/
[40] 2FAS – Download: https://2fas.com/download/
[41] 2FAS Support – Is 2FAS Auth Backup safe?: https://2fas.com/support/2fas-auth-security-privacy/is-2fas-backup-safe/
[42] 2FAS – Quellcode auf GitHub: https://github.com/twofas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ihr schon den Google oder Microsoft Authenticator nutzt, so geht der Wechsel. Erstens: Liste aller Konten mit Zwei-Faktor machen. Zweitens, der wichtigste Schritt: die Wiederherstellungscodes sichern. Das ist euer Notausgang, falls das Handy weg ist. Drittens: neue App installieren und mit PIN oder Face ID sperren. Viertens: Konten übertragen. Beim Google Authenticator gibt es einen Export als QR-Code. Beim Microsoft Authenticator richtet man die Zwei-Faktor-Anmeldung bei jedem Dienst neu ein. Jeden Code einmal testen! Fünftens: ein verschlüsseltes Backup einschalten. Erst dann die alte App löschen.
Quellen:
[2] di.day – Wechselrezept „Authenticator“: https://di.day/de/wechselrezepte/authenticator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ein Ausblick: Passkeys. Damit meldet man sich ganz ohne Passwort an – man bestätigt mit Fingerabdruck, Gesicht oder PIN. Der große Vorteil: Passkeys können nicht abgefischt werden. Selbst auf einer gefälschten Webseite funktionieren sie einfach nicht. Gespeichert werden sie im Passwortmanager – im iCloud-Schlüsselbund, bei Google oder in Bitwarden. Wenn eine Seite das anbietet: ausprobieren.
Quellen:
[2] di.day – Wechselrezept „Authenticator“: https://di.day/de/wechselrezepte/authenticator
[13] Apple Support – Die App „Passwörter“: https://support.apple.com/de-de/120758
[43] BSI – Passkeys: Anmelden ohne Passwort: https://www.bsi.bund.de/DE/Themen/Verbraucherinnen-und-Verbraucher/Informationen-und-Empfehlungen/Cyber-Sicherheitsempfehlungen/Accountschutz/Passkeys/passkeys-anmelden-ohne-passwort_node.html
[44] FIDO Alliance – Passkeys: https://fidoalliance.org/passkeys/
[45] Google Chrome-Hilfe – Passkeys in Chrome verwalten: https://support.google.com/chrome/answer/13168025?hl=de
[46] Bitwarden-Hilfe – Passkeys speichern: https://bitwarden.com/help/storing-passkeys/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Eure Hausaufgabe: Heute einen Passwortmanager einschalten – egal welchen. Diese Woche das E-Mail-Konto mit Zwei-Faktor schützen – das rät auch das BSI ausdrücklich. Und danach Schritt für Schritt unabhängiger werden, mit den Wechselrezepten von di.day. Über den QR-Code findet ihr die Folien als PDF und alle Quellen. Vielen Dank – habt ihr Fragen?
Quellen:
[1] di.day – Wechselrezept „Passwörter in Deiner Hand“: https://di.day/de/wechselrezepte/passwords
[2] di.day – Wechselrezept „Authenticator“: https://di.day/de/wechselrezepte/authenticator
[9] BSI – Passwörter verwalten mit dem Passwort-Manager: https://www.bsi.bund.de/DE/Themen/Verbraucherinnen-und-Verbraucher/Informationen-und-Empfehlungen/Cyber-Sicherheitsempfehlungen/Accountschutz/Sichere-Passwoerter-erstellen/Passwort-Manager/passwort-manager_node.html
[32] BSI – Zwei-Faktor-Authentisierung: https://www.bsi.bund.de/DE/Themen/Verbraucherinnen-und-Verbraucher/Informationen-und-Empfehlungen/Cyber-Sicherheitsempfehlungen/Accountschutz/Zwei-Faktor-Authentisierung/zwei-faktor-authentisierung_node.html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Quellenverzeichnis, Teil 1 von 2. Die vollständigen Adressen stehen in den Notizen der einzelnen Folien.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Quellenverzeichnis, Teil 2 von 2. Die vollständigen Adressen stehen in den Notizen der einzelnen Folien.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12191695" cy="4572914"/>
          </a:xfrm>
          <a:prstGeom prst="rect">
            <a:avLst/>
          </a:prstGeom>
          <a:solidFill>
            <a:schemeClr val="accent1"/>
          </a:solidFill>
          <a:ln/>
        </p:spPr>
      </p:sp>
      <p:pic>
        <p:nvPicPr>
          <p:cNvPr id="3" name="Image 0" descr="DIDAY">    </p:cNvPr>
          <p:cNvPicPr>
            <a:picLocks noChangeAspect="1"/>
          </p:cNvPicPr>
          <p:nvPr/>
        </p:nvPicPr>
        <p:blipFill>
          <a:blip r:embed="rId1"/>
          <a:stretch>
            <a:fillRect/>
          </a:stretch>
        </p:blipFill>
        <p:spPr>
          <a:xfrm>
            <a:off x="4135831" y="1083564"/>
            <a:ext cx="3919118" cy="1746504"/>
          </a:xfrm>
          <a:prstGeom prst="rect">
            <a:avLst/>
          </a:prstGeom>
        </p:spPr>
      </p:pic>
      <p:sp>
        <p:nvSpPr>
          <p:cNvPr id="4" name="Text 1"/>
          <p:cNvSpPr/>
          <p:nvPr>
            <p:ph idx="102" type="title" hasCustomPrompt="1"/>
          </p:nvPr>
        </p:nvSpPr>
        <p:spPr>
          <a:xfrm>
            <a:off x="548640" y="3063240"/>
            <a:ext cx="11091672" cy="868680"/>
          </a:xfrm>
          <a:prstGeom prst="rect">
            <a:avLst/>
          </a:prstGeom>
          <a:noFill/>
          <a:ln/>
        </p:spPr>
        <p:txBody>
          <a:bodyPr wrap="square" rtlCol="0"/>
          <a:lstStyle>
            <a:lvl1pPr algn="ctr" indent="0" marL="0">
              <a:buNone/>
              <a:defRPr lang="en-US" sz="3200" b="1" dirty="0">
                <a:solidFill>
                  <a:schemeClr val="tx2"/>
                </a:solidFill>
              </a:defRPr>
            </a:lvl1pPr>
          </a:lstStyle>
          <a:p>
            <a:pPr algn="ctr" indent="0" marL="0">
              <a:buNone/>
            </a:pPr>
            <a:endParaRPr lang="en-US" sz="3200" dirty="0"/>
          </a:p>
        </p:txBody>
      </p:sp>
      <p:sp>
        <p:nvSpPr>
          <p:cNvPr id="5" name="Text 1"/>
          <p:cNvSpPr/>
          <p:nvPr>
            <p:ph idx="103" type="body" hasCustomPrompt="1"/>
          </p:nvPr>
        </p:nvSpPr>
        <p:spPr>
          <a:xfrm>
            <a:off x="548640" y="4846320"/>
            <a:ext cx="11091672" cy="1097280"/>
          </a:xfrm>
          <a:prstGeom prst="rect">
            <a:avLst/>
          </a:prstGeom>
          <a:noFill/>
          <a:ln/>
        </p:spPr>
        <p:txBody>
          <a:bodyPr wrap="square" rtlCol="0"/>
          <a:lstStyle>
            <a:lvl1pPr algn="ctr" indent="0" marL="0">
              <a:buNone/>
              <a:defRPr lang="en-US" sz="2200" dirty="0">
                <a:solidFill>
                  <a:schemeClr val="accent1"/>
                </a:solidFill>
              </a:defRPr>
            </a:lvl1pPr>
          </a:lstStyle>
          <a:p>
            <a:pPr algn="ctr" indent="0" marL="0">
              <a:buNone/>
            </a:pPr>
            <a:endParaRPr lang="en-US" sz="2200" dirty="0"/>
          </a:p>
        </p:txBody>
      </p:sp>
      <p:sp>
        <p:nvSpPr>
          <p:cNvPr id="6" name="Text 1"/>
          <p:cNvSpPr/>
          <p:nvPr>
            <p:ph idx="104" type="body" hasCustomPrompt="1"/>
          </p:nvPr>
        </p:nvSpPr>
        <p:spPr>
          <a:xfrm>
            <a:off x="548640" y="6199632"/>
            <a:ext cx="11064240" cy="310896"/>
          </a:xfrm>
          <a:prstGeom prst="rect">
            <a:avLst/>
          </a:prstGeom>
          <a:noFill/>
          <a:ln/>
        </p:spPr>
        <p:txBody>
          <a:bodyPr wrap="square" rtlCol="0"/>
          <a:lstStyle>
            <a:lvl1pPr indent="0" marL="0">
              <a:buNone/>
              <a:defRPr lang="en-US" sz="900" dirty="0">
                <a:solidFill>
                  <a:schemeClr val="accent5"/>
                </a:solidFill>
              </a:defRPr>
            </a:lvl1pPr>
          </a:lstStyle>
          <a:p>
            <a:pPr indent="0" marL="0">
              <a:buNone/>
            </a:pPr>
            <a:endParaRPr lang="en-US" sz="900" dirty="0"/>
          </a:p>
        </p:txBody>
      </p:sp>
      <p:sp>
        <p:nvSpPr>
          <p:cNvPr id="7" name="Text 1"/>
          <p:cNvSpPr/>
          <p:nvPr/>
        </p:nvSpPr>
        <p:spPr>
          <a:xfrm>
            <a:off x="434340" y="6530645"/>
            <a:ext cx="3474720" cy="327355"/>
          </a:xfrm>
          <a:prstGeom prst="rect">
            <a:avLst/>
          </a:prstGeom>
          <a:noFill/>
          <a:ln/>
        </p:spPr>
        <p:txBody>
          <a:bodyPr wrap="square" lIns="0" tIns="0" rIns="0" bIns="0" rtlCol="0" anchor="ctr"/>
          <a:lstStyle/>
          <a:p>
            <a:pPr algn="l" indent="0" marL="0">
              <a:buNone/>
            </a:pPr>
            <a:r>
              <a:rPr lang="en-US" sz="1600" b="1" dirty="0">
                <a:solidFill>
                  <a:schemeClr val="accent1"/>
                </a:solidFill>
              </a:rPr>
              <a:t>01.11.2026</a:t>
            </a:r>
            <a:endParaRPr lang="en-US" sz="1600" dirty="0"/>
          </a:p>
        </p:txBody>
      </p:sp>
      <p:sp>
        <p:nvSpPr>
          <p:cNvPr id="8" name="Text 2"/>
          <p:cNvSpPr/>
          <p:nvPr/>
        </p:nvSpPr>
        <p:spPr>
          <a:xfrm>
            <a:off x="4135831" y="6530645"/>
            <a:ext cx="3919118" cy="327355"/>
          </a:xfrm>
          <a:prstGeom prst="rect">
            <a:avLst/>
          </a:prstGeom>
          <a:noFill/>
          <a:ln/>
        </p:spPr>
        <p:txBody>
          <a:bodyPr wrap="square" lIns="0" tIns="0" rIns="0" bIns="0" rtlCol="0" anchor="ctr"/>
          <a:lstStyle/>
          <a:p>
            <a:pPr algn="ctr" indent="0" marL="0">
              <a:buNone/>
            </a:pPr>
            <a:r>
              <a:rPr lang="en-US" sz="1600" b="1" dirty="0">
                <a:solidFill>
                  <a:schemeClr val="accent1"/>
                </a:solidFill>
              </a:rPr>
              <a:t>Datenburg &amp; Brotfabrik</a:t>
            </a:r>
            <a:endParaRPr lang="en-US" sz="16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accent1"/>
                </a:solidFill>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USSAGE">
    <p:bg>
      <p:bgPr>
        <a:solidFill>
          <a:schemeClr val="accent1"/>
        </a:solidFill>
      </p:bgPr>
    </p:bg>
    <p:spTree>
      <p:nvGrpSpPr>
        <p:cNvPr id="1" name=""/>
        <p:cNvGrpSpPr/>
        <p:nvPr/>
      </p:nvGrpSpPr>
      <p:grpSpPr>
        <a:xfrm>
          <a:off x="0" y="0"/>
          <a:ext cx="0" cy="0"/>
          <a:chOff x="0" y="0"/>
          <a:chExt cx="0" cy="0"/>
        </a:xfrm>
      </p:grpSpPr>
      <p:sp>
        <p:nvSpPr>
          <p:cNvPr id="2" name="Sprechblase"/>
          <p:cNvSpPr/>
          <p:nvPr/>
        </p:nvSpPr>
        <p:spPr>
          <a:xfrm>
            <a:off x="3046781" y="1632204"/>
            <a:ext cx="6096305" cy="2285086"/>
          </a:xfrm>
          <a:prstGeom prst="wedgeRectCallout">
            <a:avLst>
              <a:gd name="adj1" fmla="val -34174"/>
              <a:gd name="adj2" fmla="val 130852"/>
            </a:avLst>
          </a:prstGeom>
          <a:solidFill>
            <a:schemeClr val="bg1"/>
          </a:solidFill>
          <a:ln w="72009">
            <a:solidFill>
              <a:schemeClr val="accent4"/>
            </a:solidFill>
            <a:prstDash val="solid"/>
          </a:ln>
        </p:spPr>
      </p:sp>
      <p:pic>
        <p:nvPicPr>
          <p:cNvPr id="3" name="Image 0" descr="DIDAY">    </p:cNvPr>
          <p:cNvPicPr>
            <a:picLocks noChangeAspect="1"/>
          </p:cNvPicPr>
          <p:nvPr/>
        </p:nvPicPr>
        <p:blipFill>
          <a:blip r:embed="rId1"/>
          <a:stretch>
            <a:fillRect/>
          </a:stretch>
        </p:blipFill>
        <p:spPr>
          <a:xfrm>
            <a:off x="10184587" y="387706"/>
            <a:ext cx="1571854" cy="700430"/>
          </a:xfrm>
          <a:prstGeom prst="rect">
            <a:avLst/>
          </a:prstGeom>
        </p:spPr>
      </p:pic>
      <p:sp>
        <p:nvSpPr>
          <p:cNvPr id="4" name="Text 1"/>
          <p:cNvSpPr/>
          <p:nvPr>
            <p:ph idx="102" type="title" hasCustomPrompt="1"/>
          </p:nvPr>
        </p:nvSpPr>
        <p:spPr>
          <a:xfrm>
            <a:off x="3265322" y="1794967"/>
            <a:ext cx="5660136" cy="1959559"/>
          </a:xfrm>
          <a:prstGeom prst="rect">
            <a:avLst/>
          </a:prstGeom>
          <a:noFill/>
          <a:ln/>
        </p:spPr>
        <p:txBody>
          <a:bodyPr wrap="square" rtlCol="0"/>
          <a:lstStyle>
            <a:lvl1pPr algn="ctr" indent="0" marL="0">
              <a:buNone/>
              <a:defRPr lang="en-US" sz="2800" b="1" dirty="0">
                <a:solidFill>
                  <a:schemeClr val="tx2"/>
                </a:solidFill>
              </a:defRPr>
            </a:lvl1pPr>
          </a:lstStyle>
          <a:p>
            <a:pPr algn="ctr" indent="0" marL="0">
              <a:buNone/>
            </a:pPr>
            <a:endParaRPr lang="en-US" sz="2800" dirty="0"/>
          </a:p>
        </p:txBody>
      </p:sp>
      <p:sp>
        <p:nvSpPr>
          <p:cNvPr id="5" name="Text 1"/>
          <p:cNvSpPr/>
          <p:nvPr>
            <p:ph idx="103" type="body" hasCustomPrompt="1"/>
          </p:nvPr>
        </p:nvSpPr>
        <p:spPr>
          <a:xfrm>
            <a:off x="5760720" y="4114800"/>
            <a:ext cx="5852160" cy="9144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6" name="Text 1"/>
          <p:cNvSpPr/>
          <p:nvPr>
            <p:ph idx="104" type="body" hasCustomPrompt="1"/>
          </p:nvPr>
        </p:nvSpPr>
        <p:spPr>
          <a:xfrm>
            <a:off x="548640" y="6199632"/>
            <a:ext cx="11064240" cy="310896"/>
          </a:xfrm>
          <a:prstGeom prst="rect">
            <a:avLst/>
          </a:prstGeom>
          <a:noFill/>
          <a:ln/>
        </p:spPr>
        <p:txBody>
          <a:bodyPr wrap="square" rtlCol="0"/>
          <a:lstStyle>
            <a:lvl1pPr indent="0" marL="0">
              <a:buNone/>
              <a:defRPr lang="en-US" sz="900" dirty="0">
                <a:solidFill>
                  <a:schemeClr val="tx2"/>
                </a:solidFill>
              </a:defRPr>
            </a:lvl1pPr>
          </a:lstStyle>
          <a:p>
            <a:pPr indent="0" marL="0">
              <a:buNone/>
            </a:pPr>
            <a:endParaRPr lang="en-US" sz="900" dirty="0"/>
          </a:p>
        </p:txBody>
      </p:sp>
      <p:sp>
        <p:nvSpPr>
          <p:cNvPr id="7" name="Text 1"/>
          <p:cNvSpPr/>
          <p:nvPr/>
        </p:nvSpPr>
        <p:spPr>
          <a:xfrm>
            <a:off x="434340" y="6530645"/>
            <a:ext cx="3474720" cy="327355"/>
          </a:xfrm>
          <a:prstGeom prst="rect">
            <a:avLst/>
          </a:prstGeom>
          <a:noFill/>
          <a:ln/>
        </p:spPr>
        <p:txBody>
          <a:bodyPr wrap="square" lIns="0" tIns="0" rIns="0" bIns="0" rtlCol="0" anchor="ctr"/>
          <a:lstStyle/>
          <a:p>
            <a:pPr algn="l" indent="0" marL="0">
              <a:buNone/>
            </a:pPr>
            <a:r>
              <a:rPr lang="en-US" sz="1600" b="1" dirty="0">
                <a:solidFill>
                  <a:schemeClr val="tx2"/>
                </a:solidFill>
              </a:rPr>
              <a:t>01.11.2026</a:t>
            </a:r>
            <a:endParaRPr lang="en-US" sz="1600" dirty="0"/>
          </a:p>
        </p:txBody>
      </p:sp>
      <p:sp>
        <p:nvSpPr>
          <p:cNvPr id="8" name="Text 2"/>
          <p:cNvSpPr/>
          <p:nvPr/>
        </p:nvSpPr>
        <p:spPr>
          <a:xfrm>
            <a:off x="4135831" y="6530645"/>
            <a:ext cx="3919118" cy="327355"/>
          </a:xfrm>
          <a:prstGeom prst="rect">
            <a:avLst/>
          </a:prstGeom>
          <a:noFill/>
          <a:ln/>
        </p:spPr>
        <p:txBody>
          <a:bodyPr wrap="square" lIns="0" tIns="0" rIns="0" bIns="0" rtlCol="0" anchor="ctr"/>
          <a:lstStyle/>
          <a:p>
            <a:pPr algn="ctr" indent="0" marL="0">
              <a:buNone/>
            </a:pPr>
            <a:r>
              <a:rPr lang="en-US" sz="1600" b="1" dirty="0">
                <a:solidFill>
                  <a:schemeClr val="tx2"/>
                </a:solidFill>
              </a:rPr>
              <a:t>Datenburg &amp; Brotfabrik</a:t>
            </a:r>
            <a:endParaRPr lang="en-US" sz="16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91695" cy="1470355"/>
          </a:xfrm>
          <a:prstGeom prst="rect">
            <a:avLst/>
          </a:prstGeom>
          <a:solidFill>
            <a:schemeClr val="accent1"/>
          </a:solidFill>
          <a:ln/>
        </p:spPr>
      </p:sp>
      <p:sp>
        <p:nvSpPr>
          <p:cNvPr id="3" name="Shape 1"/>
          <p:cNvSpPr/>
          <p:nvPr/>
        </p:nvSpPr>
        <p:spPr>
          <a:xfrm>
            <a:off x="0" y="6530645"/>
            <a:ext cx="12191695" cy="327355"/>
          </a:xfrm>
          <a:prstGeom prst="rect">
            <a:avLst/>
          </a:prstGeom>
          <a:solidFill>
            <a:schemeClr val="accent1"/>
          </a:solidFill>
          <a:ln/>
        </p:spPr>
      </p:sp>
      <p:pic>
        <p:nvPicPr>
          <p:cNvPr id="4" name="Image 0" descr="DIDAY">    </p:cNvPr>
          <p:cNvPicPr>
            <a:picLocks noChangeAspect="1"/>
          </p:cNvPicPr>
          <p:nvPr/>
        </p:nvPicPr>
        <p:blipFill>
          <a:blip r:embed="rId1"/>
          <a:stretch>
            <a:fillRect/>
          </a:stretch>
        </p:blipFill>
        <p:spPr>
          <a:xfrm>
            <a:off x="10184587" y="387706"/>
            <a:ext cx="1571854" cy="700430"/>
          </a:xfrm>
          <a:prstGeom prst="rect">
            <a:avLst/>
          </a:prstGeom>
        </p:spPr>
      </p:pic>
      <p:sp>
        <p:nvSpPr>
          <p:cNvPr id="5" name="Text 2"/>
          <p:cNvSpPr/>
          <p:nvPr>
            <p:ph idx="103" type="title" hasCustomPrompt="1"/>
          </p:nvPr>
        </p:nvSpPr>
        <p:spPr>
          <a:xfrm>
            <a:off x="548640" y="347472"/>
            <a:ext cx="9418320" cy="74980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6" name="Text 2"/>
          <p:cNvSpPr/>
          <p:nvPr>
            <p:ph idx="104" type="body" hasCustomPrompt="1"/>
          </p:nvPr>
        </p:nvSpPr>
        <p:spPr>
          <a:xfrm>
            <a:off x="548640" y="1097280"/>
            <a:ext cx="11064240" cy="329184"/>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7" name="Text 2"/>
          <p:cNvSpPr/>
          <p:nvPr>
            <p:ph idx="105" type="body" hasCustomPrompt="1"/>
          </p:nvPr>
        </p:nvSpPr>
        <p:spPr>
          <a:xfrm>
            <a:off x="548640" y="6199632"/>
            <a:ext cx="11064240" cy="310896"/>
          </a:xfrm>
          <a:prstGeom prst="rect">
            <a:avLst/>
          </a:prstGeom>
          <a:noFill/>
          <a:ln/>
        </p:spPr>
        <p:txBody>
          <a:bodyPr wrap="square" rtlCol="0"/>
          <a:lstStyle>
            <a:lvl1pPr indent="0" marL="0">
              <a:buNone/>
              <a:defRPr lang="en-US" sz="900" dirty="0">
                <a:solidFill>
                  <a:schemeClr val="accent6"/>
                </a:solidFill>
              </a:defRPr>
            </a:lvl1pPr>
          </a:lstStyle>
          <a:p>
            <a:pPr indent="0" marL="0">
              <a:buNone/>
            </a:pPr>
            <a:endParaRPr lang="en-US" sz="900" dirty="0"/>
          </a:p>
        </p:txBody>
      </p:sp>
      <p:sp>
        <p:nvSpPr>
          <p:cNvPr id="8" name="Text 2"/>
          <p:cNvSpPr/>
          <p:nvPr/>
        </p:nvSpPr>
        <p:spPr>
          <a:xfrm>
            <a:off x="434340" y="6530645"/>
            <a:ext cx="3474720" cy="327355"/>
          </a:xfrm>
          <a:prstGeom prst="rect">
            <a:avLst/>
          </a:prstGeom>
          <a:noFill/>
          <a:ln/>
        </p:spPr>
        <p:txBody>
          <a:bodyPr wrap="square" lIns="0" tIns="0" rIns="0" bIns="0" rtlCol="0" anchor="ctr"/>
          <a:lstStyle/>
          <a:p>
            <a:pPr algn="l" indent="0" marL="0">
              <a:buNone/>
            </a:pPr>
            <a:r>
              <a:rPr lang="en-US" sz="1600" b="1" dirty="0">
                <a:solidFill>
                  <a:schemeClr val="tx2"/>
                </a:solidFill>
              </a:rPr>
              <a:t>01.11.2026</a:t>
            </a:r>
            <a:endParaRPr lang="en-US" sz="1600" dirty="0"/>
          </a:p>
        </p:txBody>
      </p:sp>
      <p:sp>
        <p:nvSpPr>
          <p:cNvPr id="9" name="Text 3"/>
          <p:cNvSpPr/>
          <p:nvPr/>
        </p:nvSpPr>
        <p:spPr>
          <a:xfrm>
            <a:off x="4135831" y="6530645"/>
            <a:ext cx="3919118" cy="327355"/>
          </a:xfrm>
          <a:prstGeom prst="rect">
            <a:avLst/>
          </a:prstGeom>
          <a:noFill/>
          <a:ln/>
        </p:spPr>
        <p:txBody>
          <a:bodyPr wrap="square" lIns="0" tIns="0" rIns="0" bIns="0" rtlCol="0" anchor="ctr"/>
          <a:lstStyle/>
          <a:p>
            <a:pPr algn="ctr" indent="0" marL="0">
              <a:buNone/>
            </a:pPr>
            <a:r>
              <a:rPr lang="en-US" sz="1600" b="1" dirty="0">
                <a:solidFill>
                  <a:schemeClr val="tx2"/>
                </a:solidFill>
              </a:rPr>
              <a:t>Datenburg &amp; Brotfabrik</a:t>
            </a:r>
            <a:endParaRPr lang="en-US" sz="16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HALT_DUNKEL">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12191695" cy="1470355"/>
          </a:xfrm>
          <a:prstGeom prst="rect">
            <a:avLst/>
          </a:prstGeom>
          <a:solidFill>
            <a:schemeClr val="accent1"/>
          </a:solidFill>
          <a:ln/>
        </p:spPr>
      </p:sp>
      <p:sp>
        <p:nvSpPr>
          <p:cNvPr id="3" name="Shape 1"/>
          <p:cNvSpPr/>
          <p:nvPr/>
        </p:nvSpPr>
        <p:spPr>
          <a:xfrm>
            <a:off x="0" y="6530645"/>
            <a:ext cx="12191695" cy="327355"/>
          </a:xfrm>
          <a:prstGeom prst="rect">
            <a:avLst/>
          </a:prstGeom>
          <a:solidFill>
            <a:schemeClr val="accent1"/>
          </a:solidFill>
          <a:ln/>
        </p:spPr>
      </p:sp>
      <p:pic>
        <p:nvPicPr>
          <p:cNvPr id="4" name="Image 0" descr="DIDAY">    </p:cNvPr>
          <p:cNvPicPr>
            <a:picLocks noChangeAspect="1"/>
          </p:cNvPicPr>
          <p:nvPr/>
        </p:nvPicPr>
        <p:blipFill>
          <a:blip r:embed="rId1"/>
          <a:stretch>
            <a:fillRect/>
          </a:stretch>
        </p:blipFill>
        <p:spPr>
          <a:xfrm>
            <a:off x="10184587" y="387706"/>
            <a:ext cx="1571854" cy="700430"/>
          </a:xfrm>
          <a:prstGeom prst="rect">
            <a:avLst/>
          </a:prstGeom>
        </p:spPr>
      </p:pic>
      <p:sp>
        <p:nvSpPr>
          <p:cNvPr id="5" name="Text 2"/>
          <p:cNvSpPr/>
          <p:nvPr>
            <p:ph idx="103" type="title" hasCustomPrompt="1"/>
          </p:nvPr>
        </p:nvSpPr>
        <p:spPr>
          <a:xfrm>
            <a:off x="548640" y="347472"/>
            <a:ext cx="9418320" cy="74980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6" name="Text 2"/>
          <p:cNvSpPr/>
          <p:nvPr>
            <p:ph idx="104" type="body" hasCustomPrompt="1"/>
          </p:nvPr>
        </p:nvSpPr>
        <p:spPr>
          <a:xfrm>
            <a:off x="548640" y="1097280"/>
            <a:ext cx="11064240" cy="329184"/>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7" name="Text 2"/>
          <p:cNvSpPr/>
          <p:nvPr>
            <p:ph idx="105" type="body" hasCustomPrompt="1"/>
          </p:nvPr>
        </p:nvSpPr>
        <p:spPr>
          <a:xfrm>
            <a:off x="548640" y="6199632"/>
            <a:ext cx="11064240" cy="310896"/>
          </a:xfrm>
          <a:prstGeom prst="rect">
            <a:avLst/>
          </a:prstGeom>
          <a:noFill/>
          <a:ln/>
        </p:spPr>
        <p:txBody>
          <a:bodyPr wrap="square" rtlCol="0"/>
          <a:lstStyle>
            <a:lvl1pPr indent="0" marL="0">
              <a:buNone/>
              <a:defRPr lang="en-US" sz="900" dirty="0">
                <a:solidFill>
                  <a:schemeClr val="accent5"/>
                </a:solidFill>
              </a:defRPr>
            </a:lvl1pPr>
          </a:lstStyle>
          <a:p>
            <a:pPr indent="0" marL="0">
              <a:buNone/>
            </a:pPr>
            <a:endParaRPr lang="en-US" sz="900" dirty="0"/>
          </a:p>
        </p:txBody>
      </p:sp>
      <p:sp>
        <p:nvSpPr>
          <p:cNvPr id="8" name="Text 2"/>
          <p:cNvSpPr/>
          <p:nvPr/>
        </p:nvSpPr>
        <p:spPr>
          <a:xfrm>
            <a:off x="434340" y="6530645"/>
            <a:ext cx="3474720" cy="327355"/>
          </a:xfrm>
          <a:prstGeom prst="rect">
            <a:avLst/>
          </a:prstGeom>
          <a:noFill/>
          <a:ln/>
        </p:spPr>
        <p:txBody>
          <a:bodyPr wrap="square" lIns="0" tIns="0" rIns="0" bIns="0" rtlCol="0" anchor="ctr"/>
          <a:lstStyle/>
          <a:p>
            <a:pPr algn="l" indent="0" marL="0">
              <a:buNone/>
            </a:pPr>
            <a:r>
              <a:rPr lang="en-US" sz="1600" b="1" dirty="0">
                <a:solidFill>
                  <a:schemeClr val="tx2"/>
                </a:solidFill>
              </a:rPr>
              <a:t>01.11.2026</a:t>
            </a:r>
            <a:endParaRPr lang="en-US" sz="1600" dirty="0"/>
          </a:p>
        </p:txBody>
      </p:sp>
      <p:sp>
        <p:nvSpPr>
          <p:cNvPr id="9" name="Text 3"/>
          <p:cNvSpPr/>
          <p:nvPr/>
        </p:nvSpPr>
        <p:spPr>
          <a:xfrm>
            <a:off x="4135831" y="6530645"/>
            <a:ext cx="3919118" cy="327355"/>
          </a:xfrm>
          <a:prstGeom prst="rect">
            <a:avLst/>
          </a:prstGeom>
          <a:noFill/>
          <a:ln/>
        </p:spPr>
        <p:txBody>
          <a:bodyPr wrap="square" lIns="0" tIns="0" rIns="0" bIns="0" rtlCol="0" anchor="ctr"/>
          <a:lstStyle/>
          <a:p>
            <a:pPr algn="ctr" indent="0" marL="0">
              <a:buNone/>
            </a:pPr>
            <a:r>
              <a:rPr lang="en-US" sz="1600" b="1" dirty="0">
                <a:solidFill>
                  <a:schemeClr val="tx2"/>
                </a:solidFill>
              </a:rPr>
              <a:t>Datenburg &amp; Brotfabrik</a:t>
            </a:r>
            <a:endParaRPr lang="en-US" sz="16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accent1"/>
                </a:solidFill>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i.day/de/wechselrezepte/passwords" TargetMode="External"/><Relationship Id="rId2" Type="http://schemas.openxmlformats.org/officeDocument/2006/relationships/hyperlink" Target="https://di.day/de/wechselrezepte/authenticator" TargetMode="Externa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bitcircus101.de" TargetMode="External"/><Relationship Id="rId4" Type="http://schemas.openxmlformats.org/officeDocument/2006/relationships/hyperlink" Target="https://datenburg.org" TargetMode="External"/><Relationship Id="rId7" Type="http://schemas.openxmlformats.org/officeDocument/2006/relationships/hyperlink" Target="https://bitcircus101.de" TargetMode="External"/><Relationship Id="rId8" Type="http://schemas.openxmlformats.org/officeDocument/2006/relationships/hyperlink" Target="https://datenburg.org"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hyperlink" Target="https://www.bsi.bund.de/DE/Themen/Verbraucherinnen-und-Verbraucher/Informationen-und-Empfehlungen/Cyber-Sicherheitsempfehlungen/Accountschutz/Sichere-Passwoerter-erstellen/sichere-passwoerter-erstellen_node.html" TargetMode="External"/><Relationship Id="rId7" Type="http://schemas.openxmlformats.org/officeDocument/2006/relationships/hyperlink" Target="https://community.owasp.org/attacks/Credential_stuffing" TargetMode="External"/><Relationship Id="rId8" Type="http://schemas.openxmlformats.org/officeDocument/2006/relationships/hyperlink" Target="https://haveibeenpwned.com/Passwords"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bsi.bund.de/DE/Service-Navi/Presse/Pressemitteilungen/Presse2025/251209_Verbesserungsbedarf_Passwortmanager.html"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6" Type="http://schemas.openxmlformats.org/officeDocument/2006/relationships/hyperlink" Target="https://www.bsi.bund.de/DE/Themen/Verbraucherinnen-und-Verbraucher/Informationen-und-Empfehlungen/Cyber-Sicherheitsempfehlungen/Accountschutz/Sichere-Passwoerter-erstellen/Passwort-Manager/passwort-manager_node.html" TargetMode="External"/><Relationship Id="rId7" Type="http://schemas.openxmlformats.org/officeDocument/2006/relationships/hyperlink" Target="https://support.google.com/chrome/answer/95606?hl=de" TargetMode="External"/><Relationship Id="rId8" Type="http://schemas.openxmlformats.org/officeDocument/2006/relationships/hyperlink" Target="https://support.mozilla.org/de/kb/passworter-verwalten-speichern-loeschen-aendern" TargetMode="External"/><Relationship Id="rId9" Type="http://schemas.openxmlformats.org/officeDocument/2006/relationships/hyperlink" Target="https://support.google.com/accounts/answer/9457609?hl=de" TargetMode="External"/><Relationship Id="rId10" Type="http://schemas.openxmlformats.org/officeDocument/2006/relationships/hyperlink" Target="https://support.apple.com/de-de/120758" TargetMode="External"/><Relationship Id="rId11" Type="http://schemas.openxmlformats.org/officeDocument/2006/relationships/hyperlink" Target="https://support.apple.com/de-de/104955"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12" Type="http://schemas.openxmlformats.org/officeDocument/2006/relationships/slideLayout" Target="../slideLayouts/slideLayout4.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3" Type="http://schemas.openxmlformats.org/officeDocument/2006/relationships/hyperlink" Target="https://di.day/de/wechselrezepte/passwords" TargetMode="External"/><Relationship Id="rId14" Type="http://schemas.openxmlformats.org/officeDocument/2006/relationships/hyperlink" Target="https://www.bsi.bund.de/DE/Themen/Verbraucherinnen-und-Verbraucher/Informationen-und-Empfehlungen/Cyber-Sicherheitsempfehlungen/Accountschutz/Sichere-Passwoerter-erstellen/sichere-passwoerter-erstellen_node.html"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5" Type="http://schemas.openxmlformats.org/officeDocument/2006/relationships/slideLayout" Target="../slideLayouts/slideLayout4.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7" Type="http://schemas.openxmlformats.org/officeDocument/2006/relationships/hyperlink" Target="https://di.day/de/wechselrezepte/passwords" TargetMode="External"/><Relationship Id="rId8" Type="http://schemas.openxmlformats.org/officeDocument/2006/relationships/hyperlink" Target="https://www.bsi.bund.de/DE/Themen/Verbraucherinnen-und-Verbraucher/Informationen-und-Empfehlungen/Cyber-Sicherheitsempfehlungen/Accountschutz/Sichere-Passwoerter-erstellen/Passwort-Manager/passwort-manager_node.html" TargetMode="External"/><Relationship Id="rId9" Type="http://schemas.openxmlformats.org/officeDocument/2006/relationships/hyperlink" Target="https://support.google.com/chrome/answer/95606?hl=de" TargetMode="External"/><Relationship Id="rId10" Type="http://schemas.openxmlformats.org/officeDocument/2006/relationships/hyperlink" Target="https://support.mozilla.org/de/kb/passworter-verwalten-speichern-loeschen-aendern" TargetMode="External"/><Relationship Id="rId11" Type="http://schemas.openxmlformats.org/officeDocument/2006/relationships/hyperlink" Target="https://support.apple.com/de-de/120758" TargetMode="External"/><Relationship Id="rId12" Type="http://schemas.openxmlformats.org/officeDocument/2006/relationships/hyperlink" Target="https://support.microsoft.com/de-de/microsoft-edge/anmelden-um-microsoft-edge-ger%C3%A4te%C3%BCbergreifend-zu-synchronisieren-e6ffa79b-ed52-aa32-47e2-5d5597fe4674"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13" Type="http://schemas.openxmlformats.org/officeDocument/2006/relationships/slideLayout" Target="../slideLayouts/slideLayout4.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hyperlink" Target="https://support.google.com/accounts/answer/9457609?hl=de" TargetMode="External"/><Relationship Id="rId6" Type="http://schemas.openxmlformats.org/officeDocument/2006/relationships/hyperlink" Target="https://support.apple.com/de-de/120758" TargetMode="External"/><Relationship Id="rId7" Type="http://schemas.openxmlformats.org/officeDocument/2006/relationships/hyperlink" Target="https://support.apple.com/de-de/104955" TargetMode="External"/><Relationship Id="rId8" Type="http://schemas.openxmlformats.org/officeDocument/2006/relationships/hyperlink" Target="https://support.microsoft.com/de-de/microsoft-edge/anmelden-um-microsoft-edge-ger%C3%A4te%C3%BCbergreifend-zu-synchronisieren-e6ffa79b-ed52-aa32-47e2-5d5597fe4674" TargetMode="External"/><Relationship Id="rId9" Type="http://schemas.openxmlformats.org/officeDocument/2006/relationships/hyperlink" Target="https://support.apple.com/de-de/102651" TargetMode="External"/><Relationship Id="rId10" Type="http://schemas.openxmlformats.org/officeDocument/2006/relationships/hyperlink" Target="https://support.apple.com/de-de/guide/icloud-windows/icw2babf5e03/icloud" TargetMode="External"/><Relationship Id="rId11" Type="http://schemas.openxmlformats.org/officeDocument/2006/relationships/hyperlink" Target="https://support.microsoft.com/de-de/edge/use-password-monitor-to-help-protect-your-passwords-in-microsoft-edge" TargetMode="External"/><Relationship Id="rId12" Type="http://schemas.openxmlformats.org/officeDocument/2006/relationships/hyperlink" Target="https://chromium.googlesource.com/chromium/src/+/main/docs/linux/password_storage.md" TargetMode="External"/><Relationship Id="rId13" Type="http://schemas.openxmlformats.org/officeDocument/2006/relationships/hyperlink" Target="https://manpages.debian.org/bookworm/gnome-keyring/gnome-keyring-daemon.1.en.html" TargetMode="External"/><Relationship Id="rId14" Type="http://schemas.openxmlformats.org/officeDocument/2006/relationships/hyperlink" Target="https://apps.kde.org/de/kwalletmanager5/"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15" Type="http://schemas.openxmlformats.org/officeDocument/2006/relationships/slideLayout" Target="../slideLayouts/slideLayout4.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hyperlink" Target="https://di.day/de/wechselrezepte/passwords" TargetMode="External"/><Relationship Id="rId5" Type="http://schemas.openxmlformats.org/officeDocument/2006/relationships/hyperlink" Target="https://bitwarden.com/" TargetMode="External"/><Relationship Id="rId6" Type="http://schemas.openxmlformats.org/officeDocument/2006/relationships/hyperlink" Target="https://bitwarden.com/help/server-geographies/" TargetMode="External"/><Relationship Id="rId7" Type="http://schemas.openxmlformats.org/officeDocument/2006/relationships/hyperlink" Target="https://github.com/dani-garcia/vaultwarden" TargetMode="External"/><Relationship Id="rId8" Type="http://schemas.openxmlformats.org/officeDocument/2006/relationships/hyperlink" Target="https://keepassxc.org/" TargetMode="External"/><Relationship Id="rId9" Type="http://schemas.openxmlformats.org/officeDocument/2006/relationships/hyperlink" Target="https://proton.me/de/pass"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10" Type="http://schemas.openxmlformats.org/officeDocument/2006/relationships/slideLayout" Target="../slideLayouts/slideLayout4.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di.day/de/wechselrezepte/passwords" TargetMode="External"/><Relationship Id="rId1"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hyperlink" Target="https://di.day/de/wechselrezepte/passwords" TargetMode="External"/><Relationship Id="rId5" Type="http://schemas.openxmlformats.org/officeDocument/2006/relationships/hyperlink" Target="https://www.bsi.bund.de/DE/Themen/Verbraucherinnen-und-Verbraucher/Informationen-und-Empfehlungen/Cyber-Sicherheitsempfehlungen/Accountschutz/Sichere-Passwoerter-erstellen/sichere-passwoerter-erstellen_node.html" TargetMode="External"/><Relationship Id="rId6" Type="http://schemas.openxmlformats.org/officeDocument/2006/relationships/hyperlink" Target="https://haveibeenpwned.com/Passwords"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hyperlink" Target="https://bitwarden.com/blog/how-to-use-the-bitwarden-forwarded-email-alias-generator/" TargetMode="External"/><Relationship Id="rId9" Type="http://schemas.openxmlformats.org/officeDocument/2006/relationships/hyperlink" Target="https://bitwarden.com/help/generator/" TargetMode="External"/><Relationship Id="rId10" Type="http://schemas.openxmlformats.org/officeDocument/2006/relationships/hyperlink" Target="https://proton.me/blog/fake-email" TargetMode="External"/><Relationship Id="rId11" Type="http://schemas.openxmlformats.org/officeDocument/2006/relationships/hyperlink" Target="https://support.apple.com/de-de/guide/icloud/mme38e1602db/icloud" TargetMode="External"/><Relationship Id="rId12" Type="http://schemas.openxmlformats.org/officeDocument/2006/relationships/hyperlink" Target="https://proton.me/pass/pricing"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13" Type="http://schemas.openxmlformats.org/officeDocument/2006/relationships/slideLayout" Target="../slideLayouts/slideLayout4.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bitwarden.com/blog/how-to-use-the-bitwarden-forwarded-email-alias-generator/" TargetMode="External"/><Relationship Id="rId2" Type="http://schemas.openxmlformats.org/officeDocument/2006/relationships/hyperlink" Target="https://bitwarden.com/help/generator/" TargetMode="External"/><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hyperlink" Target="https://www.bsi.bund.de/DE/Themen/Verbraucherinnen-und-Verbraucher/Informationen-und-Empfehlungen/Cyber-Sicherheitsempfehlungen/Accountschutz/Sichere-Passwoerter-erstellen/Passwort-Manager/passwort-manager_node.html" TargetMode="External"/><Relationship Id="rId5" Type="http://schemas.openxmlformats.org/officeDocument/2006/relationships/hyperlink" Target="https://www.bsi.bund.de/DE/Themen/Verbraucherinnen-und-Verbraucher/Informationen-und-Empfehlungen/Cyber-Sicherheitsempfehlungen/Accountschutz/Zwei-Faktor-Authentisierung/zwei-faktor-authentisierung_node.html" TargetMode="External"/><Relationship Id="rId6" Type="http://schemas.openxmlformats.org/officeDocument/2006/relationships/hyperlink" Target="https://www.rfc-editor.org/rfc/rfc6238" TargetMode="Externa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7" Type="http://schemas.openxmlformats.org/officeDocument/2006/relationships/slideLayout" Target="../slideLayouts/slideLayout5.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9" Type="http://schemas.openxmlformats.org/officeDocument/2006/relationships/hyperlink" Target="https://di.day/de/wechselrezepte/authenticator" TargetMode="External"/><Relationship Id="rId10" Type="http://schemas.openxmlformats.org/officeDocument/2006/relationships/hyperlink" Target="https://2fas.com/auth/" TargetMode="External"/><Relationship Id="rId11" Type="http://schemas.openxmlformats.org/officeDocument/2006/relationships/hyperlink" Target="https://getaegis.app/" TargetMode="External"/><Relationship Id="rId12" Type="http://schemas.openxmlformats.org/officeDocument/2006/relationships/hyperlink" Target="https://ente.com/auth/" TargetMode="External"/><Relationship Id="rId13" Type="http://schemas.openxmlformats.org/officeDocument/2006/relationships/hyperlink" Target="https://proton.me/de/authenticator" TargetMode="External"/><Relationship Id="rId14" Type="http://schemas.openxmlformats.org/officeDocument/2006/relationships/hyperlink" Target="https://freeotp.github.io/" TargetMode="External"/><Relationship Id="rId15" Type="http://schemas.openxmlformats.org/officeDocument/2006/relationships/hyperlink" Target="https://bitwarden.com/products/authenticator/" TargetMode="Externa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16" Type="http://schemas.openxmlformats.org/officeDocument/2006/relationships/slideLayout" Target="../slideLayouts/slideLayout4.xm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6" Type="http://schemas.openxmlformats.org/officeDocument/2006/relationships/hyperlink" Target="https://2fas.com/auth/" TargetMode="External"/><Relationship Id="rId7" Type="http://schemas.openxmlformats.org/officeDocument/2006/relationships/hyperlink" Target="https://2fas.com/download/" TargetMode="External"/><Relationship Id="rId8" Type="http://schemas.openxmlformats.org/officeDocument/2006/relationships/hyperlink" Target="https://2fas.com/support/2fas-auth-security-privacy/is-2fas-backup-safe/" TargetMode="External"/><Relationship Id="rId9" Type="http://schemas.openxmlformats.org/officeDocument/2006/relationships/hyperlink" Target="https://github.com/twofas" TargetMode="Externa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10" Type="http://schemas.openxmlformats.org/officeDocument/2006/relationships/slideLayout" Target="../slideLayouts/slideLayout4.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i.day/de/wechselrezepte/authenticator" TargetMode="Externa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5" Type="http://schemas.openxmlformats.org/officeDocument/2006/relationships/hyperlink" Target="https://di.day/de/wechselrezepte/authenticator" TargetMode="External"/><Relationship Id="rId6" Type="http://schemas.openxmlformats.org/officeDocument/2006/relationships/hyperlink" Target="https://support.apple.com/de-de/120758" TargetMode="External"/><Relationship Id="rId7" Type="http://schemas.openxmlformats.org/officeDocument/2006/relationships/hyperlink" Target="https://www.bsi.bund.de/DE/Themen/Verbraucherinnen-und-Verbraucher/Informationen-und-Empfehlungen/Cyber-Sicherheitsempfehlungen/Accountschutz/Passkeys/passkeys-anmelden-ohne-passwort_node.html" TargetMode="External"/><Relationship Id="rId8" Type="http://schemas.openxmlformats.org/officeDocument/2006/relationships/hyperlink" Target="https://fidoalliance.org/passkeys/" TargetMode="External"/><Relationship Id="rId9" Type="http://schemas.openxmlformats.org/officeDocument/2006/relationships/hyperlink" Target="https://support.google.com/chrome/answer/13168025?hl=de" TargetMode="External"/><Relationship Id="rId10" Type="http://schemas.openxmlformats.org/officeDocument/2006/relationships/hyperlink" Target="https://bitwarden.com/help/storing-passkeys/"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11" Type="http://schemas.openxmlformats.org/officeDocument/2006/relationships/slideLayout" Target="../slideLayouts/slideLayout4.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bmmmm.github.io/talks/did-passwordmanagers-2026/" TargetMode="External"/><Relationship Id="rId3" Type="http://schemas.openxmlformats.org/officeDocument/2006/relationships/hyperlink" Target="https://bmmmm.github.io/talks/did-passwordmanagers-2026/" TargetMode="External"/><Relationship Id="rId4" Type="http://schemas.openxmlformats.org/officeDocument/2006/relationships/hyperlink" Target="https://di.day/de/wechselrezepte" TargetMode="External"/><Relationship Id="rId5" Type="http://schemas.openxmlformats.org/officeDocument/2006/relationships/hyperlink" Target="https://di.day/de/wechselrezepte/passwords" TargetMode="External"/><Relationship Id="rId6" Type="http://schemas.openxmlformats.org/officeDocument/2006/relationships/hyperlink" Target="https://di.day/de/wechselrezepte/authenticator" TargetMode="External"/><Relationship Id="rId7" Type="http://schemas.openxmlformats.org/officeDocument/2006/relationships/hyperlink" Target="https://www.bsi.bund.de/DE/Themen/Verbraucherinnen-und-Verbraucher/Informationen-und-Empfehlungen/Cyber-Sicherheitsempfehlungen/Accountschutz/Sichere-Passwoerter-erstellen/Passwort-Manager/passwort-manager_node.html" TargetMode="External"/><Relationship Id="rId8" Type="http://schemas.openxmlformats.org/officeDocument/2006/relationships/hyperlink" Target="https://www.bsi.bund.de/DE/Themen/Verbraucherinnen-und-Verbraucher/Informationen-und-Empfehlungen/Cyber-Sicherheitsempfehlungen/Accountschutz/Zwei-Faktor-Authentisierung/zwei-faktor-authentisierung_node.html" TargetMode="External"/><Relationship Id="rId1" Type="http://schemas.openxmlformats.org/officeDocument/2006/relationships/image" Target="../media/image-19-1.png"/><Relationship Id="rId9" Type="http://schemas.openxmlformats.org/officeDocument/2006/relationships/slideLayout" Target="../slideLayouts/slideLayout5.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i.day/de/wechselrezepte/passwords" TargetMode="External"/><Relationship Id="rId2" Type="http://schemas.openxmlformats.org/officeDocument/2006/relationships/hyperlink" Target="https://di.day/de/wechselrezepte/authenticator" TargetMode="External"/><Relationship Id="rId3" Type="http://schemas.openxmlformats.org/officeDocument/2006/relationships/hyperlink" Target="https://bitcircus101.de" TargetMode="External"/><Relationship Id="rId4" Type="http://schemas.openxmlformats.org/officeDocument/2006/relationships/hyperlink" Target="https://datenburg.org" TargetMode="External"/><Relationship Id="rId5" Type="http://schemas.openxmlformats.org/officeDocument/2006/relationships/hyperlink" Target="https://www.bsi.bund.de/DE/Themen/Verbraucherinnen-und-Verbraucher/Informationen-und-Empfehlungen/Cyber-Sicherheitsempfehlungen/Accountschutz/Sichere-Passwoerter-erstellen/sichere-passwoerter-erstellen_node.html" TargetMode="External"/><Relationship Id="rId6" Type="http://schemas.openxmlformats.org/officeDocument/2006/relationships/hyperlink" Target="https://community.owasp.org/attacks/Credential_stuffing" TargetMode="External"/><Relationship Id="rId7" Type="http://schemas.openxmlformats.org/officeDocument/2006/relationships/hyperlink" Target="https://haveibeenpwned.com/Passwords" TargetMode="External"/><Relationship Id="rId8" Type="http://schemas.openxmlformats.org/officeDocument/2006/relationships/hyperlink" Target="https://www.bsi.bund.de/DE/Service-Navi/Presse/Pressemitteilungen/Presse2025/251209_Verbesserungsbedarf_Passwortmanager.html" TargetMode="External"/><Relationship Id="rId9" Type="http://schemas.openxmlformats.org/officeDocument/2006/relationships/hyperlink" Target="https://www.bsi.bund.de/DE/Themen/Verbraucherinnen-und-Verbraucher/Informationen-und-Empfehlungen/Cyber-Sicherheitsempfehlungen/Accountschutz/Sichere-Passwoerter-erstellen/Passwort-Manager/passwort-manager_node.html" TargetMode="External"/><Relationship Id="rId10" Type="http://schemas.openxmlformats.org/officeDocument/2006/relationships/hyperlink" Target="https://support.google.com/chrome/answer/95606?hl=de" TargetMode="External"/><Relationship Id="rId11" Type="http://schemas.openxmlformats.org/officeDocument/2006/relationships/hyperlink" Target="https://support.mozilla.org/de/kb/passworter-verwalten-speichern-loeschen-aendern" TargetMode="External"/><Relationship Id="rId12" Type="http://schemas.openxmlformats.org/officeDocument/2006/relationships/hyperlink" Target="https://support.google.com/accounts/answer/9457609?hl=de" TargetMode="External"/><Relationship Id="rId13" Type="http://schemas.openxmlformats.org/officeDocument/2006/relationships/hyperlink" Target="https://support.apple.com/de-de/120758" TargetMode="External"/><Relationship Id="rId14" Type="http://schemas.openxmlformats.org/officeDocument/2006/relationships/hyperlink" Target="https://support.apple.com/de-de/104955" TargetMode="External"/><Relationship Id="rId15" Type="http://schemas.openxmlformats.org/officeDocument/2006/relationships/hyperlink" Target="https://support.microsoft.com/de-de/microsoft-edge/anmelden-um-microsoft-edge-ger%C3%A4te%C3%BCbergreifend-zu-synchronisieren-e6ffa79b-ed52-aa32-47e2-5d5597fe4674" TargetMode="External"/><Relationship Id="rId16" Type="http://schemas.openxmlformats.org/officeDocument/2006/relationships/hyperlink" Target="https://support.apple.com/de-de/102651" TargetMode="External"/><Relationship Id="rId17" Type="http://schemas.openxmlformats.org/officeDocument/2006/relationships/hyperlink" Target="https://support.apple.com/de-de/guide/icloud-windows/icw2babf5e03/icloud" TargetMode="External"/><Relationship Id="rId18" Type="http://schemas.openxmlformats.org/officeDocument/2006/relationships/hyperlink" Target="https://support.microsoft.com/de-de/edge/use-password-monitor-to-help-protect-your-passwords-in-microsoft-edge" TargetMode="External"/><Relationship Id="rId19" Type="http://schemas.openxmlformats.org/officeDocument/2006/relationships/hyperlink" Target="https://chromium.googlesource.com/chromium/src/+/main/docs/linux/password_storage.md" TargetMode="External"/><Relationship Id="rId20" Type="http://schemas.openxmlformats.org/officeDocument/2006/relationships/hyperlink" Target="https://manpages.debian.org/bookworm/gnome-keyring/gnome-keyring-daemon.1.en.html" TargetMode="External"/><Relationship Id="rId21" Type="http://schemas.openxmlformats.org/officeDocument/2006/relationships/hyperlink" Target="https://apps.kde.org/de/kwalletmanager5/" TargetMode="External"/><Relationship Id="rId22" Type="http://schemas.openxmlformats.org/officeDocument/2006/relationships/hyperlink" Target="https://bitwarden.com/" TargetMode="External"/><Relationship Id="rId23" Type="http://schemas.openxmlformats.org/officeDocument/2006/relationships/hyperlink" Target="https://bitwarden.com/help/server-geographies/" TargetMode="External"/><Relationship Id="rId24" Type="http://schemas.openxmlformats.org/officeDocument/2006/relationships/slideLayout" Target="../slideLayouts/slideLayout4.xml"/><Relationship Id="rId2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dani-garcia/vaultwarden" TargetMode="External"/><Relationship Id="rId2" Type="http://schemas.openxmlformats.org/officeDocument/2006/relationships/hyperlink" Target="https://keepassxc.org/" TargetMode="External"/><Relationship Id="rId3" Type="http://schemas.openxmlformats.org/officeDocument/2006/relationships/hyperlink" Target="https://proton.me/de/pass" TargetMode="External"/><Relationship Id="rId4" Type="http://schemas.openxmlformats.org/officeDocument/2006/relationships/hyperlink" Target="https://bitwarden.com/blog/how-to-use-the-bitwarden-forwarded-email-alias-generator/" TargetMode="External"/><Relationship Id="rId5" Type="http://schemas.openxmlformats.org/officeDocument/2006/relationships/hyperlink" Target="https://bitwarden.com/help/generator/" TargetMode="External"/><Relationship Id="rId6" Type="http://schemas.openxmlformats.org/officeDocument/2006/relationships/hyperlink" Target="https://proton.me/blog/fake-email" TargetMode="External"/><Relationship Id="rId7" Type="http://schemas.openxmlformats.org/officeDocument/2006/relationships/hyperlink" Target="https://support.apple.com/de-de/guide/icloud/mme38e1602db/icloud" TargetMode="External"/><Relationship Id="rId8" Type="http://schemas.openxmlformats.org/officeDocument/2006/relationships/hyperlink" Target="https://proton.me/pass/pricing" TargetMode="External"/><Relationship Id="rId9" Type="http://schemas.openxmlformats.org/officeDocument/2006/relationships/hyperlink" Target="https://www.bsi.bund.de/DE/Themen/Verbraucherinnen-und-Verbraucher/Informationen-und-Empfehlungen/Cyber-Sicherheitsempfehlungen/Accountschutz/Zwei-Faktor-Authentisierung/zwei-faktor-authentisierung_node.html" TargetMode="External"/><Relationship Id="rId10" Type="http://schemas.openxmlformats.org/officeDocument/2006/relationships/hyperlink" Target="https://www.rfc-editor.org/rfc/rfc6238" TargetMode="External"/><Relationship Id="rId11" Type="http://schemas.openxmlformats.org/officeDocument/2006/relationships/hyperlink" Target="https://2fas.com/auth/" TargetMode="External"/><Relationship Id="rId12" Type="http://schemas.openxmlformats.org/officeDocument/2006/relationships/hyperlink" Target="https://getaegis.app/" TargetMode="External"/><Relationship Id="rId13" Type="http://schemas.openxmlformats.org/officeDocument/2006/relationships/hyperlink" Target="https://ente.com/auth/" TargetMode="External"/><Relationship Id="rId14" Type="http://schemas.openxmlformats.org/officeDocument/2006/relationships/hyperlink" Target="https://proton.me/de/authenticator" TargetMode="External"/><Relationship Id="rId15" Type="http://schemas.openxmlformats.org/officeDocument/2006/relationships/hyperlink" Target="https://freeotp.github.io/" TargetMode="External"/><Relationship Id="rId16" Type="http://schemas.openxmlformats.org/officeDocument/2006/relationships/hyperlink" Target="https://bitwarden.com/products/authenticator/" TargetMode="External"/><Relationship Id="rId17" Type="http://schemas.openxmlformats.org/officeDocument/2006/relationships/hyperlink" Target="https://2fas.com/download/" TargetMode="External"/><Relationship Id="rId18" Type="http://schemas.openxmlformats.org/officeDocument/2006/relationships/hyperlink" Target="https://2fas.com/support/2fas-auth-security-privacy/is-2fas-backup-safe/" TargetMode="External"/><Relationship Id="rId19" Type="http://schemas.openxmlformats.org/officeDocument/2006/relationships/hyperlink" Target="https://github.com/twofas" TargetMode="External"/><Relationship Id="rId20" Type="http://schemas.openxmlformats.org/officeDocument/2006/relationships/hyperlink" Target="https://www.bsi.bund.de/DE/Themen/Verbraucherinnen-und-Verbraucher/Informationen-und-Empfehlungen/Cyber-Sicherheitsempfehlungen/Accountschutz/Passkeys/passkeys-anmelden-ohne-passwort_node.html" TargetMode="External"/><Relationship Id="rId21" Type="http://schemas.openxmlformats.org/officeDocument/2006/relationships/hyperlink" Target="https://fidoalliance.org/passkeys/" TargetMode="External"/><Relationship Id="rId22" Type="http://schemas.openxmlformats.org/officeDocument/2006/relationships/hyperlink" Target="https://support.google.com/chrome/answer/13168025?hl=de" TargetMode="External"/><Relationship Id="rId23" Type="http://schemas.openxmlformats.org/officeDocument/2006/relationships/hyperlink" Target="https://bitwarden.com/help/storing-passkeys/" TargetMode="External"/><Relationship Id="rId24" Type="http://schemas.openxmlformats.org/officeDocument/2006/relationships/slideLayout" Target="../slideLayouts/slideLayout4.xml"/><Relationship Id="rId2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3063240"/>
            <a:ext cx="11091672" cy="868680"/>
          </a:xfrm>
          <a:prstGeom prst="rect">
            <a:avLst/>
          </a:prstGeom>
          <a:noFill/>
          <a:ln/>
        </p:spPr>
        <p:txBody>
          <a:bodyPr wrap="square" lIns="0" tIns="0" rIns="0" bIns="0" rtlCol="0" anchor="ctr"/>
          <a:lstStyle/>
          <a:p>
            <a:pPr algn="ctr" indent="0" marL="0">
              <a:buNone/>
            </a:pPr>
            <a:r>
              <a:rPr lang="en-US" sz="3200" b="1" dirty="0">
                <a:solidFill>
                  <a:schemeClr val="tx2"/>
                </a:solidFill>
              </a:rPr>
              <a:t>Passwörter und Zwei-Faktor – einfach sicher</a:t>
            </a:r>
            <a:endParaRPr lang="en-US" sz="3200" dirty="0"/>
          </a:p>
        </p:txBody>
      </p:sp>
      <p:sp>
        <p:nvSpPr>
          <p:cNvPr id="3" name="Text 1"/>
          <p:cNvSpPr/>
          <p:nvPr>
            <p:ph idx="103" type="body" hasCustomPrompt="1"/>
          </p:nvPr>
        </p:nvSpPr>
        <p:spPr>
          <a:xfrm>
            <a:off x="548640" y="4846320"/>
            <a:ext cx="11091672" cy="1097280"/>
          </a:xfrm>
          <a:prstGeom prst="rect">
            <a:avLst/>
          </a:prstGeom>
          <a:noFill/>
          <a:ln/>
        </p:spPr>
        <p:txBody>
          <a:bodyPr wrap="square" lIns="0" tIns="0" rIns="0" bIns="0" rtlCol="0" anchor="t"/>
          <a:lstStyle/>
          <a:p>
            <a:pPr algn="ctr" indent="0" marL="0">
              <a:buNone/>
            </a:pPr>
            <a:r>
              <a:rPr lang="en-US" sz="2200" dirty="0">
                <a:solidFill>
                  <a:schemeClr val="accent1"/>
                </a:solidFill>
              </a:rPr>
              <a:t>Nach den Wechselrezepten „Passwörter“ und „Authenticator“</a:t>
            </a:r>
            <a:endParaRPr lang="en-US" sz="2200" dirty="0"/>
          </a:p>
          <a:p>
            <a:pPr algn="ctr" indent="0" marL="0">
              <a:buNone/>
            </a:pPr>
            <a:r>
              <a:rPr lang="en-US" sz="2200" dirty="0">
                <a:solidFill>
                  <a:schemeClr val="accent1"/>
                </a:solidFill>
              </a:rPr>
              <a:t>vom Digital Independence Day (di.day)</a:t>
            </a:r>
            <a:endParaRPr lang="en-US" sz="2200" dirty="0"/>
          </a:p>
        </p:txBody>
      </p:sp>
      <p:sp>
        <p:nvSpPr>
          <p:cNvPr id="4" name="Text 1"/>
          <p:cNvSpPr/>
          <p:nvPr>
            <p:ph idx="104"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5"/>
                </a:solidFill>
              </a:rPr>
              <a:t>Quellen: </a:t>
            </a:r>
            <a:pPr indent="0" marL="0">
              <a:buNone/>
            </a:pPr>
            <a:r>
              <a:rPr lang="en-US" sz="900" u="sng" dirty="0">
                <a:solidFill>
                  <a:schemeClr val="accent5"/>
                </a:solidFill>
                <a:hlinkClick r:id="rId1"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pPr indent="0" marL="0">
              <a:buNone/>
            </a:pPr>
            <a:r>
              <a:rPr lang="en-US" sz="900" dirty="0">
                <a:solidFill>
                  <a:schemeClr val="accent5"/>
                </a:solidFill>
              </a:rPr>
              <a:t> · </a:t>
            </a:r>
            <a:pPr indent="0" marL="0">
              <a:buNone/>
            </a:pPr>
            <a:r>
              <a:rPr lang="en-US" sz="900" u="sng" dirty="0">
                <a:solidFill>
                  <a:schemeClr val="accent5"/>
                </a:solidFill>
                <a:hlinkClick r:id="rId2" invalidUrl="" action="" tgtFrame="" tooltip="di.day – Wechselrezept „Authenticator“" history="1" highlightClick="0" endSnd="0">
                  <a:extLst>
                    <a:ext uri="{A12FA001-AC4F-418D-AE19-62706E023703}">
                      <ahyp:hlinkClr xmlns:ahyp="http://schemas.microsoft.com/office/drawing/2018/hyperlinkcolor" val="tx"/>
                    </a:ext>
                  </a:extLst>
                </a:hlinkClick>
              </a:rPr>
              <a:t>[2] di.day Authenticator</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accent1"/>
                </a:solidFill>
              </a:defRPr>
            </a:lvl1pPr>
          </a:lstStyle>
          <a:p>
            <a:pPr algn="l"/>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Über mich</a:t>
            </a:r>
            <a:endParaRPr lang="en-US" sz="3000" dirty="0"/>
          </a:p>
        </p:txBody>
      </p:sp>
      <p:sp>
        <p:nvSpPr>
          <p:cNvPr id="3" name="Steckbrief"/>
          <p:cNvSpPr/>
          <p:nvPr/>
        </p:nvSpPr>
        <p:spPr>
          <a:xfrm>
            <a:off x="548640" y="1737360"/>
            <a:ext cx="3657600" cy="4206240"/>
          </a:xfrm>
          <a:prstGeom prst="roundRect">
            <a:avLst>
              <a:gd name="adj" fmla="val 3000"/>
            </a:avLst>
          </a:prstGeom>
          <a:solidFill>
            <a:schemeClr val="tx2"/>
          </a:solidFill>
          <a:ln w="12700">
            <a:solidFill>
              <a:schemeClr val="tx2"/>
            </a:solidFill>
            <a:prstDash val="solid"/>
          </a:ln>
        </p:spPr>
      </p:sp>
      <p:sp>
        <p:nvSpPr>
          <p:cNvPr id="4" name="Prompt Kreis"/>
          <p:cNvSpPr/>
          <p:nvPr/>
        </p:nvSpPr>
        <p:spPr>
          <a:xfrm>
            <a:off x="1371600" y="2011680"/>
            <a:ext cx="2011680" cy="2011680"/>
          </a:xfrm>
          <a:prstGeom prst="ellipse">
            <a:avLst/>
          </a:prstGeom>
          <a:solidFill>
            <a:schemeClr val="accent1"/>
          </a:solidFill>
          <a:ln w="12700">
            <a:solidFill>
              <a:schemeClr val="accent1"/>
            </a:solidFill>
            <a:prstDash val="solid"/>
          </a:ln>
        </p:spPr>
      </p:sp>
      <p:sp>
        <p:nvSpPr>
          <p:cNvPr id="5" name="Text 3"/>
          <p:cNvSpPr txBox="1"/>
          <p:nvPr/>
        </p:nvSpPr>
        <p:spPr>
          <a:xfrm>
            <a:off x="1371600" y="2011680"/>
            <a:ext cx="2011680" cy="2011680"/>
          </a:xfrm>
          <a:prstGeom prst="rect">
            <a:avLst/>
          </a:prstGeom>
          <a:noFill/>
          <a:ln/>
        </p:spPr>
        <p:txBody>
          <a:bodyPr wrap="square" lIns="0" tIns="0" rIns="0" bIns="0" rtlCol="0" anchor="ctr"/>
          <a:lstStyle/>
          <a:p>
            <a:pPr algn="ctr" indent="0" marL="0">
              <a:buNone/>
            </a:pPr>
            <a:r>
              <a:rPr lang="en-US" sz="5400" b="1" dirty="0">
                <a:solidFill>
                  <a:schemeClr val="tx2"/>
                </a:solidFill>
                <a:latin typeface="Courier New" pitchFamily="34" charset="0"/>
                <a:ea typeface="Courier New" pitchFamily="34" charset="-122"/>
                <a:cs typeface="Courier New" pitchFamily="34" charset="-120"/>
              </a:rPr>
              <a:t>&gt;_</a:t>
            </a:r>
            <a:endParaRPr lang="en-US" sz="5400" dirty="0"/>
          </a:p>
        </p:txBody>
      </p:sp>
      <p:sp>
        <p:nvSpPr>
          <p:cNvPr id="6" name="Text 4"/>
          <p:cNvSpPr txBox="1"/>
          <p:nvPr/>
        </p:nvSpPr>
        <p:spPr>
          <a:xfrm>
            <a:off x="731520" y="4251960"/>
            <a:ext cx="3291840" cy="548640"/>
          </a:xfrm>
          <a:prstGeom prst="rect">
            <a:avLst/>
          </a:prstGeom>
          <a:noFill/>
          <a:ln/>
        </p:spPr>
        <p:txBody>
          <a:bodyPr wrap="square" lIns="0" tIns="0" rIns="0" bIns="0" rtlCol="0" anchor="t"/>
          <a:lstStyle/>
          <a:p>
            <a:pPr algn="ctr" indent="0" marL="0">
              <a:buNone/>
            </a:pPr>
            <a:r>
              <a:rPr lang="en-US" sz="3000" b="1" dirty="0">
                <a:solidFill>
                  <a:schemeClr val="bg1"/>
                </a:solidFill>
              </a:rPr>
              <a:t>Bartosz</a:t>
            </a:r>
            <a:endParaRPr lang="en-US" sz="3000" dirty="0"/>
          </a:p>
        </p:txBody>
      </p:sp>
      <p:sp>
        <p:nvSpPr>
          <p:cNvPr id="7" name="Text 5"/>
          <p:cNvSpPr txBox="1"/>
          <p:nvPr/>
        </p:nvSpPr>
        <p:spPr>
          <a:xfrm>
            <a:off x="731520" y="4846320"/>
            <a:ext cx="3291840" cy="365760"/>
          </a:xfrm>
          <a:prstGeom prst="rect">
            <a:avLst/>
          </a:prstGeom>
          <a:noFill/>
          <a:ln/>
        </p:spPr>
        <p:txBody>
          <a:bodyPr wrap="square" lIns="0" tIns="0" rIns="0" bIns="0" rtlCol="0" anchor="t"/>
          <a:lstStyle/>
          <a:p>
            <a:pPr algn="ctr" indent="0" marL="0">
              <a:buNone/>
            </a:pPr>
            <a:r>
              <a:rPr lang="en-US" sz="1800" dirty="0">
                <a:solidFill>
                  <a:schemeClr val="accent5"/>
                </a:solidFill>
                <a:latin typeface="Courier New" pitchFamily="34" charset="0"/>
                <a:ea typeface="Courier New" pitchFamily="34" charset="-122"/>
                <a:cs typeface="Courier New" pitchFamily="34" charset="-120"/>
              </a:rPr>
              <a:t>bmmmm</a:t>
            </a:r>
            <a:endParaRPr lang="en-US" sz="1800" dirty="0"/>
          </a:p>
        </p:txBody>
      </p:sp>
      <p:sp>
        <p:nvSpPr>
          <p:cNvPr id="8" name="terminal Kreis"/>
          <p:cNvSpPr/>
          <p:nvPr/>
        </p:nvSpPr>
        <p:spPr>
          <a:xfrm>
            <a:off x="4663440" y="1828800"/>
            <a:ext cx="777240" cy="777240"/>
          </a:xfrm>
          <a:prstGeom prst="ellipse">
            <a:avLst/>
          </a:prstGeom>
          <a:solidFill>
            <a:schemeClr val="accent1"/>
          </a:solidFill>
          <a:ln w="12700">
            <a:solidFill>
              <a:schemeClr val="accent1"/>
            </a:solidFill>
            <a:prstDash val="solid"/>
          </a:ln>
        </p:spPr>
      </p:sp>
      <p:pic>
        <p:nvPicPr>
          <p:cNvPr id="9" name="terminal Icon" descr="terminal">    </p:cNvPr>
          <p:cNvPicPr>
            <a:picLocks noChangeAspect="1"/>
          </p:cNvPicPr>
          <p:nvPr/>
        </p:nvPicPr>
        <p:blipFill>
          <a:blip r:embed="rId1"/>
          <a:stretch>
            <a:fillRect/>
          </a:stretch>
        </p:blipFill>
        <p:spPr>
          <a:xfrm>
            <a:off x="4849978" y="2015338"/>
            <a:ext cx="404165" cy="404165"/>
          </a:xfrm>
          <a:prstGeom prst="rect">
            <a:avLst/>
          </a:prstGeom>
        </p:spPr>
      </p:pic>
      <p:sp>
        <p:nvSpPr>
          <p:cNvPr id="10" name="Text 7"/>
          <p:cNvSpPr txBox="1"/>
          <p:nvPr/>
        </p:nvSpPr>
        <p:spPr>
          <a:xfrm>
            <a:off x="5669280" y="1810512"/>
            <a:ext cx="5943600" cy="411480"/>
          </a:xfrm>
          <a:prstGeom prst="rect">
            <a:avLst/>
          </a:prstGeom>
          <a:noFill/>
          <a:ln/>
        </p:spPr>
        <p:txBody>
          <a:bodyPr wrap="square" lIns="0" tIns="0" rIns="0" bIns="0" rtlCol="0" anchor="t"/>
          <a:lstStyle/>
          <a:p>
            <a:pPr indent="0" marL="0">
              <a:buNone/>
            </a:pPr>
            <a:r>
              <a:rPr lang="en-US" sz="2000" b="1" dirty="0">
                <a:solidFill>
                  <a:schemeClr val="tx2"/>
                </a:solidFill>
              </a:rPr>
              <a:t>Teil von bitcircus101</a:t>
            </a:r>
            <a:endParaRPr lang="en-US" sz="2000" dirty="0"/>
          </a:p>
        </p:txBody>
      </p:sp>
      <p:sp>
        <p:nvSpPr>
          <p:cNvPr id="11" name="Text 8"/>
          <p:cNvSpPr txBox="1"/>
          <p:nvPr/>
        </p:nvSpPr>
        <p:spPr>
          <a:xfrm>
            <a:off x="5669280" y="2221992"/>
            <a:ext cx="5943600" cy="384048"/>
          </a:xfrm>
          <a:prstGeom prst="rect">
            <a:avLst/>
          </a:prstGeom>
          <a:noFill/>
          <a:ln/>
        </p:spPr>
        <p:txBody>
          <a:bodyPr wrap="square" lIns="0" tIns="0" rIns="0" bIns="0" rtlCol="0" anchor="t"/>
          <a:lstStyle/>
          <a:p>
            <a:pPr indent="0" marL="0">
              <a:buNone/>
            </a:pPr>
            <a:r>
              <a:rPr lang="en-US" sz="1600" dirty="0">
                <a:solidFill>
                  <a:schemeClr val="tx1"/>
                </a:solidFill>
              </a:rPr>
              <a:t>Offener Hackspace in Bonn · </a:t>
            </a:r>
            <a:pPr indent="0" marL="0">
              <a:buNone/>
            </a:pPr>
            <a:r>
              <a:rPr lang="en-US" sz="1600" u="sng" dirty="0">
                <a:solidFill>
                  <a:schemeClr val="tx1"/>
                </a:solidFill>
                <a:hlinkClick r:id="rId2" invalidUrl="" action="" tgtFrame="" tooltip="https://bitcircus101.de" history="1" highlightClick="0" endSnd="0">
                  <a:extLst>
                    <a:ext uri="{A12FA001-AC4F-418D-AE19-62706E023703}">
                      <ahyp:hlinkClr xmlns:ahyp="http://schemas.microsoft.com/office/drawing/2018/hyperlinkcolor" val="tx"/>
                    </a:ext>
                  </a:extLst>
                </a:hlinkClick>
              </a:rPr>
              <a:t>bitcircus101.de</a:t>
            </a:r>
            <a:endParaRPr lang="en-US" sz="1600" dirty="0"/>
          </a:p>
        </p:txBody>
      </p:sp>
      <p:sp>
        <p:nvSpPr>
          <p:cNvPr id="12" name="castle Kreis"/>
          <p:cNvSpPr/>
          <p:nvPr/>
        </p:nvSpPr>
        <p:spPr>
          <a:xfrm>
            <a:off x="4663440" y="2880360"/>
            <a:ext cx="777240" cy="777240"/>
          </a:xfrm>
          <a:prstGeom prst="ellipse">
            <a:avLst/>
          </a:prstGeom>
          <a:solidFill>
            <a:schemeClr val="accent1"/>
          </a:solidFill>
          <a:ln w="12700">
            <a:solidFill>
              <a:schemeClr val="accent1"/>
            </a:solidFill>
            <a:prstDash val="solid"/>
          </a:ln>
        </p:spPr>
      </p:sp>
      <p:pic>
        <p:nvPicPr>
          <p:cNvPr id="13" name="castle Icon" descr="castle">    </p:cNvPr>
          <p:cNvPicPr>
            <a:picLocks noChangeAspect="1"/>
          </p:cNvPicPr>
          <p:nvPr/>
        </p:nvPicPr>
        <p:blipFill>
          <a:blip r:embed="rId3"/>
          <a:stretch>
            <a:fillRect/>
          </a:stretch>
        </p:blipFill>
        <p:spPr>
          <a:xfrm>
            <a:off x="4849978" y="3066898"/>
            <a:ext cx="404165" cy="404165"/>
          </a:xfrm>
          <a:prstGeom prst="rect">
            <a:avLst/>
          </a:prstGeom>
        </p:spPr>
      </p:pic>
      <p:sp>
        <p:nvSpPr>
          <p:cNvPr id="14" name="Text 10"/>
          <p:cNvSpPr txBox="1"/>
          <p:nvPr/>
        </p:nvSpPr>
        <p:spPr>
          <a:xfrm>
            <a:off x="5669280" y="2862072"/>
            <a:ext cx="5943600" cy="411480"/>
          </a:xfrm>
          <a:prstGeom prst="rect">
            <a:avLst/>
          </a:prstGeom>
          <a:noFill/>
          <a:ln/>
        </p:spPr>
        <p:txBody>
          <a:bodyPr wrap="square" lIns="0" tIns="0" rIns="0" bIns="0" rtlCol="0" anchor="t"/>
          <a:lstStyle/>
          <a:p>
            <a:pPr indent="0" marL="0">
              <a:buNone/>
            </a:pPr>
            <a:r>
              <a:rPr lang="en-US" sz="2000" b="1" dirty="0">
                <a:solidFill>
                  <a:schemeClr val="tx2"/>
                </a:solidFill>
              </a:rPr>
              <a:t>Mitglied im Datenburg e.V.</a:t>
            </a:r>
            <a:endParaRPr lang="en-US" sz="2000" dirty="0"/>
          </a:p>
        </p:txBody>
      </p:sp>
      <p:sp>
        <p:nvSpPr>
          <p:cNvPr id="15" name="Text 11"/>
          <p:cNvSpPr txBox="1"/>
          <p:nvPr/>
        </p:nvSpPr>
        <p:spPr>
          <a:xfrm>
            <a:off x="5669280" y="3273552"/>
            <a:ext cx="5943600" cy="384048"/>
          </a:xfrm>
          <a:prstGeom prst="rect">
            <a:avLst/>
          </a:prstGeom>
          <a:noFill/>
          <a:ln/>
        </p:spPr>
        <p:txBody>
          <a:bodyPr wrap="square" lIns="0" tIns="0" rIns="0" bIns="0" rtlCol="0" anchor="t"/>
          <a:lstStyle/>
          <a:p>
            <a:pPr indent="0" marL="0">
              <a:buNone/>
            </a:pPr>
            <a:r>
              <a:rPr lang="en-US" sz="1600" dirty="0">
                <a:solidFill>
                  <a:schemeClr val="tx1"/>
                </a:solidFill>
              </a:rPr>
              <a:t>Bonner Chaostreff und Hackspace · </a:t>
            </a:r>
            <a:pPr indent="0" marL="0">
              <a:buNone/>
            </a:pPr>
            <a:r>
              <a:rPr lang="en-US" sz="1600" u="sng" dirty="0">
                <a:solidFill>
                  <a:schemeClr val="tx1"/>
                </a:solidFill>
                <a:hlinkClick r:id="rId4" invalidUrl="" action="" tgtFrame="" tooltip="https://datenburg.org" history="1" highlightClick="0" endSnd="0">
                  <a:extLst>
                    <a:ext uri="{A12FA001-AC4F-418D-AE19-62706E023703}">
                      <ahyp:hlinkClr xmlns:ahyp="http://schemas.microsoft.com/office/drawing/2018/hyperlinkcolor" val="tx"/>
                    </a:ext>
                  </a:extLst>
                </a:hlinkClick>
              </a:rPr>
              <a:t>datenburg.org</a:t>
            </a:r>
            <a:endParaRPr lang="en-US" sz="1600" dirty="0"/>
          </a:p>
        </p:txBody>
      </p:sp>
      <p:sp>
        <p:nvSpPr>
          <p:cNvPr id="16" name="bike Kreis"/>
          <p:cNvSpPr/>
          <p:nvPr/>
        </p:nvSpPr>
        <p:spPr>
          <a:xfrm>
            <a:off x="4663440" y="3931920"/>
            <a:ext cx="777240" cy="777240"/>
          </a:xfrm>
          <a:prstGeom prst="ellipse">
            <a:avLst/>
          </a:prstGeom>
          <a:solidFill>
            <a:schemeClr val="accent1"/>
          </a:solidFill>
          <a:ln w="12700">
            <a:solidFill>
              <a:schemeClr val="accent1"/>
            </a:solidFill>
            <a:prstDash val="solid"/>
          </a:ln>
        </p:spPr>
      </p:sp>
      <p:pic>
        <p:nvPicPr>
          <p:cNvPr id="17" name="bike Icon" descr="bike">    </p:cNvPr>
          <p:cNvPicPr>
            <a:picLocks noChangeAspect="1"/>
          </p:cNvPicPr>
          <p:nvPr/>
        </p:nvPicPr>
        <p:blipFill>
          <a:blip r:embed="rId5"/>
          <a:stretch>
            <a:fillRect/>
          </a:stretch>
        </p:blipFill>
        <p:spPr>
          <a:xfrm>
            <a:off x="4849978" y="4118458"/>
            <a:ext cx="404165" cy="404165"/>
          </a:xfrm>
          <a:prstGeom prst="rect">
            <a:avLst/>
          </a:prstGeom>
        </p:spPr>
      </p:pic>
      <p:sp>
        <p:nvSpPr>
          <p:cNvPr id="18" name="Text 13"/>
          <p:cNvSpPr txBox="1"/>
          <p:nvPr/>
        </p:nvSpPr>
        <p:spPr>
          <a:xfrm>
            <a:off x="5669280" y="3913632"/>
            <a:ext cx="5943600" cy="411480"/>
          </a:xfrm>
          <a:prstGeom prst="rect">
            <a:avLst/>
          </a:prstGeom>
          <a:noFill/>
          <a:ln/>
        </p:spPr>
        <p:txBody>
          <a:bodyPr wrap="square" lIns="0" tIns="0" rIns="0" bIns="0" rtlCol="0" anchor="t"/>
          <a:lstStyle/>
          <a:p>
            <a:pPr indent="0" marL="0">
              <a:buNone/>
            </a:pPr>
            <a:r>
              <a:rPr lang="en-US" sz="2000" b="1" dirty="0">
                <a:solidFill>
                  <a:schemeClr val="tx2"/>
                </a:solidFill>
              </a:rPr>
              <a:t>I like computers &amp; bikes</a:t>
            </a:r>
            <a:endParaRPr lang="en-US" sz="2000" dirty="0"/>
          </a:p>
        </p:txBody>
      </p:sp>
      <p:sp>
        <p:nvSpPr>
          <p:cNvPr id="19" name="Text 14"/>
          <p:cNvSpPr txBox="1"/>
          <p:nvPr/>
        </p:nvSpPr>
        <p:spPr>
          <a:xfrm>
            <a:off x="5669280" y="4325112"/>
            <a:ext cx="5943600" cy="384048"/>
          </a:xfrm>
          <a:prstGeom prst="rect">
            <a:avLst/>
          </a:prstGeom>
          <a:noFill/>
          <a:ln/>
        </p:spPr>
        <p:txBody>
          <a:bodyPr wrap="square" lIns="0" tIns="0" rIns="0" bIns="0" rtlCol="0" anchor="t"/>
          <a:lstStyle/>
          <a:p>
            <a:pPr indent="0" marL="0">
              <a:buNone/>
            </a:pPr>
            <a:r>
              <a:rPr lang="en-US" sz="1600" dirty="0">
                <a:solidFill>
                  <a:schemeClr val="tx1"/>
                </a:solidFill>
              </a:rPr>
              <a:t>Tüfteln am Rechner, unterwegs auf dem Rad.</a:t>
            </a:r>
            <a:endParaRPr lang="en-US" sz="1600" dirty="0"/>
          </a:p>
        </p:txBody>
      </p:sp>
      <p:sp>
        <p:nvSpPr>
          <p:cNvPr id="20" name="key Kreis"/>
          <p:cNvSpPr/>
          <p:nvPr/>
        </p:nvSpPr>
        <p:spPr>
          <a:xfrm>
            <a:off x="4663440" y="4983480"/>
            <a:ext cx="777240" cy="777240"/>
          </a:xfrm>
          <a:prstGeom prst="ellipse">
            <a:avLst/>
          </a:prstGeom>
          <a:solidFill>
            <a:schemeClr val="accent1"/>
          </a:solidFill>
          <a:ln w="12700">
            <a:solidFill>
              <a:schemeClr val="accent1"/>
            </a:solidFill>
            <a:prstDash val="solid"/>
          </a:ln>
        </p:spPr>
      </p:sp>
      <p:pic>
        <p:nvPicPr>
          <p:cNvPr id="21" name="key Icon" descr="key">    </p:cNvPr>
          <p:cNvPicPr>
            <a:picLocks noChangeAspect="1"/>
          </p:cNvPicPr>
          <p:nvPr/>
        </p:nvPicPr>
        <p:blipFill>
          <a:blip r:embed="rId6"/>
          <a:stretch>
            <a:fillRect/>
          </a:stretch>
        </p:blipFill>
        <p:spPr>
          <a:xfrm>
            <a:off x="4849978" y="5170018"/>
            <a:ext cx="404165" cy="404165"/>
          </a:xfrm>
          <a:prstGeom prst="rect">
            <a:avLst/>
          </a:prstGeom>
        </p:spPr>
      </p:pic>
      <p:sp>
        <p:nvSpPr>
          <p:cNvPr id="22" name="Text 16"/>
          <p:cNvSpPr txBox="1"/>
          <p:nvPr/>
        </p:nvSpPr>
        <p:spPr>
          <a:xfrm>
            <a:off x="5669280" y="4965192"/>
            <a:ext cx="5943600" cy="411480"/>
          </a:xfrm>
          <a:prstGeom prst="rect">
            <a:avLst/>
          </a:prstGeom>
          <a:noFill/>
          <a:ln/>
        </p:spPr>
        <p:txBody>
          <a:bodyPr wrap="square" lIns="0" tIns="0" rIns="0" bIns="0" rtlCol="0" anchor="t"/>
          <a:lstStyle/>
          <a:p>
            <a:pPr indent="0" marL="0">
              <a:buNone/>
            </a:pPr>
            <a:r>
              <a:rPr lang="en-US" sz="2000" b="1" dirty="0">
                <a:solidFill>
                  <a:schemeClr val="tx2"/>
                </a:solidFill>
              </a:rPr>
              <a:t>Nutze selbst</a:t>
            </a:r>
            <a:endParaRPr lang="en-US" sz="2000" dirty="0"/>
          </a:p>
        </p:txBody>
      </p:sp>
      <p:sp>
        <p:nvSpPr>
          <p:cNvPr id="23" name="Text 17"/>
          <p:cNvSpPr txBox="1"/>
          <p:nvPr/>
        </p:nvSpPr>
        <p:spPr>
          <a:xfrm>
            <a:off x="5669280" y="5376672"/>
            <a:ext cx="5943600" cy="384048"/>
          </a:xfrm>
          <a:prstGeom prst="rect">
            <a:avLst/>
          </a:prstGeom>
          <a:noFill/>
          <a:ln/>
        </p:spPr>
        <p:txBody>
          <a:bodyPr wrap="square" lIns="0" tIns="0" rIns="0" bIns="0" rtlCol="0" anchor="t"/>
          <a:lstStyle/>
          <a:p>
            <a:pPr indent="0" marL="0">
              <a:buNone/>
            </a:pPr>
            <a:r>
              <a:rPr lang="en-US" sz="1600" dirty="0">
                <a:solidFill>
                  <a:schemeClr val="tx1"/>
                </a:solidFill>
              </a:rPr>
              <a:t>iCloud-Schlüsselbund, Bitwarden und 2FAS</a:t>
            </a:r>
            <a:endParaRPr lang="en-US" sz="1600" dirty="0"/>
          </a:p>
        </p:txBody>
      </p:sp>
      <p:sp>
        <p:nvSpPr>
          <p:cNvPr id="24"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7" invalidUrl="" action="" tgtFrame="" tooltip="bitcircus101 – offener Hackspace in Bonn" history="1" highlightClick="0" endSnd="0">
                  <a:extLst>
                    <a:ext uri="{A12FA001-AC4F-418D-AE19-62706E023703}">
                      <ahyp:hlinkClr xmlns:ahyp="http://schemas.microsoft.com/office/drawing/2018/hyperlinkcolor" val="tx"/>
                    </a:ext>
                  </a:extLst>
                </a:hlinkClick>
              </a:rPr>
              <a:t>[3] bitcircus101.de</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Datenburg e.V. – Bonner Chaostreff und Hackspace" history="1" highlightClick="0" endSnd="0">
                  <a:extLst>
                    <a:ext uri="{A12FA001-AC4F-418D-AE19-62706E023703}">
                      <ahyp:hlinkClr xmlns:ahyp="http://schemas.microsoft.com/office/drawing/2018/hyperlinkcolor" val="tx"/>
                    </a:ext>
                  </a:extLst>
                </a:hlinkClick>
              </a:rPr>
              <a:t>[4] datenburg.org</a:t>
            </a:r>
            <a:endParaRPr lang="en-US" sz="900" dirty="0"/>
          </a:p>
        </p:txBody>
      </p:sp>
      <p:sp>
        <p:nvSpPr>
          <p:cNvPr id="26"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endParaRPr lang="en-US" sz="15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Das Problem: ein Passwort für alles</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Viele nutzen dasselbe Passwort für viele Konten. Das geht so lange gut, bis …</a:t>
            </a:r>
            <a:endParaRPr lang="en-US" sz="1500" dirty="0"/>
          </a:p>
        </p:txBody>
      </p:sp>
      <p:sp>
        <p:nvSpPr>
          <p:cNvPr id="4" name="Schritt 1 Passwort"/>
          <p:cNvSpPr/>
          <p:nvPr/>
        </p:nvSpPr>
        <p:spPr>
          <a:xfrm>
            <a:off x="548640" y="1737360"/>
            <a:ext cx="2377440" cy="3017520"/>
          </a:xfrm>
          <a:prstGeom prst="roundRect">
            <a:avLst>
              <a:gd name="adj" fmla="val 4615"/>
            </a:avLst>
          </a:prstGeom>
          <a:solidFill>
            <a:schemeClr val="bg2"/>
          </a:solidFill>
          <a:ln w="12700">
            <a:solidFill>
              <a:schemeClr val="bg2"/>
            </a:solidFill>
            <a:prstDash val="solid"/>
          </a:ln>
        </p:spPr>
      </p:sp>
      <p:sp>
        <p:nvSpPr>
          <p:cNvPr id="5" name="key Kreis"/>
          <p:cNvSpPr/>
          <p:nvPr/>
        </p:nvSpPr>
        <p:spPr>
          <a:xfrm>
            <a:off x="1280160" y="1965960"/>
            <a:ext cx="914400" cy="914400"/>
          </a:xfrm>
          <a:prstGeom prst="ellipse">
            <a:avLst/>
          </a:prstGeom>
          <a:solidFill>
            <a:schemeClr val="accent1"/>
          </a:solidFill>
          <a:ln w="12700">
            <a:solidFill>
              <a:schemeClr val="accent1"/>
            </a:solidFill>
            <a:prstDash val="solid"/>
          </a:ln>
        </p:spPr>
      </p:sp>
      <p:pic>
        <p:nvPicPr>
          <p:cNvPr id="6" name="key Icon" descr="key">    </p:cNvPr>
          <p:cNvPicPr>
            <a:picLocks noChangeAspect="1"/>
          </p:cNvPicPr>
          <p:nvPr/>
        </p:nvPicPr>
        <p:blipFill>
          <a:blip r:embed="rId1"/>
          <a:stretch>
            <a:fillRect/>
          </a:stretch>
        </p:blipFill>
        <p:spPr>
          <a:xfrm>
            <a:off x="1499616" y="2185416"/>
            <a:ext cx="475488" cy="475488"/>
          </a:xfrm>
          <a:prstGeom prst="rect">
            <a:avLst/>
          </a:prstGeom>
        </p:spPr>
      </p:pic>
      <p:sp>
        <p:nvSpPr>
          <p:cNvPr id="7" name="Text 4"/>
          <p:cNvSpPr txBox="1"/>
          <p:nvPr/>
        </p:nvSpPr>
        <p:spPr>
          <a:xfrm>
            <a:off x="731520" y="3017520"/>
            <a:ext cx="2011680" cy="457200"/>
          </a:xfrm>
          <a:prstGeom prst="rect">
            <a:avLst/>
          </a:prstGeom>
          <a:noFill/>
          <a:ln/>
        </p:spPr>
        <p:txBody>
          <a:bodyPr wrap="square" lIns="0" tIns="0" rIns="0" bIns="0" rtlCol="0" anchor="t"/>
          <a:lstStyle/>
          <a:p>
            <a:pPr algn="ctr" indent="0" marL="0">
              <a:buNone/>
            </a:pPr>
            <a:r>
              <a:rPr lang="en-US" sz="2000" b="1" dirty="0">
                <a:solidFill>
                  <a:schemeClr val="tx2"/>
                </a:solidFill>
              </a:rPr>
              <a:t>1 Passwort</a:t>
            </a:r>
            <a:endParaRPr lang="en-US" sz="2000" dirty="0"/>
          </a:p>
        </p:txBody>
      </p:sp>
      <p:sp>
        <p:nvSpPr>
          <p:cNvPr id="8" name="Text 5"/>
          <p:cNvSpPr txBox="1"/>
          <p:nvPr/>
        </p:nvSpPr>
        <p:spPr>
          <a:xfrm>
            <a:off x="685800" y="3520440"/>
            <a:ext cx="2103120" cy="1143000"/>
          </a:xfrm>
          <a:prstGeom prst="rect">
            <a:avLst/>
          </a:prstGeom>
          <a:noFill/>
          <a:ln/>
        </p:spPr>
        <p:txBody>
          <a:bodyPr wrap="square" lIns="0" tIns="0" rIns="0" bIns="0" rtlCol="0" anchor="t"/>
          <a:lstStyle/>
          <a:p>
            <a:pPr algn="ctr" indent="0" marL="0">
              <a:buNone/>
            </a:pPr>
            <a:r>
              <a:rPr lang="en-US" sz="1400" dirty="0">
                <a:solidFill>
                  <a:schemeClr val="tx1"/>
                </a:solidFill>
              </a:rPr>
              <a:t>zum Beispiel „Sommer2024!“ – steht 678-mal in Datenlecks</a:t>
            </a:r>
            <a:endParaRPr lang="en-US" sz="1400" dirty="0"/>
          </a:p>
        </p:txBody>
      </p:sp>
      <p:sp>
        <p:nvSpPr>
          <p:cNvPr id="9" name="Pfeil 1"/>
          <p:cNvSpPr/>
          <p:nvPr/>
        </p:nvSpPr>
        <p:spPr>
          <a:xfrm>
            <a:off x="3029712" y="3017520"/>
            <a:ext cx="310896" cy="365760"/>
          </a:xfrm>
          <a:prstGeom prst="rightArrow">
            <a:avLst/>
          </a:prstGeom>
          <a:solidFill>
            <a:schemeClr val="accent6"/>
          </a:solidFill>
          <a:ln w="12700">
            <a:solidFill>
              <a:schemeClr val="accent6"/>
            </a:solidFill>
            <a:prstDash val="solid"/>
          </a:ln>
        </p:spPr>
      </p:sp>
      <p:sp>
        <p:nvSpPr>
          <p:cNvPr id="10" name="Schritt 20 Konten"/>
          <p:cNvSpPr/>
          <p:nvPr/>
        </p:nvSpPr>
        <p:spPr>
          <a:xfrm>
            <a:off x="3444240" y="1737360"/>
            <a:ext cx="2377440" cy="3017520"/>
          </a:xfrm>
          <a:prstGeom prst="roundRect">
            <a:avLst>
              <a:gd name="adj" fmla="val 4615"/>
            </a:avLst>
          </a:prstGeom>
          <a:solidFill>
            <a:schemeClr val="bg2"/>
          </a:solidFill>
          <a:ln w="12700">
            <a:solidFill>
              <a:schemeClr val="bg2"/>
            </a:solidFill>
            <a:prstDash val="solid"/>
          </a:ln>
        </p:spPr>
      </p:sp>
      <p:sp>
        <p:nvSpPr>
          <p:cNvPr id="11" name="users Kreis"/>
          <p:cNvSpPr/>
          <p:nvPr/>
        </p:nvSpPr>
        <p:spPr>
          <a:xfrm>
            <a:off x="4175760" y="1965960"/>
            <a:ext cx="914400" cy="914400"/>
          </a:xfrm>
          <a:prstGeom prst="ellipse">
            <a:avLst/>
          </a:prstGeom>
          <a:solidFill>
            <a:schemeClr val="accent1"/>
          </a:solidFill>
          <a:ln w="12700">
            <a:solidFill>
              <a:schemeClr val="accent1"/>
            </a:solidFill>
            <a:prstDash val="solid"/>
          </a:ln>
        </p:spPr>
      </p:sp>
      <p:pic>
        <p:nvPicPr>
          <p:cNvPr id="12" name="users Icon" descr="users">    </p:cNvPr>
          <p:cNvPicPr>
            <a:picLocks noChangeAspect="1"/>
          </p:cNvPicPr>
          <p:nvPr/>
        </p:nvPicPr>
        <p:blipFill>
          <a:blip r:embed="rId2"/>
          <a:stretch>
            <a:fillRect/>
          </a:stretch>
        </p:blipFill>
        <p:spPr>
          <a:xfrm>
            <a:off x="4395216" y="2185416"/>
            <a:ext cx="475488" cy="475488"/>
          </a:xfrm>
          <a:prstGeom prst="rect">
            <a:avLst/>
          </a:prstGeom>
        </p:spPr>
      </p:pic>
      <p:sp>
        <p:nvSpPr>
          <p:cNvPr id="13" name="Text 9"/>
          <p:cNvSpPr txBox="1"/>
          <p:nvPr/>
        </p:nvSpPr>
        <p:spPr>
          <a:xfrm>
            <a:off x="3627120" y="3017520"/>
            <a:ext cx="2011680" cy="457200"/>
          </a:xfrm>
          <a:prstGeom prst="rect">
            <a:avLst/>
          </a:prstGeom>
          <a:noFill/>
          <a:ln/>
        </p:spPr>
        <p:txBody>
          <a:bodyPr wrap="square" lIns="0" tIns="0" rIns="0" bIns="0" rtlCol="0" anchor="t"/>
          <a:lstStyle/>
          <a:p>
            <a:pPr algn="ctr" indent="0" marL="0">
              <a:buNone/>
            </a:pPr>
            <a:r>
              <a:rPr lang="en-US" sz="2000" b="1" dirty="0">
                <a:solidFill>
                  <a:schemeClr val="tx2"/>
                </a:solidFill>
              </a:rPr>
              <a:t>20 Konten</a:t>
            </a:r>
            <a:endParaRPr lang="en-US" sz="2000" dirty="0"/>
          </a:p>
        </p:txBody>
      </p:sp>
      <p:sp>
        <p:nvSpPr>
          <p:cNvPr id="14" name="Text 10"/>
          <p:cNvSpPr txBox="1"/>
          <p:nvPr/>
        </p:nvSpPr>
        <p:spPr>
          <a:xfrm>
            <a:off x="3581400" y="3520440"/>
            <a:ext cx="2103120" cy="1143000"/>
          </a:xfrm>
          <a:prstGeom prst="rect">
            <a:avLst/>
          </a:prstGeom>
          <a:noFill/>
          <a:ln/>
        </p:spPr>
        <p:txBody>
          <a:bodyPr wrap="square" lIns="0" tIns="0" rIns="0" bIns="0" rtlCol="0" anchor="t"/>
          <a:lstStyle/>
          <a:p>
            <a:pPr algn="ctr" indent="0" marL="0">
              <a:buNone/>
            </a:pPr>
            <a:r>
              <a:rPr lang="en-US" sz="1400" dirty="0">
                <a:solidFill>
                  <a:schemeClr val="tx1"/>
                </a:solidFill>
              </a:rPr>
              <a:t>E-Mail, Bank, Shops, Social Media …</a:t>
            </a:r>
            <a:endParaRPr lang="en-US" sz="1400" dirty="0"/>
          </a:p>
        </p:txBody>
      </p:sp>
      <p:sp>
        <p:nvSpPr>
          <p:cNvPr id="15" name="Pfeil 2"/>
          <p:cNvSpPr/>
          <p:nvPr/>
        </p:nvSpPr>
        <p:spPr>
          <a:xfrm>
            <a:off x="5925312" y="3017520"/>
            <a:ext cx="310896" cy="365760"/>
          </a:xfrm>
          <a:prstGeom prst="rightArrow">
            <a:avLst/>
          </a:prstGeom>
          <a:solidFill>
            <a:schemeClr val="accent6"/>
          </a:solidFill>
          <a:ln w="12700">
            <a:solidFill>
              <a:schemeClr val="accent6"/>
            </a:solidFill>
            <a:prstDash val="solid"/>
          </a:ln>
        </p:spPr>
      </p:sp>
      <p:sp>
        <p:nvSpPr>
          <p:cNvPr id="16" name="Schritt 1 Datenleck"/>
          <p:cNvSpPr/>
          <p:nvPr/>
        </p:nvSpPr>
        <p:spPr>
          <a:xfrm>
            <a:off x="6339840" y="1737360"/>
            <a:ext cx="2377440" cy="3017520"/>
          </a:xfrm>
          <a:prstGeom prst="roundRect">
            <a:avLst>
              <a:gd name="adj" fmla="val 4615"/>
            </a:avLst>
          </a:prstGeom>
          <a:solidFill>
            <a:schemeClr val="bg2"/>
          </a:solidFill>
          <a:ln w="12700">
            <a:solidFill>
              <a:schemeClr val="bg2"/>
            </a:solidFill>
            <a:prstDash val="solid"/>
          </a:ln>
        </p:spPr>
      </p:sp>
      <p:sp>
        <p:nvSpPr>
          <p:cNvPr id="17" name="alert Kreis"/>
          <p:cNvSpPr/>
          <p:nvPr/>
        </p:nvSpPr>
        <p:spPr>
          <a:xfrm>
            <a:off x="7071360" y="1965960"/>
            <a:ext cx="914400" cy="914400"/>
          </a:xfrm>
          <a:prstGeom prst="ellipse">
            <a:avLst/>
          </a:prstGeom>
          <a:solidFill>
            <a:schemeClr val="accent3"/>
          </a:solidFill>
          <a:ln w="12700">
            <a:solidFill>
              <a:schemeClr val="accent3"/>
            </a:solidFill>
            <a:prstDash val="solid"/>
          </a:ln>
        </p:spPr>
      </p:sp>
      <p:pic>
        <p:nvPicPr>
          <p:cNvPr id="18" name="alert Icon" descr="alert">    </p:cNvPr>
          <p:cNvPicPr>
            <a:picLocks noChangeAspect="1"/>
          </p:cNvPicPr>
          <p:nvPr/>
        </p:nvPicPr>
        <p:blipFill>
          <a:blip r:embed="rId3"/>
          <a:stretch>
            <a:fillRect/>
          </a:stretch>
        </p:blipFill>
        <p:spPr>
          <a:xfrm>
            <a:off x="7290816" y="2185416"/>
            <a:ext cx="475488" cy="475488"/>
          </a:xfrm>
          <a:prstGeom prst="rect">
            <a:avLst/>
          </a:prstGeom>
        </p:spPr>
      </p:pic>
      <p:sp>
        <p:nvSpPr>
          <p:cNvPr id="19" name="Text 14"/>
          <p:cNvSpPr txBox="1"/>
          <p:nvPr/>
        </p:nvSpPr>
        <p:spPr>
          <a:xfrm>
            <a:off x="6522720" y="3017520"/>
            <a:ext cx="2011680" cy="457200"/>
          </a:xfrm>
          <a:prstGeom prst="rect">
            <a:avLst/>
          </a:prstGeom>
          <a:noFill/>
          <a:ln/>
        </p:spPr>
        <p:txBody>
          <a:bodyPr wrap="square" lIns="0" tIns="0" rIns="0" bIns="0" rtlCol="0" anchor="t"/>
          <a:lstStyle/>
          <a:p>
            <a:pPr algn="ctr" indent="0" marL="0">
              <a:buNone/>
            </a:pPr>
            <a:r>
              <a:rPr lang="en-US" sz="2000" b="1" dirty="0">
                <a:solidFill>
                  <a:schemeClr val="tx2"/>
                </a:solidFill>
              </a:rPr>
              <a:t>1 Datenleck</a:t>
            </a:r>
            <a:endParaRPr lang="en-US" sz="2000" dirty="0"/>
          </a:p>
        </p:txBody>
      </p:sp>
      <p:sp>
        <p:nvSpPr>
          <p:cNvPr id="20" name="Text 15"/>
          <p:cNvSpPr txBox="1"/>
          <p:nvPr/>
        </p:nvSpPr>
        <p:spPr>
          <a:xfrm>
            <a:off x="6477000" y="3520440"/>
            <a:ext cx="2103120" cy="1143000"/>
          </a:xfrm>
          <a:prstGeom prst="rect">
            <a:avLst/>
          </a:prstGeom>
          <a:noFill/>
          <a:ln/>
        </p:spPr>
        <p:txBody>
          <a:bodyPr wrap="square" lIns="0" tIns="0" rIns="0" bIns="0" rtlCol="0" anchor="t"/>
          <a:lstStyle/>
          <a:p>
            <a:pPr algn="ctr" indent="0" marL="0">
              <a:buNone/>
            </a:pPr>
            <a:r>
              <a:rPr lang="en-US" sz="1400" dirty="0">
                <a:solidFill>
                  <a:schemeClr val="tx1"/>
                </a:solidFill>
              </a:rPr>
              <a:t>Ein einziger Shop wird gehackt.</a:t>
            </a:r>
            <a:endParaRPr lang="en-US" sz="1400" dirty="0"/>
          </a:p>
        </p:txBody>
      </p:sp>
      <p:sp>
        <p:nvSpPr>
          <p:cNvPr id="21" name="Pfeil 3"/>
          <p:cNvSpPr/>
          <p:nvPr/>
        </p:nvSpPr>
        <p:spPr>
          <a:xfrm>
            <a:off x="8820912" y="3017520"/>
            <a:ext cx="310896" cy="365760"/>
          </a:xfrm>
          <a:prstGeom prst="rightArrow">
            <a:avLst/>
          </a:prstGeom>
          <a:solidFill>
            <a:schemeClr val="accent6"/>
          </a:solidFill>
          <a:ln w="12700">
            <a:solidFill>
              <a:schemeClr val="accent6"/>
            </a:solidFill>
            <a:prstDash val="solid"/>
          </a:ln>
        </p:spPr>
      </p:sp>
      <p:sp>
        <p:nvSpPr>
          <p:cNvPr id="22" name="Schritt Alles offen"/>
          <p:cNvSpPr/>
          <p:nvPr/>
        </p:nvSpPr>
        <p:spPr>
          <a:xfrm>
            <a:off x="9235440" y="1737360"/>
            <a:ext cx="2377440" cy="3017520"/>
          </a:xfrm>
          <a:prstGeom prst="roundRect">
            <a:avLst>
              <a:gd name="adj" fmla="val 4615"/>
            </a:avLst>
          </a:prstGeom>
          <a:solidFill>
            <a:schemeClr val="bg2"/>
          </a:solidFill>
          <a:ln w="12700">
            <a:solidFill>
              <a:schemeClr val="bg2"/>
            </a:solidFill>
            <a:prstDash val="solid"/>
          </a:ln>
        </p:spPr>
      </p:sp>
      <p:sp>
        <p:nvSpPr>
          <p:cNvPr id="23" name="lockOpen Kreis"/>
          <p:cNvSpPr/>
          <p:nvPr/>
        </p:nvSpPr>
        <p:spPr>
          <a:xfrm>
            <a:off x="9966960" y="1965960"/>
            <a:ext cx="914400" cy="914400"/>
          </a:xfrm>
          <a:prstGeom prst="ellipse">
            <a:avLst/>
          </a:prstGeom>
          <a:solidFill>
            <a:schemeClr val="accent3"/>
          </a:solidFill>
          <a:ln w="12700">
            <a:solidFill>
              <a:schemeClr val="accent3"/>
            </a:solidFill>
            <a:prstDash val="solid"/>
          </a:ln>
        </p:spPr>
      </p:sp>
      <p:pic>
        <p:nvPicPr>
          <p:cNvPr id="24" name="lockOpen Icon" descr="lockOpen">    </p:cNvPr>
          <p:cNvPicPr>
            <a:picLocks noChangeAspect="1"/>
          </p:cNvPicPr>
          <p:nvPr/>
        </p:nvPicPr>
        <p:blipFill>
          <a:blip r:embed="rId4"/>
          <a:stretch>
            <a:fillRect/>
          </a:stretch>
        </p:blipFill>
        <p:spPr>
          <a:xfrm>
            <a:off x="10186416" y="2185416"/>
            <a:ext cx="475488" cy="475488"/>
          </a:xfrm>
          <a:prstGeom prst="rect">
            <a:avLst/>
          </a:prstGeom>
        </p:spPr>
      </p:pic>
      <p:sp>
        <p:nvSpPr>
          <p:cNvPr id="25" name="Text 19"/>
          <p:cNvSpPr txBox="1"/>
          <p:nvPr/>
        </p:nvSpPr>
        <p:spPr>
          <a:xfrm>
            <a:off x="9418320" y="3017520"/>
            <a:ext cx="2011680" cy="457200"/>
          </a:xfrm>
          <a:prstGeom prst="rect">
            <a:avLst/>
          </a:prstGeom>
          <a:noFill/>
          <a:ln/>
        </p:spPr>
        <p:txBody>
          <a:bodyPr wrap="square" lIns="0" tIns="0" rIns="0" bIns="0" rtlCol="0" anchor="t"/>
          <a:lstStyle/>
          <a:p>
            <a:pPr algn="ctr" indent="0" marL="0">
              <a:buNone/>
            </a:pPr>
            <a:r>
              <a:rPr lang="en-US" sz="2000" b="1" dirty="0">
                <a:solidFill>
                  <a:schemeClr val="tx2"/>
                </a:solidFill>
              </a:rPr>
              <a:t>Alles offen</a:t>
            </a:r>
            <a:endParaRPr lang="en-US" sz="2000" dirty="0"/>
          </a:p>
        </p:txBody>
      </p:sp>
      <p:sp>
        <p:nvSpPr>
          <p:cNvPr id="26" name="Text 20"/>
          <p:cNvSpPr txBox="1"/>
          <p:nvPr/>
        </p:nvSpPr>
        <p:spPr>
          <a:xfrm>
            <a:off x="9372600" y="3520440"/>
            <a:ext cx="2103120" cy="1143000"/>
          </a:xfrm>
          <a:prstGeom prst="rect">
            <a:avLst/>
          </a:prstGeom>
          <a:noFill/>
          <a:ln/>
        </p:spPr>
        <p:txBody>
          <a:bodyPr wrap="square" lIns="0" tIns="0" rIns="0" bIns="0" rtlCol="0" anchor="t"/>
          <a:lstStyle/>
          <a:p>
            <a:pPr algn="ctr" indent="0" marL="0">
              <a:buNone/>
            </a:pPr>
            <a:r>
              <a:rPr lang="en-US" sz="1400" dirty="0">
                <a:solidFill>
                  <a:schemeClr val="tx1"/>
                </a:solidFill>
              </a:rPr>
              <a:t>Angreifer probieren das Passwort automatisch überall aus.</a:t>
            </a:r>
            <a:endParaRPr lang="en-US" sz="1400" dirty="0"/>
          </a:p>
        </p:txBody>
      </p:sp>
      <p:sp>
        <p:nvSpPr>
          <p:cNvPr id="27" name="Lösung"/>
          <p:cNvSpPr/>
          <p:nvPr/>
        </p:nvSpPr>
        <p:spPr>
          <a:xfrm>
            <a:off x="548640" y="4937760"/>
            <a:ext cx="11064240" cy="914400"/>
          </a:xfrm>
          <a:prstGeom prst="roundRect">
            <a:avLst>
              <a:gd name="adj" fmla="val 12000"/>
            </a:avLst>
          </a:prstGeom>
          <a:solidFill>
            <a:schemeClr val="tx2"/>
          </a:solidFill>
          <a:ln w="12700">
            <a:solidFill>
              <a:schemeClr val="tx2"/>
            </a:solidFill>
            <a:prstDash val="solid"/>
          </a:ln>
        </p:spPr>
      </p:sp>
      <p:sp>
        <p:nvSpPr>
          <p:cNvPr id="28" name="check Kreis"/>
          <p:cNvSpPr/>
          <p:nvPr/>
        </p:nvSpPr>
        <p:spPr>
          <a:xfrm>
            <a:off x="777240" y="5074920"/>
            <a:ext cx="640080" cy="640080"/>
          </a:xfrm>
          <a:prstGeom prst="ellipse">
            <a:avLst/>
          </a:prstGeom>
          <a:solidFill>
            <a:schemeClr val="accent4"/>
          </a:solidFill>
          <a:ln w="12700">
            <a:solidFill>
              <a:schemeClr val="accent4"/>
            </a:solidFill>
            <a:prstDash val="solid"/>
          </a:ln>
        </p:spPr>
      </p:sp>
      <p:pic>
        <p:nvPicPr>
          <p:cNvPr id="29" name="check Icon" descr="check">    </p:cNvPr>
          <p:cNvPicPr>
            <a:picLocks noChangeAspect="1"/>
          </p:cNvPicPr>
          <p:nvPr/>
        </p:nvPicPr>
        <p:blipFill>
          <a:blip r:embed="rId5"/>
          <a:stretch>
            <a:fillRect/>
          </a:stretch>
        </p:blipFill>
        <p:spPr>
          <a:xfrm>
            <a:off x="930859" y="5228539"/>
            <a:ext cx="332842" cy="332842"/>
          </a:xfrm>
          <a:prstGeom prst="rect">
            <a:avLst/>
          </a:prstGeom>
        </p:spPr>
      </p:pic>
      <p:sp>
        <p:nvSpPr>
          <p:cNvPr id="30" name="Text 23"/>
          <p:cNvSpPr txBox="1"/>
          <p:nvPr/>
        </p:nvSpPr>
        <p:spPr>
          <a:xfrm>
            <a:off x="1645920" y="4937760"/>
            <a:ext cx="9784080" cy="914400"/>
          </a:xfrm>
          <a:prstGeom prst="rect">
            <a:avLst/>
          </a:prstGeom>
          <a:noFill/>
          <a:ln/>
        </p:spPr>
        <p:txBody>
          <a:bodyPr wrap="square" lIns="0" tIns="0" rIns="0" bIns="0" rtlCol="0" anchor="ctr"/>
          <a:lstStyle/>
          <a:p>
            <a:pPr indent="0" marL="0">
              <a:buNone/>
            </a:pPr>
            <a:r>
              <a:rPr lang="en-US" sz="2000" b="1" dirty="0">
                <a:solidFill>
                  <a:schemeClr val="accent1"/>
                </a:solidFill>
              </a:rPr>
              <a:t>Die Lösung: </a:t>
            </a:r>
            <a:pPr indent="0" marL="0">
              <a:buNone/>
            </a:pPr>
            <a:r>
              <a:rPr lang="en-US" sz="2000" dirty="0">
                <a:solidFill>
                  <a:schemeClr val="bg1"/>
                </a:solidFill>
              </a:rPr>
              <a:t>Für jedes Konto ein eigenes Passwort – und ein Werkzeug, das sie sich für dich merkt.</a:t>
            </a:r>
            <a:endParaRPr lang="en-US" sz="2000" dirty="0"/>
          </a:p>
        </p:txBody>
      </p:sp>
      <p:sp>
        <p:nvSpPr>
          <p:cNvPr id="31"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6" invalidUrl="" action="" tgtFrame="" tooltip="BSI – Sichere Passwörter erstellen" history="1" highlightClick="0" endSnd="0">
                  <a:extLst>
                    <a:ext uri="{A12FA001-AC4F-418D-AE19-62706E023703}">
                      <ahyp:hlinkClr xmlns:ahyp="http://schemas.microsoft.com/office/drawing/2018/hyperlinkcolor" val="tx"/>
                    </a:ext>
                  </a:extLst>
                </a:hlinkClick>
              </a:rPr>
              <a:t>[5] BSI Passwörter</a:t>
            </a:r>
            <a:pPr indent="0" marL="0">
              <a:buNone/>
            </a:pPr>
            <a:r>
              <a:rPr lang="en-US" sz="900" dirty="0">
                <a:solidFill>
                  <a:schemeClr val="accent6"/>
                </a:solidFill>
              </a:rPr>
              <a:t> · </a:t>
            </a:r>
            <a:pPr indent="0" marL="0">
              <a:buNone/>
            </a:pPr>
            <a:r>
              <a:rPr lang="en-US" sz="900" u="sng" dirty="0">
                <a:solidFill>
                  <a:schemeClr val="accent6"/>
                </a:solidFill>
                <a:hlinkClick r:id="rId7" invalidUrl="" action="" tgtFrame="" tooltip="OWASP – Credential Stuffing" history="1" highlightClick="0" endSnd="0">
                  <a:extLst>
                    <a:ext uri="{A12FA001-AC4F-418D-AE19-62706E023703}">
                      <ahyp:hlinkClr xmlns:ahyp="http://schemas.microsoft.com/office/drawing/2018/hyperlinkcolor" val="tx"/>
                    </a:ext>
                  </a:extLst>
                </a:hlinkClick>
              </a:rPr>
              <a:t>[6] OWASP</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Have I Been Pwned – Pwned Passwords (Abfrage am 27.10.2026)" history="1" highlightClick="0" endSnd="0">
                  <a:extLst>
                    <a:ext uri="{A12FA001-AC4F-418D-AE19-62706E023703}">
                      <ahyp:hlinkClr xmlns:ahyp="http://schemas.microsoft.com/office/drawing/2018/hyperlinkcolor" val="tx"/>
                    </a:ext>
                  </a:extLst>
                </a:hlinkClick>
              </a:rPr>
              <a:t>[7] Have I Been Pwned</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3265322" y="1794967"/>
            <a:ext cx="5660136" cy="1959559"/>
          </a:xfrm>
          <a:prstGeom prst="rect">
            <a:avLst/>
          </a:prstGeom>
          <a:noFill/>
          <a:ln/>
        </p:spPr>
        <p:txBody>
          <a:bodyPr wrap="square" lIns="0" tIns="0" rIns="0" bIns="0" rtlCol="0" anchor="ctr"/>
          <a:lstStyle/>
          <a:p>
            <a:pPr algn="ctr" indent="0" marL="0">
              <a:buNone/>
            </a:pPr>
            <a:r>
              <a:rPr lang="en-US" sz="2800" b="1" dirty="0">
                <a:solidFill>
                  <a:schemeClr val="tx2"/>
                </a:solidFill>
              </a:rPr>
              <a:t>Jeder Passwortmanager ist besser als keiner</a:t>
            </a:r>
            <a:endParaRPr lang="en-US" sz="2800" dirty="0"/>
          </a:p>
        </p:txBody>
      </p:sp>
      <p:sp>
        <p:nvSpPr>
          <p:cNvPr id="3" name="Text 1"/>
          <p:cNvSpPr/>
          <p:nvPr>
            <p:ph idx="103" type="body" hasCustomPrompt="1"/>
          </p:nvPr>
        </p:nvSpPr>
        <p:spPr>
          <a:xfrm>
            <a:off x="5760720" y="4114800"/>
            <a:ext cx="5852160" cy="914400"/>
          </a:xfrm>
          <a:prstGeom prst="rect">
            <a:avLst/>
          </a:prstGeom>
          <a:noFill/>
          <a:ln/>
        </p:spPr>
        <p:txBody>
          <a:bodyPr wrap="square" lIns="0" tIns="0" rIns="0" bIns="0" rtlCol="0" anchor="t"/>
          <a:lstStyle/>
          <a:p>
            <a:pPr algn="l" indent="0" marL="0">
              <a:buNone/>
            </a:pPr>
            <a:r>
              <a:rPr lang="en-US" sz="2000" dirty="0">
                <a:solidFill>
                  <a:schemeClr val="tx2"/>
                </a:solidFill>
              </a:rPr>
              <a:t>Browser, Handy, Computer oder eigene App – Hauptsache, du fängst an.</a:t>
            </a:r>
            <a:endParaRPr lang="en-US" sz="2000" dirty="0"/>
          </a:p>
        </p:txBody>
      </p:sp>
      <p:sp>
        <p:nvSpPr>
          <p:cNvPr id="4" name="Text 2"/>
          <p:cNvSpPr txBox="1"/>
          <p:nvPr/>
        </p:nvSpPr>
        <p:spPr>
          <a:xfrm>
            <a:off x="5760720" y="5120640"/>
            <a:ext cx="5852160" cy="731520"/>
          </a:xfrm>
          <a:prstGeom prst="rect">
            <a:avLst/>
          </a:prstGeom>
          <a:noFill/>
          <a:ln/>
        </p:spPr>
        <p:txBody>
          <a:bodyPr wrap="square" lIns="0" tIns="0" rIns="0" bIns="0" rtlCol="0" anchor="t"/>
          <a:lstStyle/>
          <a:p>
            <a:pPr indent="0" marL="0">
              <a:buNone/>
            </a:pPr>
            <a:r>
              <a:rPr lang="en-US" sz="1600" i="1" dirty="0">
                <a:solidFill>
                  <a:schemeClr val="tx2"/>
                </a:solidFill>
              </a:rPr>
              <a:t>Auch das BSI sagt: „Aus Sicht des BSI überwiegt der Nutzen bei weitem.“ (9. Dezember 2025)</a:t>
            </a:r>
            <a:endParaRPr lang="en-US" sz="1600" dirty="0"/>
          </a:p>
        </p:txBody>
      </p:sp>
      <p:sp>
        <p:nvSpPr>
          <p:cNvPr id="5" name="Text 1"/>
          <p:cNvSpPr/>
          <p:nvPr>
            <p:ph idx="104"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tx2"/>
                </a:solidFill>
              </a:rPr>
              <a:t>Quellen: </a:t>
            </a:r>
            <a:pPr indent="0" marL="0">
              <a:buNone/>
            </a:pPr>
            <a:r>
              <a:rPr lang="en-US" sz="900" u="sng" dirty="0">
                <a:solidFill>
                  <a:schemeClr val="tx2"/>
                </a:solidFill>
                <a:hlinkClick r:id="rId1" invalidUrl="" action="" tgtFrame="" tooltip="BSI – Pressemitteilung „Verbesserungsbedarf bei Passwortmanagern“ (09.12.2025)" history="1" highlightClick="0" endSnd="0">
                  <a:extLst>
                    <a:ext uri="{A12FA001-AC4F-418D-AE19-62706E023703}">
                      <ahyp:hlinkClr xmlns:ahyp="http://schemas.microsoft.com/office/drawing/2018/hyperlinkcolor" val="tx"/>
                    </a:ext>
                  </a:extLst>
                </a:hlinkClick>
              </a:rPr>
              <a:t>[8] BSI Pressemitteilung</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Was macht ein Passwortmanager?</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Stell ihn dir vor wie einen Tresor für alle deine Passwörter.</a:t>
            </a:r>
            <a:endParaRPr lang="en-US" sz="1500" dirty="0"/>
          </a:p>
        </p:txBody>
      </p:sp>
      <p:sp>
        <p:nvSpPr>
          <p:cNvPr id="4" name="Funktion Merkt sich alles"/>
          <p:cNvSpPr/>
          <p:nvPr/>
        </p:nvSpPr>
        <p:spPr>
          <a:xfrm>
            <a:off x="548640" y="1737360"/>
            <a:ext cx="2560320" cy="3108960"/>
          </a:xfrm>
          <a:prstGeom prst="roundRect">
            <a:avLst>
              <a:gd name="adj" fmla="val 4286"/>
            </a:avLst>
          </a:prstGeom>
          <a:solidFill>
            <a:schemeClr val="bg2"/>
          </a:solidFill>
          <a:ln w="12700">
            <a:solidFill>
              <a:schemeClr val="bg2"/>
            </a:solidFill>
            <a:prstDash val="solid"/>
          </a:ln>
        </p:spPr>
      </p:sp>
      <p:sp>
        <p:nvSpPr>
          <p:cNvPr id="5" name="vault Kreis"/>
          <p:cNvSpPr/>
          <p:nvPr/>
        </p:nvSpPr>
        <p:spPr>
          <a:xfrm>
            <a:off x="822960" y="1965960"/>
            <a:ext cx="868680" cy="868680"/>
          </a:xfrm>
          <a:prstGeom prst="ellipse">
            <a:avLst/>
          </a:prstGeom>
          <a:solidFill>
            <a:schemeClr val="accent1"/>
          </a:solidFill>
          <a:ln w="12700">
            <a:solidFill>
              <a:schemeClr val="accent1"/>
            </a:solidFill>
            <a:prstDash val="solid"/>
          </a:ln>
        </p:spPr>
      </p:sp>
      <p:pic>
        <p:nvPicPr>
          <p:cNvPr id="6" name="vault Icon" descr="vault">    </p:cNvPr>
          <p:cNvPicPr>
            <a:picLocks noChangeAspect="1"/>
          </p:cNvPicPr>
          <p:nvPr/>
        </p:nvPicPr>
        <p:blipFill>
          <a:blip r:embed="rId1"/>
          <a:stretch>
            <a:fillRect/>
          </a:stretch>
        </p:blipFill>
        <p:spPr>
          <a:xfrm>
            <a:off x="1031443" y="2174443"/>
            <a:ext cx="451714" cy="451714"/>
          </a:xfrm>
          <a:prstGeom prst="rect">
            <a:avLst/>
          </a:prstGeom>
        </p:spPr>
      </p:pic>
      <p:sp>
        <p:nvSpPr>
          <p:cNvPr id="7" name="Text 4"/>
          <p:cNvSpPr txBox="1"/>
          <p:nvPr/>
        </p:nvSpPr>
        <p:spPr>
          <a:xfrm>
            <a:off x="822960" y="2926080"/>
            <a:ext cx="2011680" cy="685800"/>
          </a:xfrm>
          <a:prstGeom prst="rect">
            <a:avLst/>
          </a:prstGeom>
          <a:noFill/>
          <a:ln/>
        </p:spPr>
        <p:txBody>
          <a:bodyPr wrap="square" lIns="0" tIns="0" rIns="0" bIns="0" rtlCol="0" anchor="b"/>
          <a:lstStyle/>
          <a:p>
            <a:pPr indent="0" marL="0">
              <a:buNone/>
            </a:pPr>
            <a:r>
              <a:rPr lang="en-US" sz="1800" b="1" dirty="0">
                <a:solidFill>
                  <a:schemeClr val="tx2"/>
                </a:solidFill>
              </a:rPr>
              <a:t>Merkt sich alles</a:t>
            </a:r>
            <a:endParaRPr lang="en-US" sz="1800" dirty="0"/>
          </a:p>
        </p:txBody>
      </p:sp>
      <p:sp>
        <p:nvSpPr>
          <p:cNvPr id="8" name="Text 5"/>
          <p:cNvSpPr txBox="1"/>
          <p:nvPr/>
        </p:nvSpPr>
        <p:spPr>
          <a:xfrm>
            <a:off x="822960" y="3703320"/>
            <a:ext cx="2011680" cy="1051560"/>
          </a:xfrm>
          <a:prstGeom prst="rect">
            <a:avLst/>
          </a:prstGeom>
          <a:noFill/>
          <a:ln/>
        </p:spPr>
        <p:txBody>
          <a:bodyPr wrap="square" lIns="0" tIns="0" rIns="0" bIns="0" rtlCol="0" anchor="t"/>
          <a:lstStyle/>
          <a:p>
            <a:pPr indent="0" marL="0">
              <a:buNone/>
            </a:pPr>
            <a:r>
              <a:rPr lang="en-US" sz="1400" dirty="0">
                <a:solidFill>
                  <a:schemeClr val="tx1"/>
                </a:solidFill>
              </a:rPr>
              <a:t>Alle Passwörter an einem Ort – verschlüsselt.</a:t>
            </a:r>
            <a:endParaRPr lang="en-US" sz="1400" dirty="0"/>
          </a:p>
        </p:txBody>
      </p:sp>
      <p:sp>
        <p:nvSpPr>
          <p:cNvPr id="9" name="Funktion Erfindet Passwörter"/>
          <p:cNvSpPr/>
          <p:nvPr/>
        </p:nvSpPr>
        <p:spPr>
          <a:xfrm>
            <a:off x="3383280" y="1737360"/>
            <a:ext cx="2560320" cy="3108960"/>
          </a:xfrm>
          <a:prstGeom prst="roundRect">
            <a:avLst>
              <a:gd name="adj" fmla="val 4286"/>
            </a:avLst>
          </a:prstGeom>
          <a:solidFill>
            <a:schemeClr val="bg2"/>
          </a:solidFill>
          <a:ln w="12700">
            <a:solidFill>
              <a:schemeClr val="bg2"/>
            </a:solidFill>
            <a:prstDash val="solid"/>
          </a:ln>
        </p:spPr>
      </p:sp>
      <p:sp>
        <p:nvSpPr>
          <p:cNvPr id="10" name="dice Kreis"/>
          <p:cNvSpPr/>
          <p:nvPr/>
        </p:nvSpPr>
        <p:spPr>
          <a:xfrm>
            <a:off x="3657600" y="1965960"/>
            <a:ext cx="868680" cy="868680"/>
          </a:xfrm>
          <a:prstGeom prst="ellipse">
            <a:avLst/>
          </a:prstGeom>
          <a:solidFill>
            <a:schemeClr val="accent1"/>
          </a:solidFill>
          <a:ln w="12700">
            <a:solidFill>
              <a:schemeClr val="accent1"/>
            </a:solidFill>
            <a:prstDash val="solid"/>
          </a:ln>
        </p:spPr>
      </p:sp>
      <p:pic>
        <p:nvPicPr>
          <p:cNvPr id="11" name="dice Icon" descr="dice">    </p:cNvPr>
          <p:cNvPicPr>
            <a:picLocks noChangeAspect="1"/>
          </p:cNvPicPr>
          <p:nvPr/>
        </p:nvPicPr>
        <p:blipFill>
          <a:blip r:embed="rId2"/>
          <a:stretch>
            <a:fillRect/>
          </a:stretch>
        </p:blipFill>
        <p:spPr>
          <a:xfrm>
            <a:off x="3866083" y="2174443"/>
            <a:ext cx="451714" cy="451714"/>
          </a:xfrm>
          <a:prstGeom prst="rect">
            <a:avLst/>
          </a:prstGeom>
        </p:spPr>
      </p:pic>
      <p:sp>
        <p:nvSpPr>
          <p:cNvPr id="12" name="Text 8"/>
          <p:cNvSpPr txBox="1"/>
          <p:nvPr/>
        </p:nvSpPr>
        <p:spPr>
          <a:xfrm>
            <a:off x="3657600" y="2926080"/>
            <a:ext cx="2011680" cy="685800"/>
          </a:xfrm>
          <a:prstGeom prst="rect">
            <a:avLst/>
          </a:prstGeom>
          <a:noFill/>
          <a:ln/>
        </p:spPr>
        <p:txBody>
          <a:bodyPr wrap="square" lIns="0" tIns="0" rIns="0" bIns="0" rtlCol="0" anchor="b"/>
          <a:lstStyle/>
          <a:p>
            <a:pPr indent="0" marL="0">
              <a:buNone/>
            </a:pPr>
            <a:r>
              <a:rPr lang="en-US" sz="1800" b="1" dirty="0">
                <a:solidFill>
                  <a:schemeClr val="tx2"/>
                </a:solidFill>
              </a:rPr>
              <a:t>Erfindet Passwörter</a:t>
            </a:r>
            <a:endParaRPr lang="en-US" sz="1800" dirty="0"/>
          </a:p>
        </p:txBody>
      </p:sp>
      <p:sp>
        <p:nvSpPr>
          <p:cNvPr id="13" name="Text 9"/>
          <p:cNvSpPr txBox="1"/>
          <p:nvPr/>
        </p:nvSpPr>
        <p:spPr>
          <a:xfrm>
            <a:off x="3657600" y="3703320"/>
            <a:ext cx="2011680" cy="1051560"/>
          </a:xfrm>
          <a:prstGeom prst="rect">
            <a:avLst/>
          </a:prstGeom>
          <a:noFill/>
          <a:ln/>
        </p:spPr>
        <p:txBody>
          <a:bodyPr wrap="square" lIns="0" tIns="0" rIns="0" bIns="0" rtlCol="0" anchor="t"/>
          <a:lstStyle/>
          <a:p>
            <a:pPr indent="0" marL="0">
              <a:buNone/>
            </a:pPr>
            <a:r>
              <a:rPr lang="en-US" sz="1400" dirty="0">
                <a:solidFill>
                  <a:schemeClr val="tx1"/>
                </a:solidFill>
              </a:rPr>
              <a:t>Lang, zufällig und für jedes Konto anders.</a:t>
            </a:r>
            <a:endParaRPr lang="en-US" sz="1400" dirty="0"/>
          </a:p>
        </p:txBody>
      </p:sp>
      <p:sp>
        <p:nvSpPr>
          <p:cNvPr id="14" name="Funktion Füllt automatisch aus"/>
          <p:cNvSpPr/>
          <p:nvPr/>
        </p:nvSpPr>
        <p:spPr>
          <a:xfrm>
            <a:off x="6217920" y="1737360"/>
            <a:ext cx="2560320" cy="3108960"/>
          </a:xfrm>
          <a:prstGeom prst="roundRect">
            <a:avLst>
              <a:gd name="adj" fmla="val 4286"/>
            </a:avLst>
          </a:prstGeom>
          <a:solidFill>
            <a:schemeClr val="bg2"/>
          </a:solidFill>
          <a:ln w="12700">
            <a:solidFill>
              <a:schemeClr val="bg2"/>
            </a:solidFill>
            <a:prstDash val="solid"/>
          </a:ln>
        </p:spPr>
      </p:sp>
      <p:sp>
        <p:nvSpPr>
          <p:cNvPr id="15" name="wand Kreis"/>
          <p:cNvSpPr/>
          <p:nvPr/>
        </p:nvSpPr>
        <p:spPr>
          <a:xfrm>
            <a:off x="6492240" y="1965960"/>
            <a:ext cx="868680" cy="868680"/>
          </a:xfrm>
          <a:prstGeom prst="ellipse">
            <a:avLst/>
          </a:prstGeom>
          <a:solidFill>
            <a:schemeClr val="accent1"/>
          </a:solidFill>
          <a:ln w="12700">
            <a:solidFill>
              <a:schemeClr val="accent1"/>
            </a:solidFill>
            <a:prstDash val="solid"/>
          </a:ln>
        </p:spPr>
      </p:sp>
      <p:pic>
        <p:nvPicPr>
          <p:cNvPr id="16" name="wand Icon" descr="wand">    </p:cNvPr>
          <p:cNvPicPr>
            <a:picLocks noChangeAspect="1"/>
          </p:cNvPicPr>
          <p:nvPr/>
        </p:nvPicPr>
        <p:blipFill>
          <a:blip r:embed="rId3"/>
          <a:stretch>
            <a:fillRect/>
          </a:stretch>
        </p:blipFill>
        <p:spPr>
          <a:xfrm>
            <a:off x="6700723" y="2174443"/>
            <a:ext cx="451714" cy="451714"/>
          </a:xfrm>
          <a:prstGeom prst="rect">
            <a:avLst/>
          </a:prstGeom>
        </p:spPr>
      </p:pic>
      <p:sp>
        <p:nvSpPr>
          <p:cNvPr id="17" name="Text 12"/>
          <p:cNvSpPr txBox="1"/>
          <p:nvPr/>
        </p:nvSpPr>
        <p:spPr>
          <a:xfrm>
            <a:off x="6492240" y="2926080"/>
            <a:ext cx="2011680" cy="685800"/>
          </a:xfrm>
          <a:prstGeom prst="rect">
            <a:avLst/>
          </a:prstGeom>
          <a:noFill/>
          <a:ln/>
        </p:spPr>
        <p:txBody>
          <a:bodyPr wrap="square" lIns="0" tIns="0" rIns="0" bIns="0" rtlCol="0" anchor="b"/>
          <a:lstStyle/>
          <a:p>
            <a:pPr indent="0" marL="0">
              <a:buNone/>
            </a:pPr>
            <a:r>
              <a:rPr lang="en-US" sz="1800" b="1" dirty="0">
                <a:solidFill>
                  <a:schemeClr val="tx2"/>
                </a:solidFill>
              </a:rPr>
              <a:t>Füllt automatisch aus</a:t>
            </a:r>
            <a:endParaRPr lang="en-US" sz="1800" dirty="0"/>
          </a:p>
        </p:txBody>
      </p:sp>
      <p:sp>
        <p:nvSpPr>
          <p:cNvPr id="18" name="Text 13"/>
          <p:cNvSpPr txBox="1"/>
          <p:nvPr/>
        </p:nvSpPr>
        <p:spPr>
          <a:xfrm>
            <a:off x="6492240" y="3703320"/>
            <a:ext cx="2011680" cy="1051560"/>
          </a:xfrm>
          <a:prstGeom prst="rect">
            <a:avLst/>
          </a:prstGeom>
          <a:noFill/>
          <a:ln/>
        </p:spPr>
        <p:txBody>
          <a:bodyPr wrap="square" lIns="0" tIns="0" rIns="0" bIns="0" rtlCol="0" anchor="t"/>
          <a:lstStyle/>
          <a:p>
            <a:pPr indent="0" marL="0">
              <a:buNone/>
            </a:pPr>
            <a:r>
              <a:rPr lang="en-US" sz="1400" dirty="0">
                <a:solidFill>
                  <a:schemeClr val="tx1"/>
                </a:solidFill>
              </a:rPr>
              <a:t>Kein Abtippen, kein Zettel am Bildschirm.</a:t>
            </a:r>
            <a:endParaRPr lang="en-US" sz="1400" dirty="0"/>
          </a:p>
        </p:txBody>
      </p:sp>
      <p:sp>
        <p:nvSpPr>
          <p:cNvPr id="19" name="Funktion Warnt dich"/>
          <p:cNvSpPr/>
          <p:nvPr/>
        </p:nvSpPr>
        <p:spPr>
          <a:xfrm>
            <a:off x="9052560" y="1737360"/>
            <a:ext cx="2560320" cy="3108960"/>
          </a:xfrm>
          <a:prstGeom prst="roundRect">
            <a:avLst>
              <a:gd name="adj" fmla="val 4286"/>
            </a:avLst>
          </a:prstGeom>
          <a:solidFill>
            <a:schemeClr val="bg2"/>
          </a:solidFill>
          <a:ln w="12700">
            <a:solidFill>
              <a:schemeClr val="bg2"/>
            </a:solidFill>
            <a:prstDash val="solid"/>
          </a:ln>
        </p:spPr>
      </p:sp>
      <p:sp>
        <p:nvSpPr>
          <p:cNvPr id="20" name="bell Kreis"/>
          <p:cNvSpPr/>
          <p:nvPr/>
        </p:nvSpPr>
        <p:spPr>
          <a:xfrm>
            <a:off x="9326880" y="1965960"/>
            <a:ext cx="868680" cy="868680"/>
          </a:xfrm>
          <a:prstGeom prst="ellipse">
            <a:avLst/>
          </a:prstGeom>
          <a:solidFill>
            <a:schemeClr val="accent1"/>
          </a:solidFill>
          <a:ln w="12700">
            <a:solidFill>
              <a:schemeClr val="accent1"/>
            </a:solidFill>
            <a:prstDash val="solid"/>
          </a:ln>
        </p:spPr>
      </p:sp>
      <p:pic>
        <p:nvPicPr>
          <p:cNvPr id="21" name="bell Icon" descr="bell">    </p:cNvPr>
          <p:cNvPicPr>
            <a:picLocks noChangeAspect="1"/>
          </p:cNvPicPr>
          <p:nvPr/>
        </p:nvPicPr>
        <p:blipFill>
          <a:blip r:embed="rId4"/>
          <a:stretch>
            <a:fillRect/>
          </a:stretch>
        </p:blipFill>
        <p:spPr>
          <a:xfrm>
            <a:off x="9535363" y="2174443"/>
            <a:ext cx="451714" cy="451714"/>
          </a:xfrm>
          <a:prstGeom prst="rect">
            <a:avLst/>
          </a:prstGeom>
        </p:spPr>
      </p:pic>
      <p:sp>
        <p:nvSpPr>
          <p:cNvPr id="22" name="Text 16"/>
          <p:cNvSpPr txBox="1"/>
          <p:nvPr/>
        </p:nvSpPr>
        <p:spPr>
          <a:xfrm>
            <a:off x="9326880" y="2926080"/>
            <a:ext cx="2011680" cy="685800"/>
          </a:xfrm>
          <a:prstGeom prst="rect">
            <a:avLst/>
          </a:prstGeom>
          <a:noFill/>
          <a:ln/>
        </p:spPr>
        <p:txBody>
          <a:bodyPr wrap="square" lIns="0" tIns="0" rIns="0" bIns="0" rtlCol="0" anchor="b"/>
          <a:lstStyle/>
          <a:p>
            <a:pPr indent="0" marL="0">
              <a:buNone/>
            </a:pPr>
            <a:r>
              <a:rPr lang="en-US" sz="1800" b="1" dirty="0">
                <a:solidFill>
                  <a:schemeClr val="tx2"/>
                </a:solidFill>
              </a:rPr>
              <a:t>Warnt dich</a:t>
            </a:r>
            <a:endParaRPr lang="en-US" sz="1800" dirty="0"/>
          </a:p>
        </p:txBody>
      </p:sp>
      <p:sp>
        <p:nvSpPr>
          <p:cNvPr id="23" name="Text 17"/>
          <p:cNvSpPr txBox="1"/>
          <p:nvPr/>
        </p:nvSpPr>
        <p:spPr>
          <a:xfrm>
            <a:off x="9326880" y="3703320"/>
            <a:ext cx="2011680" cy="1051560"/>
          </a:xfrm>
          <a:prstGeom prst="rect">
            <a:avLst/>
          </a:prstGeom>
          <a:noFill/>
          <a:ln/>
        </p:spPr>
        <p:txBody>
          <a:bodyPr wrap="square" lIns="0" tIns="0" rIns="0" bIns="0" rtlCol="0" anchor="t"/>
          <a:lstStyle/>
          <a:p>
            <a:pPr indent="0" marL="0">
              <a:buNone/>
            </a:pPr>
            <a:r>
              <a:rPr lang="en-US" sz="1400" dirty="0">
                <a:solidFill>
                  <a:schemeClr val="tx1"/>
                </a:solidFill>
              </a:rPr>
              <a:t>Viele melden schwache, doppelte oder gehackte Passwörter.</a:t>
            </a:r>
            <a:endParaRPr lang="en-US" sz="1400" dirty="0"/>
          </a:p>
        </p:txBody>
      </p:sp>
      <p:sp>
        <p:nvSpPr>
          <p:cNvPr id="24" name="brain Kreis"/>
          <p:cNvSpPr/>
          <p:nvPr/>
        </p:nvSpPr>
        <p:spPr>
          <a:xfrm>
            <a:off x="548640" y="5074920"/>
            <a:ext cx="777240" cy="777240"/>
          </a:xfrm>
          <a:prstGeom prst="ellipse">
            <a:avLst/>
          </a:prstGeom>
          <a:solidFill>
            <a:schemeClr val="bg2"/>
          </a:solidFill>
          <a:ln w="12700">
            <a:solidFill>
              <a:schemeClr val="bg2"/>
            </a:solidFill>
            <a:prstDash val="solid"/>
          </a:ln>
        </p:spPr>
      </p:sp>
      <p:pic>
        <p:nvPicPr>
          <p:cNvPr id="25" name="brain Icon" descr="brain">    </p:cNvPr>
          <p:cNvPicPr>
            <a:picLocks noChangeAspect="1"/>
          </p:cNvPicPr>
          <p:nvPr/>
        </p:nvPicPr>
        <p:blipFill>
          <a:blip r:embed="rId5"/>
          <a:stretch>
            <a:fillRect/>
          </a:stretch>
        </p:blipFill>
        <p:spPr>
          <a:xfrm>
            <a:off x="735178" y="5261458"/>
            <a:ext cx="404165" cy="404165"/>
          </a:xfrm>
          <a:prstGeom prst="rect">
            <a:avLst/>
          </a:prstGeom>
        </p:spPr>
      </p:pic>
      <p:sp>
        <p:nvSpPr>
          <p:cNvPr id="26" name="Text 19"/>
          <p:cNvSpPr txBox="1"/>
          <p:nvPr/>
        </p:nvSpPr>
        <p:spPr>
          <a:xfrm>
            <a:off x="1554480" y="5074920"/>
            <a:ext cx="10058400" cy="777240"/>
          </a:xfrm>
          <a:prstGeom prst="rect">
            <a:avLst/>
          </a:prstGeom>
          <a:noFill/>
          <a:ln/>
        </p:spPr>
        <p:txBody>
          <a:bodyPr wrap="square" lIns="0" tIns="0" rIns="0" bIns="0" rtlCol="0" anchor="ctr"/>
          <a:lstStyle/>
          <a:p>
            <a:pPr indent="0" marL="0">
              <a:buNone/>
            </a:pPr>
            <a:r>
              <a:rPr lang="en-US" sz="2000" dirty="0">
                <a:solidFill>
                  <a:schemeClr val="tx1"/>
                </a:solidFill>
              </a:rPr>
              <a:t>Du merkst dir nur noch </a:t>
            </a:r>
            <a:pPr indent="0" marL="0">
              <a:buNone/>
            </a:pPr>
            <a:r>
              <a:rPr lang="en-US" sz="2000" b="1" dirty="0">
                <a:solidFill>
                  <a:schemeClr val="tx2"/>
                </a:solidFill>
              </a:rPr>
              <a:t>ein einziges</a:t>
            </a:r>
            <a:pPr indent="0" marL="0">
              <a:buNone/>
            </a:pPr>
            <a:r>
              <a:rPr lang="en-US" sz="2000" dirty="0">
                <a:solidFill>
                  <a:schemeClr val="tx1"/>
                </a:solidFill>
              </a:rPr>
              <a:t> Passwort – oder entsperrst einfach mit Fingerabdruck oder Gesicht.</a:t>
            </a:r>
            <a:endParaRPr lang="en-US" sz="2000" dirty="0"/>
          </a:p>
        </p:txBody>
      </p:sp>
      <p:sp>
        <p:nvSpPr>
          <p:cNvPr id="27"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6" invalidUrl="" action="" tgtFrame="" tooltip="BSI – Passwörter verwalten mit dem Passwort-Manager" history="1" highlightClick="0" endSnd="0">
                  <a:extLst>
                    <a:ext uri="{A12FA001-AC4F-418D-AE19-62706E023703}">
                      <ahyp:hlinkClr xmlns:ahyp="http://schemas.microsoft.com/office/drawing/2018/hyperlinkcolor" val="tx"/>
                    </a:ext>
                  </a:extLst>
                </a:hlinkClick>
              </a:rPr>
              <a:t>[9] BSI Passwort-Manager</a:t>
            </a:r>
            <a:pPr indent="0" marL="0">
              <a:buNone/>
            </a:pPr>
            <a:r>
              <a:rPr lang="en-US" sz="900" dirty="0">
                <a:solidFill>
                  <a:schemeClr val="accent6"/>
                </a:solidFill>
              </a:rPr>
              <a:t> · </a:t>
            </a:r>
            <a:pPr indent="0" marL="0">
              <a:buNone/>
            </a:pPr>
            <a:r>
              <a:rPr lang="en-US" sz="900" u="sng" dirty="0">
                <a:solidFill>
                  <a:schemeClr val="accent6"/>
                </a:solidFill>
                <a:hlinkClick r:id="rId7" invalidUrl="" action="" tgtFrame="" tooltip="Google Chrome-Hilfe – Passwörter in Chrome verwalten" history="1" highlightClick="0" endSnd="0">
                  <a:extLst>
                    <a:ext uri="{A12FA001-AC4F-418D-AE19-62706E023703}">
                      <ahyp:hlinkClr xmlns:ahyp="http://schemas.microsoft.com/office/drawing/2018/hyperlinkcolor" val="tx"/>
                    </a:ext>
                  </a:extLst>
                </a:hlinkClick>
              </a:rPr>
              <a:t>[10] Chrome-Hilfe</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Mozilla Support – Passwortverwaltung in Firefox" history="1" highlightClick="0" endSnd="0">
                  <a:extLst>
                    <a:ext uri="{A12FA001-AC4F-418D-AE19-62706E023703}">
                      <ahyp:hlinkClr xmlns:ahyp="http://schemas.microsoft.com/office/drawing/2018/hyperlinkcolor" val="tx"/>
                    </a:ext>
                  </a:extLst>
                </a:hlinkClick>
              </a:rPr>
              <a:t>[11] Firefox-Hilfe</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Google-Konto-Hilfe – Kompromittierte Passwörter ändern (Passwortcheck)" history="1" highlightClick="0" endSnd="0">
                  <a:extLst>
                    <a:ext uri="{A12FA001-AC4F-418D-AE19-62706E023703}">
                      <ahyp:hlinkClr xmlns:ahyp="http://schemas.microsoft.com/office/drawing/2018/hyperlinkcolor" val="tx"/>
                    </a:ext>
                  </a:extLst>
                </a:hlinkClick>
              </a:rPr>
              <a:t>[12] Google Passwortcheck</a:t>
            </a:r>
            <a:pPr indent="0" marL="0">
              <a:buNone/>
            </a:pPr>
            <a:r>
              <a:rPr lang="en-US" sz="900" dirty="0">
                <a:solidFill>
                  <a:schemeClr val="accent6"/>
                </a:solidFill>
              </a:rPr>
              <a:t> · </a:t>
            </a:r>
            <a:pPr indent="0" marL="0">
              <a:buNone/>
            </a:pPr>
            <a:r>
              <a:rPr lang="en-US" sz="900" u="sng" dirty="0">
                <a:solidFill>
                  <a:schemeClr val="accent6"/>
                </a:solidFill>
                <a:hlinkClick r:id="rId10" invalidUrl="" action="" tgtFrame="" tooltip="Apple Support – Die App „Passwörter“" history="1" highlightClick="0" endSnd="0">
                  <a:extLst>
                    <a:ext uri="{A12FA001-AC4F-418D-AE19-62706E023703}">
                      <ahyp:hlinkClr xmlns:ahyp="http://schemas.microsoft.com/office/drawing/2018/hyperlinkcolor" val="tx"/>
                    </a:ext>
                  </a:extLst>
                </a:hlinkClick>
              </a:rPr>
              <a:t>[13] Apple Passwörter</a:t>
            </a:r>
            <a:pPr indent="0" marL="0">
              <a:buNone/>
            </a:pPr>
            <a:r>
              <a:rPr lang="en-US" sz="900" dirty="0">
                <a:solidFill>
                  <a:schemeClr val="accent6"/>
                </a:solidFill>
              </a:rPr>
              <a:t> · </a:t>
            </a:r>
            <a:pPr indent="0" marL="0">
              <a:buNone/>
            </a:pPr>
            <a:r>
              <a:rPr lang="en-US" sz="900" u="sng" dirty="0">
                <a:solidFill>
                  <a:schemeClr val="accent6"/>
                </a:solidFill>
                <a:hlinkClick r:id="rId11" invalidUrl="" action="" tgtFrame="" tooltip="Apple Support – Gespeicherte Passwörter und Passkeys auf dem iPhone" history="1" highlightClick="0" endSnd="0">
                  <a:extLst>
                    <a:ext uri="{A12FA001-AC4F-418D-AE19-62706E023703}">
                      <ahyp:hlinkClr xmlns:ahyp="http://schemas.microsoft.com/office/drawing/2018/hyperlinkcolor" val="tx"/>
                    </a:ext>
                  </a:extLst>
                </a:hlinkClick>
              </a:rPr>
              <a:t>[14] Apple iPhone</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Drei Stufen – jede ist ein Gewinn</a:t>
            </a:r>
            <a:endParaRPr lang="en-US" sz="3000" dirty="0"/>
          </a:p>
        </p:txBody>
      </p:sp>
      <p:sp>
        <p:nvSpPr>
          <p:cNvPr id="3" name="Text 1"/>
          <p:cNvSpPr txBox="1"/>
          <p:nvPr/>
        </p:nvSpPr>
        <p:spPr>
          <a:xfrm>
            <a:off x="548640" y="1691640"/>
            <a:ext cx="5120640" cy="1280160"/>
          </a:xfrm>
          <a:prstGeom prst="rect">
            <a:avLst/>
          </a:prstGeom>
          <a:noFill/>
          <a:ln/>
        </p:spPr>
        <p:txBody>
          <a:bodyPr wrap="square" lIns="0" tIns="0" rIns="0" bIns="0" rtlCol="0" anchor="t"/>
          <a:lstStyle/>
          <a:p>
            <a:pPr indent="0" marL="0">
              <a:buNone/>
            </a:pPr>
            <a:r>
              <a:rPr lang="en-US" sz="1700" dirty="0">
                <a:solidFill>
                  <a:schemeClr val="accent6"/>
                </a:solidFill>
              </a:rPr>
              <a:t>Du musst nicht oben anfangen. Jede Stufe macht dich sicherer – je höher, desto unabhängiger von einem einzelnen Konzern.</a:t>
            </a:r>
            <a:endParaRPr lang="en-US" sz="1700" dirty="0"/>
          </a:p>
        </p:txBody>
      </p:sp>
      <p:sp>
        <p:nvSpPr>
          <p:cNvPr id="4" name="Ohne Manager"/>
          <p:cNvSpPr/>
          <p:nvPr/>
        </p:nvSpPr>
        <p:spPr>
          <a:xfrm>
            <a:off x="548640" y="4754880"/>
            <a:ext cx="2103120" cy="1280160"/>
          </a:xfrm>
          <a:prstGeom prst="roundRect">
            <a:avLst>
              <a:gd name="adj" fmla="val 8571"/>
            </a:avLst>
          </a:prstGeom>
          <a:solidFill>
            <a:schemeClr val="accent3"/>
          </a:solidFill>
          <a:ln w="12700">
            <a:solidFill>
              <a:schemeClr val="accent3"/>
            </a:solidFill>
            <a:prstDash val="solid"/>
          </a:ln>
        </p:spPr>
      </p:sp>
      <p:sp>
        <p:nvSpPr>
          <p:cNvPr id="5" name="sticky Kreis"/>
          <p:cNvSpPr/>
          <p:nvPr/>
        </p:nvSpPr>
        <p:spPr>
          <a:xfrm>
            <a:off x="731520" y="4892040"/>
            <a:ext cx="502920" cy="502920"/>
          </a:xfrm>
          <a:prstGeom prst="ellipse">
            <a:avLst/>
          </a:prstGeom>
          <a:solidFill>
            <a:schemeClr val="accent3"/>
          </a:solidFill>
          <a:ln w="12700">
            <a:solidFill>
              <a:schemeClr val="accent3"/>
            </a:solidFill>
            <a:prstDash val="solid"/>
          </a:ln>
        </p:spPr>
      </p:sp>
      <p:pic>
        <p:nvPicPr>
          <p:cNvPr id="6" name="sticky Icon" descr="sticky">    </p:cNvPr>
          <p:cNvPicPr>
            <a:picLocks noChangeAspect="1"/>
          </p:cNvPicPr>
          <p:nvPr/>
        </p:nvPicPr>
        <p:blipFill>
          <a:blip r:embed="rId1"/>
          <a:stretch>
            <a:fillRect/>
          </a:stretch>
        </p:blipFill>
        <p:spPr>
          <a:xfrm>
            <a:off x="852221" y="5012741"/>
            <a:ext cx="261518" cy="261518"/>
          </a:xfrm>
          <a:prstGeom prst="rect">
            <a:avLst/>
          </a:prstGeom>
        </p:spPr>
      </p:pic>
      <p:sp>
        <p:nvSpPr>
          <p:cNvPr id="7" name="Text 4"/>
          <p:cNvSpPr txBox="1"/>
          <p:nvPr/>
        </p:nvSpPr>
        <p:spPr>
          <a:xfrm>
            <a:off x="1325880" y="4892040"/>
            <a:ext cx="1280160" cy="502920"/>
          </a:xfrm>
          <a:prstGeom prst="rect">
            <a:avLst/>
          </a:prstGeom>
          <a:noFill/>
          <a:ln/>
        </p:spPr>
        <p:txBody>
          <a:bodyPr wrap="square" lIns="0" tIns="0" rIns="0" bIns="0" rtlCol="0" anchor="ctr"/>
          <a:lstStyle/>
          <a:p>
            <a:pPr indent="0" marL="0">
              <a:buNone/>
            </a:pPr>
            <a:r>
              <a:rPr lang="en-US" sz="1800" b="1" dirty="0">
                <a:solidFill>
                  <a:schemeClr val="bg1"/>
                </a:solidFill>
              </a:rPr>
              <a:t>Ohne</a:t>
            </a:r>
            <a:endParaRPr lang="en-US" sz="1800" dirty="0"/>
          </a:p>
        </p:txBody>
      </p:sp>
      <p:sp>
        <p:nvSpPr>
          <p:cNvPr id="8" name="Text 5"/>
          <p:cNvSpPr txBox="1"/>
          <p:nvPr/>
        </p:nvSpPr>
        <p:spPr>
          <a:xfrm>
            <a:off x="731520" y="5440680"/>
            <a:ext cx="1828800" cy="548640"/>
          </a:xfrm>
          <a:prstGeom prst="rect">
            <a:avLst/>
          </a:prstGeom>
          <a:noFill/>
          <a:ln/>
        </p:spPr>
        <p:txBody>
          <a:bodyPr wrap="square" lIns="0" tIns="0" rIns="0" bIns="0" rtlCol="0" anchor="t"/>
          <a:lstStyle/>
          <a:p>
            <a:pPr indent="0" marL="0">
              <a:buNone/>
            </a:pPr>
            <a:r>
              <a:rPr lang="en-US" sz="1400" dirty="0">
                <a:solidFill>
                  <a:schemeClr val="bg1"/>
                </a:solidFill>
              </a:rPr>
              <a:t>Zettel und ein Passwort für alles</a:t>
            </a:r>
            <a:endParaRPr lang="en-US" sz="1400" dirty="0"/>
          </a:p>
        </p:txBody>
      </p:sp>
      <p:sp>
        <p:nvSpPr>
          <p:cNvPr id="9" name="Stufe 1 Block"/>
          <p:cNvSpPr/>
          <p:nvPr/>
        </p:nvSpPr>
        <p:spPr>
          <a:xfrm>
            <a:off x="2834640" y="4023360"/>
            <a:ext cx="2834640" cy="2011680"/>
          </a:xfrm>
          <a:prstGeom prst="rect">
            <a:avLst/>
          </a:prstGeom>
          <a:solidFill>
            <a:schemeClr val="accent5"/>
          </a:solidFill>
          <a:ln w="12700">
            <a:solidFill>
              <a:schemeClr val="accent5"/>
            </a:solidFill>
            <a:prstDash val="solid"/>
          </a:ln>
        </p:spPr>
      </p:sp>
      <p:sp>
        <p:nvSpPr>
          <p:cNvPr id="10" name="Text 7"/>
          <p:cNvSpPr txBox="1"/>
          <p:nvPr/>
        </p:nvSpPr>
        <p:spPr>
          <a:xfrm>
            <a:off x="3063240" y="4187952"/>
            <a:ext cx="2377440" cy="274320"/>
          </a:xfrm>
          <a:prstGeom prst="rect">
            <a:avLst/>
          </a:prstGeom>
          <a:noFill/>
          <a:ln/>
        </p:spPr>
        <p:txBody>
          <a:bodyPr wrap="square" lIns="0" tIns="0" rIns="0" bIns="0" rtlCol="0" anchor="t"/>
          <a:lstStyle/>
          <a:p>
            <a:pPr indent="0" marL="0">
              <a:buNone/>
            </a:pPr>
            <a:r>
              <a:rPr lang="en-US" sz="1400" b="1" dirty="0">
                <a:solidFill>
                  <a:schemeClr val="tx2"/>
                </a:solidFill>
              </a:rPr>
              <a:t>Stufe 1</a:t>
            </a:r>
            <a:endParaRPr lang="en-US" sz="1400" dirty="0"/>
          </a:p>
        </p:txBody>
      </p:sp>
      <p:sp>
        <p:nvSpPr>
          <p:cNvPr id="11" name="Text 8"/>
          <p:cNvSpPr txBox="1"/>
          <p:nvPr/>
        </p:nvSpPr>
        <p:spPr>
          <a:xfrm>
            <a:off x="3063240" y="4462272"/>
            <a:ext cx="2377440" cy="411480"/>
          </a:xfrm>
          <a:prstGeom prst="rect">
            <a:avLst/>
          </a:prstGeom>
          <a:noFill/>
          <a:ln/>
        </p:spPr>
        <p:txBody>
          <a:bodyPr wrap="square" lIns="0" tIns="0" rIns="0" bIns="0" rtlCol="0" anchor="t"/>
          <a:lstStyle/>
          <a:p>
            <a:pPr indent="0" marL="0">
              <a:buNone/>
            </a:pPr>
            <a:r>
              <a:rPr lang="en-US" sz="2200" b="1" dirty="0">
                <a:solidFill>
                  <a:schemeClr val="tx2"/>
                </a:solidFill>
              </a:rPr>
              <a:t>Browser</a:t>
            </a:r>
            <a:endParaRPr lang="en-US" sz="2200" dirty="0"/>
          </a:p>
        </p:txBody>
      </p:sp>
      <p:pic>
        <p:nvPicPr>
          <p:cNvPr id="12" name="Stufe 1 Logo 1" descr="chrome">    </p:cNvPr>
          <p:cNvPicPr>
            <a:picLocks noChangeAspect="1"/>
          </p:cNvPicPr>
          <p:nvPr/>
        </p:nvPicPr>
        <p:blipFill>
          <a:blip r:embed="rId2"/>
          <a:stretch>
            <a:fillRect/>
          </a:stretch>
        </p:blipFill>
        <p:spPr>
          <a:xfrm>
            <a:off x="3063240" y="4983480"/>
            <a:ext cx="365760" cy="365760"/>
          </a:xfrm>
          <a:prstGeom prst="rect">
            <a:avLst/>
          </a:prstGeom>
        </p:spPr>
      </p:pic>
      <p:pic>
        <p:nvPicPr>
          <p:cNvPr id="13" name="Stufe 1 Logo 2" descr="firefox">    </p:cNvPr>
          <p:cNvPicPr>
            <a:picLocks noChangeAspect="1"/>
          </p:cNvPicPr>
          <p:nvPr/>
        </p:nvPicPr>
        <p:blipFill>
          <a:blip r:embed="rId3"/>
          <a:stretch>
            <a:fillRect/>
          </a:stretch>
        </p:blipFill>
        <p:spPr>
          <a:xfrm>
            <a:off x="3566160" y="4983480"/>
            <a:ext cx="365760" cy="365760"/>
          </a:xfrm>
          <a:prstGeom prst="rect">
            <a:avLst/>
          </a:prstGeom>
        </p:spPr>
      </p:pic>
      <p:pic>
        <p:nvPicPr>
          <p:cNvPr id="14" name="Stufe 1 Logo 3" descr="safari">    </p:cNvPr>
          <p:cNvPicPr>
            <a:picLocks noChangeAspect="1"/>
          </p:cNvPicPr>
          <p:nvPr/>
        </p:nvPicPr>
        <p:blipFill>
          <a:blip r:embed="rId4"/>
          <a:stretch>
            <a:fillRect/>
          </a:stretch>
        </p:blipFill>
        <p:spPr>
          <a:xfrm>
            <a:off x="4069080" y="4983480"/>
            <a:ext cx="365760" cy="365760"/>
          </a:xfrm>
          <a:prstGeom prst="rect">
            <a:avLst/>
          </a:prstGeom>
        </p:spPr>
      </p:pic>
      <p:pic>
        <p:nvPicPr>
          <p:cNvPr id="15" name="Stufe 1 Logo 4" descr="edge">    </p:cNvPr>
          <p:cNvPicPr>
            <a:picLocks noChangeAspect="1"/>
          </p:cNvPicPr>
          <p:nvPr/>
        </p:nvPicPr>
        <p:blipFill>
          <a:blip r:embed="rId5"/>
          <a:stretch>
            <a:fillRect/>
          </a:stretch>
        </p:blipFill>
        <p:spPr>
          <a:xfrm>
            <a:off x="4572000" y="4983480"/>
            <a:ext cx="365760" cy="365760"/>
          </a:xfrm>
          <a:prstGeom prst="rect">
            <a:avLst/>
          </a:prstGeom>
        </p:spPr>
      </p:pic>
      <p:sp>
        <p:nvSpPr>
          <p:cNvPr id="16" name="Text 9"/>
          <p:cNvSpPr txBox="1"/>
          <p:nvPr/>
        </p:nvSpPr>
        <p:spPr>
          <a:xfrm>
            <a:off x="3063240" y="5486400"/>
            <a:ext cx="2377440" cy="457200"/>
          </a:xfrm>
          <a:prstGeom prst="rect">
            <a:avLst/>
          </a:prstGeom>
          <a:noFill/>
          <a:ln/>
        </p:spPr>
        <p:txBody>
          <a:bodyPr wrap="square" lIns="0" tIns="0" rIns="0" bIns="0" rtlCol="0" anchor="t"/>
          <a:lstStyle/>
          <a:p>
            <a:pPr indent="0" marL="0">
              <a:buNone/>
            </a:pPr>
            <a:r>
              <a:rPr lang="en-US" sz="1400" dirty="0">
                <a:solidFill>
                  <a:schemeClr val="tx2"/>
                </a:solidFill>
              </a:rPr>
              <a:t>Chrome, Firefox, Safari, Edge</a:t>
            </a:r>
            <a:endParaRPr lang="en-US" sz="1400" dirty="0"/>
          </a:p>
        </p:txBody>
      </p:sp>
      <p:sp>
        <p:nvSpPr>
          <p:cNvPr id="17" name="Stufe 2 Block"/>
          <p:cNvSpPr/>
          <p:nvPr/>
        </p:nvSpPr>
        <p:spPr>
          <a:xfrm>
            <a:off x="5806440" y="3017520"/>
            <a:ext cx="2834640" cy="3017520"/>
          </a:xfrm>
          <a:prstGeom prst="rect">
            <a:avLst/>
          </a:prstGeom>
          <a:solidFill>
            <a:schemeClr val="accent2"/>
          </a:solidFill>
          <a:ln w="12700">
            <a:solidFill>
              <a:schemeClr val="accent2"/>
            </a:solidFill>
            <a:prstDash val="solid"/>
          </a:ln>
        </p:spPr>
      </p:sp>
      <p:sp>
        <p:nvSpPr>
          <p:cNvPr id="18" name="Text 11"/>
          <p:cNvSpPr txBox="1"/>
          <p:nvPr/>
        </p:nvSpPr>
        <p:spPr>
          <a:xfrm>
            <a:off x="6035040" y="3182112"/>
            <a:ext cx="2377440" cy="274320"/>
          </a:xfrm>
          <a:prstGeom prst="rect">
            <a:avLst/>
          </a:prstGeom>
          <a:noFill/>
          <a:ln/>
        </p:spPr>
        <p:txBody>
          <a:bodyPr wrap="square" lIns="0" tIns="0" rIns="0" bIns="0" rtlCol="0" anchor="t"/>
          <a:lstStyle/>
          <a:p>
            <a:pPr indent="0" marL="0">
              <a:buNone/>
            </a:pPr>
            <a:r>
              <a:rPr lang="en-US" sz="1400" b="1" dirty="0">
                <a:solidFill>
                  <a:schemeClr val="accent1"/>
                </a:solidFill>
              </a:rPr>
              <a:t>Stufe 2</a:t>
            </a:r>
            <a:endParaRPr lang="en-US" sz="1400" dirty="0"/>
          </a:p>
        </p:txBody>
      </p:sp>
      <p:sp>
        <p:nvSpPr>
          <p:cNvPr id="19" name="Text 12"/>
          <p:cNvSpPr txBox="1"/>
          <p:nvPr/>
        </p:nvSpPr>
        <p:spPr>
          <a:xfrm>
            <a:off x="6035040" y="3456432"/>
            <a:ext cx="2377440" cy="411480"/>
          </a:xfrm>
          <a:prstGeom prst="rect">
            <a:avLst/>
          </a:prstGeom>
          <a:noFill/>
          <a:ln/>
        </p:spPr>
        <p:txBody>
          <a:bodyPr wrap="square" lIns="0" tIns="0" rIns="0" bIns="0" rtlCol="0" anchor="t"/>
          <a:lstStyle/>
          <a:p>
            <a:pPr indent="0" marL="0">
              <a:buNone/>
            </a:pPr>
            <a:r>
              <a:rPr lang="en-US" sz="2200" b="1" dirty="0">
                <a:solidFill>
                  <a:schemeClr val="bg1"/>
                </a:solidFill>
              </a:rPr>
              <a:t>Betriebssystem</a:t>
            </a:r>
            <a:endParaRPr lang="en-US" sz="2200" dirty="0"/>
          </a:p>
        </p:txBody>
      </p:sp>
      <p:pic>
        <p:nvPicPr>
          <p:cNvPr id="20" name="Stufe 2 Logo 1" descr="appleW">    </p:cNvPr>
          <p:cNvPicPr>
            <a:picLocks noChangeAspect="1"/>
          </p:cNvPicPr>
          <p:nvPr/>
        </p:nvPicPr>
        <p:blipFill>
          <a:blip r:embed="rId6"/>
          <a:stretch>
            <a:fillRect/>
          </a:stretch>
        </p:blipFill>
        <p:spPr>
          <a:xfrm>
            <a:off x="6035040" y="3977640"/>
            <a:ext cx="365760" cy="365760"/>
          </a:xfrm>
          <a:prstGeom prst="rect">
            <a:avLst/>
          </a:prstGeom>
        </p:spPr>
      </p:pic>
      <p:pic>
        <p:nvPicPr>
          <p:cNvPr id="21" name="Stufe 2 Logo 2" descr="androidW">    </p:cNvPr>
          <p:cNvPicPr>
            <a:picLocks noChangeAspect="1"/>
          </p:cNvPicPr>
          <p:nvPr/>
        </p:nvPicPr>
        <p:blipFill>
          <a:blip r:embed="rId7"/>
          <a:stretch>
            <a:fillRect/>
          </a:stretch>
        </p:blipFill>
        <p:spPr>
          <a:xfrm>
            <a:off x="6537960" y="3977640"/>
            <a:ext cx="365760" cy="365760"/>
          </a:xfrm>
          <a:prstGeom prst="rect">
            <a:avLst/>
          </a:prstGeom>
        </p:spPr>
      </p:pic>
      <p:pic>
        <p:nvPicPr>
          <p:cNvPr id="22" name="Stufe 2 Logo 3" descr="windowsW">    </p:cNvPr>
          <p:cNvPicPr>
            <a:picLocks noChangeAspect="1"/>
          </p:cNvPicPr>
          <p:nvPr/>
        </p:nvPicPr>
        <p:blipFill>
          <a:blip r:embed="rId8"/>
          <a:stretch>
            <a:fillRect/>
          </a:stretch>
        </p:blipFill>
        <p:spPr>
          <a:xfrm>
            <a:off x="7040880" y="3977640"/>
            <a:ext cx="365760" cy="365760"/>
          </a:xfrm>
          <a:prstGeom prst="rect">
            <a:avLst/>
          </a:prstGeom>
        </p:spPr>
      </p:pic>
      <p:pic>
        <p:nvPicPr>
          <p:cNvPr id="23" name="Stufe 2 Logo 4" descr="linuxW">    </p:cNvPr>
          <p:cNvPicPr>
            <a:picLocks noChangeAspect="1"/>
          </p:cNvPicPr>
          <p:nvPr/>
        </p:nvPicPr>
        <p:blipFill>
          <a:blip r:embed="rId9"/>
          <a:stretch>
            <a:fillRect/>
          </a:stretch>
        </p:blipFill>
        <p:spPr>
          <a:xfrm>
            <a:off x="7543800" y="3977640"/>
            <a:ext cx="365760" cy="365760"/>
          </a:xfrm>
          <a:prstGeom prst="rect">
            <a:avLst/>
          </a:prstGeom>
        </p:spPr>
      </p:pic>
      <p:sp>
        <p:nvSpPr>
          <p:cNvPr id="24" name="Text 13"/>
          <p:cNvSpPr txBox="1"/>
          <p:nvPr/>
        </p:nvSpPr>
        <p:spPr>
          <a:xfrm>
            <a:off x="6035040" y="4480560"/>
            <a:ext cx="2377440" cy="457200"/>
          </a:xfrm>
          <a:prstGeom prst="rect">
            <a:avLst/>
          </a:prstGeom>
          <a:noFill/>
          <a:ln/>
        </p:spPr>
        <p:txBody>
          <a:bodyPr wrap="square" lIns="0" tIns="0" rIns="0" bIns="0" rtlCol="0" anchor="t"/>
          <a:lstStyle/>
          <a:p>
            <a:pPr indent="0" marL="0">
              <a:buNone/>
            </a:pPr>
            <a:r>
              <a:rPr lang="en-US" sz="1400" dirty="0">
                <a:solidFill>
                  <a:schemeClr val="bg1"/>
                </a:solidFill>
              </a:rPr>
              <a:t>Apple, Google, Windows, Linux</a:t>
            </a:r>
            <a:endParaRPr lang="en-US" sz="1400" dirty="0"/>
          </a:p>
        </p:txBody>
      </p:sp>
      <p:sp>
        <p:nvSpPr>
          <p:cNvPr id="25" name="Stufe 3 Block"/>
          <p:cNvSpPr/>
          <p:nvPr/>
        </p:nvSpPr>
        <p:spPr>
          <a:xfrm>
            <a:off x="8778240" y="2011680"/>
            <a:ext cx="2834640" cy="4023360"/>
          </a:xfrm>
          <a:prstGeom prst="rect">
            <a:avLst/>
          </a:prstGeom>
          <a:solidFill>
            <a:schemeClr val="tx2"/>
          </a:solidFill>
          <a:ln w="12700">
            <a:solidFill>
              <a:schemeClr val="tx2"/>
            </a:solidFill>
            <a:prstDash val="solid"/>
          </a:ln>
        </p:spPr>
      </p:sp>
      <p:sp>
        <p:nvSpPr>
          <p:cNvPr id="26" name="Text 15"/>
          <p:cNvSpPr txBox="1"/>
          <p:nvPr/>
        </p:nvSpPr>
        <p:spPr>
          <a:xfrm>
            <a:off x="9006840" y="2176272"/>
            <a:ext cx="2377440" cy="274320"/>
          </a:xfrm>
          <a:prstGeom prst="rect">
            <a:avLst/>
          </a:prstGeom>
          <a:noFill/>
          <a:ln/>
        </p:spPr>
        <p:txBody>
          <a:bodyPr wrap="square" lIns="0" tIns="0" rIns="0" bIns="0" rtlCol="0" anchor="t"/>
          <a:lstStyle/>
          <a:p>
            <a:pPr indent="0" marL="0">
              <a:buNone/>
            </a:pPr>
            <a:r>
              <a:rPr lang="en-US" sz="1400" b="1" dirty="0">
                <a:solidFill>
                  <a:schemeClr val="accent1"/>
                </a:solidFill>
              </a:rPr>
              <a:t>Stufe 3</a:t>
            </a:r>
            <a:endParaRPr lang="en-US" sz="1400" dirty="0"/>
          </a:p>
        </p:txBody>
      </p:sp>
      <p:sp>
        <p:nvSpPr>
          <p:cNvPr id="27" name="Text 16"/>
          <p:cNvSpPr txBox="1"/>
          <p:nvPr/>
        </p:nvSpPr>
        <p:spPr>
          <a:xfrm>
            <a:off x="9006840" y="2450592"/>
            <a:ext cx="2377440" cy="411480"/>
          </a:xfrm>
          <a:prstGeom prst="rect">
            <a:avLst/>
          </a:prstGeom>
          <a:noFill/>
          <a:ln/>
        </p:spPr>
        <p:txBody>
          <a:bodyPr wrap="square" lIns="0" tIns="0" rIns="0" bIns="0" rtlCol="0" anchor="t"/>
          <a:lstStyle/>
          <a:p>
            <a:pPr indent="0" marL="0">
              <a:buNone/>
            </a:pPr>
            <a:r>
              <a:rPr lang="en-US" sz="2200" b="1" dirty="0">
                <a:solidFill>
                  <a:schemeClr val="bg1"/>
                </a:solidFill>
              </a:rPr>
              <a:t>Eigene App</a:t>
            </a:r>
            <a:endParaRPr lang="en-US" sz="2200" dirty="0"/>
          </a:p>
        </p:txBody>
      </p:sp>
      <p:pic>
        <p:nvPicPr>
          <p:cNvPr id="28" name="Stufe 3 Logo 1" descr="bitwardenW">    </p:cNvPr>
          <p:cNvPicPr>
            <a:picLocks noChangeAspect="1"/>
          </p:cNvPicPr>
          <p:nvPr/>
        </p:nvPicPr>
        <p:blipFill>
          <a:blip r:embed="rId10"/>
          <a:stretch>
            <a:fillRect/>
          </a:stretch>
        </p:blipFill>
        <p:spPr>
          <a:xfrm>
            <a:off x="9006840" y="2971800"/>
            <a:ext cx="365760" cy="365760"/>
          </a:xfrm>
          <a:prstGeom prst="rect">
            <a:avLst/>
          </a:prstGeom>
        </p:spPr>
      </p:pic>
      <p:pic>
        <p:nvPicPr>
          <p:cNvPr id="29" name="Stufe 3 Logo 2" descr="keepassW">    </p:cNvPr>
          <p:cNvPicPr>
            <a:picLocks noChangeAspect="1"/>
          </p:cNvPicPr>
          <p:nvPr/>
        </p:nvPicPr>
        <p:blipFill>
          <a:blip r:embed="rId11"/>
          <a:stretch>
            <a:fillRect/>
          </a:stretch>
        </p:blipFill>
        <p:spPr>
          <a:xfrm>
            <a:off x="9509760" y="2971800"/>
            <a:ext cx="365760" cy="365760"/>
          </a:xfrm>
          <a:prstGeom prst="rect">
            <a:avLst/>
          </a:prstGeom>
        </p:spPr>
      </p:pic>
      <p:pic>
        <p:nvPicPr>
          <p:cNvPr id="30" name="Stufe 3 Logo 3" descr="protonW">    </p:cNvPr>
          <p:cNvPicPr>
            <a:picLocks noChangeAspect="1"/>
          </p:cNvPicPr>
          <p:nvPr/>
        </p:nvPicPr>
        <p:blipFill>
          <a:blip r:embed="rId12"/>
          <a:stretch>
            <a:fillRect/>
          </a:stretch>
        </p:blipFill>
        <p:spPr>
          <a:xfrm>
            <a:off x="10012680" y="2971800"/>
            <a:ext cx="365760" cy="365760"/>
          </a:xfrm>
          <a:prstGeom prst="rect">
            <a:avLst/>
          </a:prstGeom>
        </p:spPr>
      </p:pic>
      <p:sp>
        <p:nvSpPr>
          <p:cNvPr id="31" name="Text 17"/>
          <p:cNvSpPr txBox="1"/>
          <p:nvPr/>
        </p:nvSpPr>
        <p:spPr>
          <a:xfrm>
            <a:off x="9006840" y="3474720"/>
            <a:ext cx="2377440" cy="457200"/>
          </a:xfrm>
          <a:prstGeom prst="rect">
            <a:avLst/>
          </a:prstGeom>
          <a:noFill/>
          <a:ln/>
        </p:spPr>
        <p:txBody>
          <a:bodyPr wrap="square" lIns="0" tIns="0" rIns="0" bIns="0" rtlCol="0" anchor="t"/>
          <a:lstStyle/>
          <a:p>
            <a:pPr indent="0" marL="0">
              <a:buNone/>
            </a:pPr>
            <a:r>
              <a:rPr lang="en-US" sz="1400" dirty="0">
                <a:solidFill>
                  <a:schemeClr val="bg1"/>
                </a:solidFill>
              </a:rPr>
              <a:t>Bitwarden, KeePassXC, Proton Pass</a:t>
            </a:r>
            <a:endParaRPr lang="en-US" sz="1400" dirty="0"/>
          </a:p>
        </p:txBody>
      </p:sp>
      <p:sp>
        <p:nvSpPr>
          <p:cNvPr id="32" name="Pfeil Unabhängigkeit"/>
          <p:cNvSpPr/>
          <p:nvPr/>
        </p:nvSpPr>
        <p:spPr>
          <a:xfrm rot="-1080000">
            <a:off x="6035040" y="2057400"/>
            <a:ext cx="2377440" cy="384048"/>
          </a:xfrm>
          <a:prstGeom prst="rightArrow">
            <a:avLst/>
          </a:prstGeom>
          <a:solidFill>
            <a:schemeClr val="accent1"/>
          </a:solidFill>
          <a:ln w="12700">
            <a:solidFill>
              <a:schemeClr val="accent1"/>
            </a:solidFill>
            <a:prstDash val="solid"/>
          </a:ln>
        </p:spPr>
      </p:sp>
      <p:sp>
        <p:nvSpPr>
          <p:cNvPr id="33" name="Text 19"/>
          <p:cNvSpPr txBox="1"/>
          <p:nvPr/>
        </p:nvSpPr>
        <p:spPr>
          <a:xfrm rot="-1080000">
            <a:off x="5989320" y="1600200"/>
            <a:ext cx="2377440" cy="320040"/>
          </a:xfrm>
          <a:prstGeom prst="rect">
            <a:avLst/>
          </a:prstGeom>
          <a:noFill/>
          <a:ln/>
        </p:spPr>
        <p:txBody>
          <a:bodyPr wrap="square" lIns="0" tIns="0" rIns="0" bIns="0" rtlCol="0" anchor="t"/>
          <a:lstStyle/>
          <a:p>
            <a:pPr algn="ctr" indent="0" marL="0">
              <a:buNone/>
            </a:pPr>
            <a:r>
              <a:rPr lang="en-US" sz="1400" b="1" dirty="0">
                <a:solidFill>
                  <a:schemeClr val="accent6"/>
                </a:solidFill>
              </a:rPr>
              <a:t>unabhängiger</a:t>
            </a:r>
            <a:endParaRPr lang="en-US" sz="1400" dirty="0"/>
          </a:p>
        </p:txBody>
      </p:sp>
      <p:sp>
        <p:nvSpPr>
          <p:cNvPr id="34"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13"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pPr indent="0" marL="0">
              <a:buNone/>
            </a:pPr>
            <a:r>
              <a:rPr lang="en-US" sz="900" dirty="0">
                <a:solidFill>
                  <a:schemeClr val="accent6"/>
                </a:solidFill>
              </a:rPr>
              <a:t> · </a:t>
            </a:r>
            <a:pPr indent="0" marL="0">
              <a:buNone/>
            </a:pPr>
            <a:r>
              <a:rPr lang="en-US" sz="900" u="sng" dirty="0">
                <a:solidFill>
                  <a:schemeClr val="accent6"/>
                </a:solidFill>
                <a:hlinkClick r:id="rId14" invalidUrl="" action="" tgtFrame="" tooltip="BSI – Sichere Passwörter erstellen" history="1" highlightClick="0" endSnd="0">
                  <a:extLst>
                    <a:ext uri="{A12FA001-AC4F-418D-AE19-62706E023703}">
                      <ahyp:hlinkClr xmlns:ahyp="http://schemas.microsoft.com/office/drawing/2018/hyperlinkcolor" val="tx"/>
                    </a:ext>
                  </a:extLst>
                </a:hlinkClick>
              </a:rPr>
              <a:t>[5] BSI Passwörter</a:t>
            </a:r>
            <a:endParaRPr lang="en-US" sz="900" dirty="0"/>
          </a:p>
        </p:txBody>
      </p:sp>
      <p:sp>
        <p:nvSpPr>
          <p:cNvPr id="36"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endParaRPr lang="en-US" sz="15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Stufe 1: der Browser</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Schon eingebaut – du musst nur „Ja“ sagen.</a:t>
            </a:r>
            <a:endParaRPr lang="en-US" sz="1500" dirty="0"/>
          </a:p>
        </p:txBody>
      </p:sp>
      <p:sp>
        <p:nvSpPr>
          <p:cNvPr id="4" name="chrome Kreis"/>
          <p:cNvSpPr/>
          <p:nvPr/>
        </p:nvSpPr>
        <p:spPr>
          <a:xfrm>
            <a:off x="548640" y="1874520"/>
            <a:ext cx="822960" cy="822960"/>
          </a:xfrm>
          <a:prstGeom prst="ellipse">
            <a:avLst/>
          </a:prstGeom>
          <a:solidFill>
            <a:schemeClr val="bg2"/>
          </a:solidFill>
          <a:ln w="12700">
            <a:solidFill>
              <a:schemeClr val="bg2"/>
            </a:solidFill>
            <a:prstDash val="solid"/>
          </a:ln>
        </p:spPr>
      </p:sp>
      <p:pic>
        <p:nvPicPr>
          <p:cNvPr id="5" name="chrome Icon" descr="chrome">    </p:cNvPr>
          <p:cNvPicPr>
            <a:picLocks noChangeAspect="1"/>
          </p:cNvPicPr>
          <p:nvPr/>
        </p:nvPicPr>
        <p:blipFill>
          <a:blip r:embed="rId1"/>
          <a:stretch>
            <a:fillRect/>
          </a:stretch>
        </p:blipFill>
        <p:spPr>
          <a:xfrm>
            <a:off x="746150" y="2072030"/>
            <a:ext cx="427939" cy="427939"/>
          </a:xfrm>
          <a:prstGeom prst="rect">
            <a:avLst/>
          </a:prstGeom>
        </p:spPr>
      </p:pic>
      <p:sp>
        <p:nvSpPr>
          <p:cNvPr id="6" name="firefox Kreis"/>
          <p:cNvSpPr/>
          <p:nvPr/>
        </p:nvSpPr>
        <p:spPr>
          <a:xfrm>
            <a:off x="1600200" y="1874520"/>
            <a:ext cx="822960" cy="822960"/>
          </a:xfrm>
          <a:prstGeom prst="ellipse">
            <a:avLst/>
          </a:prstGeom>
          <a:solidFill>
            <a:schemeClr val="bg2"/>
          </a:solidFill>
          <a:ln w="12700">
            <a:solidFill>
              <a:schemeClr val="bg2"/>
            </a:solidFill>
            <a:prstDash val="solid"/>
          </a:ln>
        </p:spPr>
      </p:sp>
      <p:pic>
        <p:nvPicPr>
          <p:cNvPr id="7" name="firefox Icon" descr="firefox">    </p:cNvPr>
          <p:cNvPicPr>
            <a:picLocks noChangeAspect="1"/>
          </p:cNvPicPr>
          <p:nvPr/>
        </p:nvPicPr>
        <p:blipFill>
          <a:blip r:embed="rId2"/>
          <a:stretch>
            <a:fillRect/>
          </a:stretch>
        </p:blipFill>
        <p:spPr>
          <a:xfrm>
            <a:off x="1797710" y="2072030"/>
            <a:ext cx="427939" cy="427939"/>
          </a:xfrm>
          <a:prstGeom prst="rect">
            <a:avLst/>
          </a:prstGeom>
        </p:spPr>
      </p:pic>
      <p:sp>
        <p:nvSpPr>
          <p:cNvPr id="8" name="safari Kreis"/>
          <p:cNvSpPr/>
          <p:nvPr/>
        </p:nvSpPr>
        <p:spPr>
          <a:xfrm>
            <a:off x="2651760" y="1874520"/>
            <a:ext cx="822960" cy="822960"/>
          </a:xfrm>
          <a:prstGeom prst="ellipse">
            <a:avLst/>
          </a:prstGeom>
          <a:solidFill>
            <a:schemeClr val="bg2"/>
          </a:solidFill>
          <a:ln w="12700">
            <a:solidFill>
              <a:schemeClr val="bg2"/>
            </a:solidFill>
            <a:prstDash val="solid"/>
          </a:ln>
        </p:spPr>
      </p:sp>
      <p:pic>
        <p:nvPicPr>
          <p:cNvPr id="9" name="safari Icon" descr="safari">    </p:cNvPr>
          <p:cNvPicPr>
            <a:picLocks noChangeAspect="1"/>
          </p:cNvPicPr>
          <p:nvPr/>
        </p:nvPicPr>
        <p:blipFill>
          <a:blip r:embed="rId3"/>
          <a:stretch>
            <a:fillRect/>
          </a:stretch>
        </p:blipFill>
        <p:spPr>
          <a:xfrm>
            <a:off x="2849270" y="2072030"/>
            <a:ext cx="427939" cy="427939"/>
          </a:xfrm>
          <a:prstGeom prst="rect">
            <a:avLst/>
          </a:prstGeom>
        </p:spPr>
      </p:pic>
      <p:sp>
        <p:nvSpPr>
          <p:cNvPr id="10" name="edge Kreis"/>
          <p:cNvSpPr/>
          <p:nvPr/>
        </p:nvSpPr>
        <p:spPr>
          <a:xfrm>
            <a:off x="3703320" y="1874520"/>
            <a:ext cx="822960" cy="822960"/>
          </a:xfrm>
          <a:prstGeom prst="ellipse">
            <a:avLst/>
          </a:prstGeom>
          <a:solidFill>
            <a:schemeClr val="bg2"/>
          </a:solidFill>
          <a:ln w="12700">
            <a:solidFill>
              <a:schemeClr val="bg2"/>
            </a:solidFill>
            <a:prstDash val="solid"/>
          </a:ln>
        </p:spPr>
      </p:sp>
      <p:pic>
        <p:nvPicPr>
          <p:cNvPr id="11" name="edge Icon" descr="edge">    </p:cNvPr>
          <p:cNvPicPr>
            <a:picLocks noChangeAspect="1"/>
          </p:cNvPicPr>
          <p:nvPr/>
        </p:nvPicPr>
        <p:blipFill>
          <a:blip r:embed="rId4"/>
          <a:stretch>
            <a:fillRect/>
          </a:stretch>
        </p:blipFill>
        <p:spPr>
          <a:xfrm>
            <a:off x="3900830" y="2072030"/>
            <a:ext cx="427939" cy="427939"/>
          </a:xfrm>
          <a:prstGeom prst="rect">
            <a:avLst/>
          </a:prstGeom>
        </p:spPr>
      </p:pic>
      <p:sp>
        <p:nvSpPr>
          <p:cNvPr id="12" name="Text 6"/>
          <p:cNvSpPr txBox="1"/>
          <p:nvPr/>
        </p:nvSpPr>
        <p:spPr>
          <a:xfrm>
            <a:off x="548640" y="2926080"/>
            <a:ext cx="5394960" cy="960120"/>
          </a:xfrm>
          <a:prstGeom prst="rect">
            <a:avLst/>
          </a:prstGeom>
          <a:noFill/>
          <a:ln/>
        </p:spPr>
        <p:txBody>
          <a:bodyPr wrap="square" lIns="0" tIns="0" rIns="0" bIns="0" rtlCol="0" anchor="t"/>
          <a:lstStyle/>
          <a:p>
            <a:pPr indent="0" marL="0">
              <a:buNone/>
            </a:pPr>
            <a:r>
              <a:rPr lang="en-US" sz="1800" b="1" dirty="0">
                <a:solidFill>
                  <a:schemeClr val="tx2"/>
                </a:solidFill>
              </a:rPr>
              <a:t>Chrome, Firefox, Safari und Edge fragen nach dem Anmelden: „Passwort speichern?“</a:t>
            </a:r>
            <a:endParaRPr lang="en-US" sz="1800" dirty="0"/>
          </a:p>
        </p:txBody>
      </p:sp>
      <p:sp>
        <p:nvSpPr>
          <p:cNvPr id="13" name="Text 7"/>
          <p:cNvSpPr txBox="1"/>
          <p:nvPr/>
        </p:nvSpPr>
        <p:spPr>
          <a:xfrm>
            <a:off x="548640" y="3977640"/>
            <a:ext cx="5394960" cy="822960"/>
          </a:xfrm>
          <a:prstGeom prst="rect">
            <a:avLst/>
          </a:prstGeom>
          <a:noFill/>
          <a:ln/>
        </p:spPr>
        <p:txBody>
          <a:bodyPr wrap="square" lIns="0" tIns="0" rIns="0" bIns="0" rtlCol="0" anchor="t"/>
          <a:lstStyle/>
          <a:p>
            <a:pPr indent="0" marL="0">
              <a:buNone/>
            </a:pPr>
            <a:r>
              <a:rPr lang="en-US" sz="1600" dirty="0">
                <a:solidFill>
                  <a:schemeClr val="tx1"/>
                </a:solidFill>
              </a:rPr>
              <a:t>Einfach zustimmen – und beim nächsten Konto ein vorgeschlagenes, starkes Passwort nehmen.</a:t>
            </a:r>
            <a:endParaRPr lang="en-US" sz="1600" dirty="0"/>
          </a:p>
        </p:txBody>
      </p:sp>
      <p:sp>
        <p:nvSpPr>
          <p:cNvPr id="14" name="Fazit Browser"/>
          <p:cNvSpPr/>
          <p:nvPr/>
        </p:nvSpPr>
        <p:spPr>
          <a:xfrm>
            <a:off x="548640" y="5029200"/>
            <a:ext cx="2926080" cy="685800"/>
          </a:xfrm>
          <a:prstGeom prst="roundRect">
            <a:avLst>
              <a:gd name="adj" fmla="val 16000"/>
            </a:avLst>
          </a:prstGeom>
          <a:solidFill>
            <a:schemeClr val="accent1"/>
          </a:solidFill>
          <a:ln w="12700">
            <a:solidFill>
              <a:schemeClr val="accent1"/>
            </a:solidFill>
            <a:prstDash val="solid"/>
          </a:ln>
        </p:spPr>
      </p:sp>
      <p:sp>
        <p:nvSpPr>
          <p:cNvPr id="15" name="Text 9"/>
          <p:cNvSpPr txBox="1"/>
          <p:nvPr/>
        </p:nvSpPr>
        <p:spPr>
          <a:xfrm>
            <a:off x="548640" y="5029200"/>
            <a:ext cx="2926080" cy="685800"/>
          </a:xfrm>
          <a:prstGeom prst="rect">
            <a:avLst/>
          </a:prstGeom>
          <a:noFill/>
          <a:ln/>
        </p:spPr>
        <p:txBody>
          <a:bodyPr wrap="square" lIns="0" tIns="0" rIns="0" bIns="0" rtlCol="0" anchor="ctr"/>
          <a:lstStyle/>
          <a:p>
            <a:pPr algn="ctr" indent="0" marL="0">
              <a:buNone/>
            </a:pPr>
            <a:r>
              <a:rPr lang="en-US" sz="2200" b="1" dirty="0">
                <a:solidFill>
                  <a:schemeClr val="tx2"/>
                </a:solidFill>
              </a:rPr>
              <a:t>Guter Anfang!</a:t>
            </a:r>
            <a:endParaRPr lang="en-US" sz="2200" dirty="0"/>
          </a:p>
        </p:txBody>
      </p:sp>
      <p:sp>
        <p:nvSpPr>
          <p:cNvPr id="16" name="Vorteile Browser"/>
          <p:cNvSpPr/>
          <p:nvPr/>
        </p:nvSpPr>
        <p:spPr>
          <a:xfrm>
            <a:off x="6217920" y="1828800"/>
            <a:ext cx="5394960" cy="1965960"/>
          </a:xfrm>
          <a:prstGeom prst="roundRect">
            <a:avLst>
              <a:gd name="adj" fmla="val 5581"/>
            </a:avLst>
          </a:prstGeom>
          <a:solidFill>
            <a:schemeClr val="bg2"/>
          </a:solidFill>
          <a:ln w="12700">
            <a:solidFill>
              <a:schemeClr val="bg2"/>
            </a:solidFill>
            <a:prstDash val="solid"/>
          </a:ln>
        </p:spPr>
      </p:sp>
      <p:sp>
        <p:nvSpPr>
          <p:cNvPr id="17" name="check Kreis"/>
          <p:cNvSpPr/>
          <p:nvPr/>
        </p:nvSpPr>
        <p:spPr>
          <a:xfrm>
            <a:off x="6446520" y="2011680"/>
            <a:ext cx="548640" cy="548640"/>
          </a:xfrm>
          <a:prstGeom prst="ellipse">
            <a:avLst/>
          </a:prstGeom>
          <a:solidFill>
            <a:schemeClr val="accent4"/>
          </a:solidFill>
          <a:ln w="12700">
            <a:solidFill>
              <a:schemeClr val="accent4"/>
            </a:solidFill>
            <a:prstDash val="solid"/>
          </a:ln>
        </p:spPr>
      </p:sp>
      <p:pic>
        <p:nvPicPr>
          <p:cNvPr id="18" name="check Icon" descr="check">    </p:cNvPr>
          <p:cNvPicPr>
            <a:picLocks noChangeAspect="1"/>
          </p:cNvPicPr>
          <p:nvPr/>
        </p:nvPicPr>
        <p:blipFill>
          <a:blip r:embed="rId5"/>
          <a:stretch>
            <a:fillRect/>
          </a:stretch>
        </p:blipFill>
        <p:spPr>
          <a:xfrm>
            <a:off x="6578194" y="2143354"/>
            <a:ext cx="285293" cy="285293"/>
          </a:xfrm>
          <a:prstGeom prst="rect">
            <a:avLst/>
          </a:prstGeom>
        </p:spPr>
      </p:pic>
      <p:sp>
        <p:nvSpPr>
          <p:cNvPr id="19" name="Text 12"/>
          <p:cNvSpPr txBox="1"/>
          <p:nvPr/>
        </p:nvSpPr>
        <p:spPr>
          <a:xfrm>
            <a:off x="7132320" y="2011680"/>
            <a:ext cx="4206240" cy="548640"/>
          </a:xfrm>
          <a:prstGeom prst="rect">
            <a:avLst/>
          </a:prstGeom>
          <a:noFill/>
          <a:ln/>
        </p:spPr>
        <p:txBody>
          <a:bodyPr wrap="square" lIns="0" tIns="0" rIns="0" bIns="0" rtlCol="0" anchor="ctr"/>
          <a:lstStyle/>
          <a:p>
            <a:pPr indent="0" marL="0">
              <a:buNone/>
            </a:pPr>
            <a:r>
              <a:rPr lang="en-US" sz="2000" b="1" dirty="0">
                <a:solidFill>
                  <a:schemeClr val="tx2"/>
                </a:solidFill>
              </a:rPr>
              <a:t>Gut</a:t>
            </a:r>
            <a:endParaRPr lang="en-US" sz="2000" dirty="0"/>
          </a:p>
        </p:txBody>
      </p:sp>
      <p:sp>
        <p:nvSpPr>
          <p:cNvPr id="20" name="Text 13"/>
          <p:cNvSpPr txBox="1"/>
          <p:nvPr/>
        </p:nvSpPr>
        <p:spPr>
          <a:xfrm>
            <a:off x="6492240" y="2651760"/>
            <a:ext cx="4937760" cy="1051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Schon da und kostenlos</a:t>
            </a:r>
            <a:endParaRPr lang="en-US" sz="1500" dirty="0"/>
          </a:p>
          <a:p>
            <a:pPr marL="342900" indent="-342900">
              <a:spcAft>
                <a:spcPts val="400"/>
              </a:spcAft>
              <a:buSzPct val="100000"/>
              <a:buChar char="•"/>
            </a:pPr>
            <a:r>
              <a:rPr lang="en-US" sz="1500" dirty="0">
                <a:solidFill>
                  <a:schemeClr val="tx1"/>
                </a:solidFill>
              </a:rPr>
              <a:t>Speichern mit einem Klick</a:t>
            </a:r>
            <a:endParaRPr lang="en-US" sz="1500" dirty="0"/>
          </a:p>
          <a:p>
            <a:pPr marL="342900" indent="-342900">
              <a:spcAft>
                <a:spcPts val="400"/>
              </a:spcAft>
              <a:buSzPct val="100000"/>
              <a:buChar char="•"/>
            </a:pPr>
            <a:r>
              <a:rPr lang="en-US" sz="1500" dirty="0">
                <a:solidFill>
                  <a:schemeClr val="tx1"/>
                </a:solidFill>
              </a:rPr>
              <a:t>Abgleich über dein Konto auf allen Geräten</a:t>
            </a:r>
            <a:endParaRPr lang="en-US" sz="1500" dirty="0"/>
          </a:p>
        </p:txBody>
      </p:sp>
      <p:sp>
        <p:nvSpPr>
          <p:cNvPr id="21" name="Nachteile Browser"/>
          <p:cNvSpPr/>
          <p:nvPr/>
        </p:nvSpPr>
        <p:spPr>
          <a:xfrm>
            <a:off x="6217920" y="4069080"/>
            <a:ext cx="5394960" cy="1965960"/>
          </a:xfrm>
          <a:prstGeom prst="roundRect">
            <a:avLst>
              <a:gd name="adj" fmla="val 5581"/>
            </a:avLst>
          </a:prstGeom>
          <a:solidFill>
            <a:schemeClr val="bg2"/>
          </a:solidFill>
          <a:ln w="12700">
            <a:solidFill>
              <a:schemeClr val="bg2"/>
            </a:solidFill>
            <a:prstDash val="solid"/>
          </a:ln>
        </p:spPr>
      </p:sp>
      <p:sp>
        <p:nvSpPr>
          <p:cNvPr id="22" name="alertDark Kreis"/>
          <p:cNvSpPr/>
          <p:nvPr/>
        </p:nvSpPr>
        <p:spPr>
          <a:xfrm>
            <a:off x="6446520" y="4251960"/>
            <a:ext cx="548640" cy="548640"/>
          </a:xfrm>
          <a:prstGeom prst="ellipse">
            <a:avLst/>
          </a:prstGeom>
          <a:solidFill>
            <a:schemeClr val="accent1"/>
          </a:solidFill>
          <a:ln w="12700">
            <a:solidFill>
              <a:schemeClr val="accent1"/>
            </a:solidFill>
            <a:prstDash val="solid"/>
          </a:ln>
        </p:spPr>
      </p:sp>
      <p:pic>
        <p:nvPicPr>
          <p:cNvPr id="23" name="alertDark Icon" descr="alertDark">    </p:cNvPr>
          <p:cNvPicPr>
            <a:picLocks noChangeAspect="1"/>
          </p:cNvPicPr>
          <p:nvPr/>
        </p:nvPicPr>
        <p:blipFill>
          <a:blip r:embed="rId6"/>
          <a:stretch>
            <a:fillRect/>
          </a:stretch>
        </p:blipFill>
        <p:spPr>
          <a:xfrm>
            <a:off x="6578194" y="4383634"/>
            <a:ext cx="285293" cy="285293"/>
          </a:xfrm>
          <a:prstGeom prst="rect">
            <a:avLst/>
          </a:prstGeom>
        </p:spPr>
      </p:pic>
      <p:sp>
        <p:nvSpPr>
          <p:cNvPr id="24" name="Text 16"/>
          <p:cNvSpPr txBox="1"/>
          <p:nvPr/>
        </p:nvSpPr>
        <p:spPr>
          <a:xfrm>
            <a:off x="7132320" y="4251960"/>
            <a:ext cx="4206240" cy="548640"/>
          </a:xfrm>
          <a:prstGeom prst="rect">
            <a:avLst/>
          </a:prstGeom>
          <a:noFill/>
          <a:ln/>
        </p:spPr>
        <p:txBody>
          <a:bodyPr wrap="square" lIns="0" tIns="0" rIns="0" bIns="0" rtlCol="0" anchor="ctr"/>
          <a:lstStyle/>
          <a:p>
            <a:pPr indent="0" marL="0">
              <a:buNone/>
            </a:pPr>
            <a:r>
              <a:rPr lang="en-US" sz="2000" b="1" dirty="0">
                <a:solidFill>
                  <a:schemeClr val="tx2"/>
                </a:solidFill>
              </a:rPr>
              <a:t>Aber (di.day, BSI)</a:t>
            </a:r>
            <a:endParaRPr lang="en-US" sz="2000" dirty="0"/>
          </a:p>
        </p:txBody>
      </p:sp>
      <p:sp>
        <p:nvSpPr>
          <p:cNvPr id="25" name="Text 17"/>
          <p:cNvSpPr txBox="1"/>
          <p:nvPr/>
        </p:nvSpPr>
        <p:spPr>
          <a:xfrm>
            <a:off x="6492240" y="4892040"/>
            <a:ext cx="4937760" cy="1051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Du hängst an einem Browser und seinem Konzern</a:t>
            </a:r>
            <a:endParaRPr lang="en-US" sz="1500" dirty="0"/>
          </a:p>
          <a:p>
            <a:pPr marL="342900" indent="-342900">
              <a:spcAft>
                <a:spcPts val="400"/>
              </a:spcAft>
              <a:buSzPct val="100000"/>
              <a:buChar char="•"/>
            </a:pPr>
            <a:r>
              <a:rPr lang="en-US" sz="1500" dirty="0">
                <a:solidFill>
                  <a:schemeClr val="tx1"/>
                </a:solidFill>
              </a:rPr>
              <a:t>Der Anbieter sieht, welche Dienste du nutzt</a:t>
            </a:r>
            <a:endParaRPr lang="en-US" sz="1500" dirty="0"/>
          </a:p>
          <a:p>
            <a:pPr marL="342900" indent="-342900">
              <a:spcAft>
                <a:spcPts val="400"/>
              </a:spcAft>
              <a:buSzPct val="100000"/>
              <a:buChar char="•"/>
            </a:pPr>
            <a:r>
              <a:rPr lang="en-US" sz="1500" dirty="0">
                <a:solidFill>
                  <a:schemeClr val="tx1"/>
                </a:solidFill>
              </a:rPr>
              <a:t>Schadsoftware kann sie leichter auslesen</a:t>
            </a:r>
            <a:endParaRPr lang="en-US" sz="1500" dirty="0"/>
          </a:p>
        </p:txBody>
      </p:sp>
      <p:sp>
        <p:nvSpPr>
          <p:cNvPr id="26"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7"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BSI – Passwörter verwalten mit dem Passwort-Manager" history="1" highlightClick="0" endSnd="0">
                  <a:extLst>
                    <a:ext uri="{A12FA001-AC4F-418D-AE19-62706E023703}">
                      <ahyp:hlinkClr xmlns:ahyp="http://schemas.microsoft.com/office/drawing/2018/hyperlinkcolor" val="tx"/>
                    </a:ext>
                  </a:extLst>
                </a:hlinkClick>
              </a:rPr>
              <a:t>[9] BSI Passwort-Manager</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Google Chrome-Hilfe – Passwörter in Chrome verwalten" history="1" highlightClick="0" endSnd="0">
                  <a:extLst>
                    <a:ext uri="{A12FA001-AC4F-418D-AE19-62706E023703}">
                      <ahyp:hlinkClr xmlns:ahyp="http://schemas.microsoft.com/office/drawing/2018/hyperlinkcolor" val="tx"/>
                    </a:ext>
                  </a:extLst>
                </a:hlinkClick>
              </a:rPr>
              <a:t>[10] Chrome-Hilfe</a:t>
            </a:r>
            <a:pPr indent="0" marL="0">
              <a:buNone/>
            </a:pPr>
            <a:r>
              <a:rPr lang="en-US" sz="900" dirty="0">
                <a:solidFill>
                  <a:schemeClr val="accent6"/>
                </a:solidFill>
              </a:rPr>
              <a:t> · </a:t>
            </a:r>
            <a:pPr indent="0" marL="0">
              <a:buNone/>
            </a:pPr>
            <a:r>
              <a:rPr lang="en-US" sz="900" u="sng" dirty="0">
                <a:solidFill>
                  <a:schemeClr val="accent6"/>
                </a:solidFill>
                <a:hlinkClick r:id="rId10" invalidUrl="" action="" tgtFrame="" tooltip="Mozilla Support – Passwortverwaltung in Firefox" history="1" highlightClick="0" endSnd="0">
                  <a:extLst>
                    <a:ext uri="{A12FA001-AC4F-418D-AE19-62706E023703}">
                      <ahyp:hlinkClr xmlns:ahyp="http://schemas.microsoft.com/office/drawing/2018/hyperlinkcolor" val="tx"/>
                    </a:ext>
                  </a:extLst>
                </a:hlinkClick>
              </a:rPr>
              <a:t>[11] Firefox-Hilfe</a:t>
            </a:r>
            <a:pPr indent="0" marL="0">
              <a:buNone/>
            </a:pPr>
            <a:r>
              <a:rPr lang="en-US" sz="900" dirty="0">
                <a:solidFill>
                  <a:schemeClr val="accent6"/>
                </a:solidFill>
              </a:rPr>
              <a:t> · </a:t>
            </a:r>
            <a:pPr indent="0" marL="0">
              <a:buNone/>
            </a:pPr>
            <a:r>
              <a:rPr lang="en-US" sz="900" u="sng" dirty="0">
                <a:solidFill>
                  <a:schemeClr val="accent6"/>
                </a:solidFill>
                <a:hlinkClick r:id="rId11" invalidUrl="" action="" tgtFrame="" tooltip="Apple Support – Die App „Passwörter“" history="1" highlightClick="0" endSnd="0">
                  <a:extLst>
                    <a:ext uri="{A12FA001-AC4F-418D-AE19-62706E023703}">
                      <ahyp:hlinkClr xmlns:ahyp="http://schemas.microsoft.com/office/drawing/2018/hyperlinkcolor" val="tx"/>
                    </a:ext>
                  </a:extLst>
                </a:hlinkClick>
              </a:rPr>
              <a:t>[13] Apple Passwörter</a:t>
            </a:r>
            <a:pPr indent="0" marL="0">
              <a:buNone/>
            </a:pPr>
            <a:r>
              <a:rPr lang="en-US" sz="900" dirty="0">
                <a:solidFill>
                  <a:schemeClr val="accent6"/>
                </a:solidFill>
              </a:rPr>
              <a:t> · </a:t>
            </a:r>
            <a:pPr indent="0" marL="0">
              <a:buNone/>
            </a:pPr>
            <a:r>
              <a:rPr lang="en-US" sz="900" u="sng" dirty="0">
                <a:solidFill>
                  <a:schemeClr val="accent6"/>
                </a:solidFill>
                <a:hlinkClick r:id="rId12" invalidUrl="" action="" tgtFrame="" tooltip="Microsoft Support – Microsoft Edge geräteübergreifend synchronisieren" history="1" highlightClick="0" endSnd="0">
                  <a:extLst>
                    <a:ext uri="{A12FA001-AC4F-418D-AE19-62706E023703}">
                      <ahyp:hlinkClr xmlns:ahyp="http://schemas.microsoft.com/office/drawing/2018/hyperlinkcolor" val="tx"/>
                    </a:ext>
                  </a:extLst>
                </a:hlinkClick>
              </a:rPr>
              <a:t>[15] Edge Sync</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Stufe 2: das Betriebssystem</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Eingebaut in Handy und Computer – bequem, vor allem in der eigenen Gerätewelt.</a:t>
            </a:r>
            <a:endParaRPr lang="en-US" sz="1500" dirty="0"/>
          </a:p>
        </p:txBody>
      </p:sp>
      <p:sp>
        <p:nvSpPr>
          <p:cNvPr id="4" name="System iCloud-Schlüsselbund"/>
          <p:cNvSpPr/>
          <p:nvPr/>
        </p:nvSpPr>
        <p:spPr>
          <a:xfrm>
            <a:off x="548640" y="1828800"/>
            <a:ext cx="5394960" cy="1920240"/>
          </a:xfrm>
          <a:prstGeom prst="roundRect">
            <a:avLst>
              <a:gd name="adj" fmla="val 5714"/>
            </a:avLst>
          </a:prstGeom>
          <a:solidFill>
            <a:schemeClr val="bg2"/>
          </a:solidFill>
          <a:ln w="12700">
            <a:solidFill>
              <a:schemeClr val="bg2"/>
            </a:solidFill>
            <a:prstDash val="solid"/>
          </a:ln>
        </p:spPr>
      </p:sp>
      <p:sp>
        <p:nvSpPr>
          <p:cNvPr id="5" name="apple Kreis"/>
          <p:cNvSpPr/>
          <p:nvPr/>
        </p:nvSpPr>
        <p:spPr>
          <a:xfrm>
            <a:off x="822960" y="2103120"/>
            <a:ext cx="777240" cy="777240"/>
          </a:xfrm>
          <a:prstGeom prst="ellipse">
            <a:avLst/>
          </a:prstGeom>
          <a:solidFill>
            <a:schemeClr val="bg1"/>
          </a:solidFill>
          <a:ln w="12700">
            <a:solidFill>
              <a:schemeClr val="bg1"/>
            </a:solidFill>
            <a:prstDash val="solid"/>
          </a:ln>
        </p:spPr>
      </p:sp>
      <p:pic>
        <p:nvPicPr>
          <p:cNvPr id="6" name="apple Icon" descr="apple">    </p:cNvPr>
          <p:cNvPicPr>
            <a:picLocks noChangeAspect="1"/>
          </p:cNvPicPr>
          <p:nvPr/>
        </p:nvPicPr>
        <p:blipFill>
          <a:blip r:embed="rId1"/>
          <a:stretch>
            <a:fillRect/>
          </a:stretch>
        </p:blipFill>
        <p:spPr>
          <a:xfrm>
            <a:off x="1009498" y="2289658"/>
            <a:ext cx="404165" cy="404165"/>
          </a:xfrm>
          <a:prstGeom prst="rect">
            <a:avLst/>
          </a:prstGeom>
        </p:spPr>
      </p:pic>
      <p:sp>
        <p:nvSpPr>
          <p:cNvPr id="7" name="Text 4"/>
          <p:cNvSpPr txBox="1"/>
          <p:nvPr/>
        </p:nvSpPr>
        <p:spPr>
          <a:xfrm>
            <a:off x="1828800" y="2084832"/>
            <a:ext cx="3886200" cy="411480"/>
          </a:xfrm>
          <a:prstGeom prst="rect">
            <a:avLst/>
          </a:prstGeom>
          <a:noFill/>
          <a:ln/>
        </p:spPr>
        <p:txBody>
          <a:bodyPr wrap="square" lIns="0" tIns="0" rIns="0" bIns="0" rtlCol="0" anchor="t"/>
          <a:lstStyle/>
          <a:p>
            <a:pPr indent="0" marL="0">
              <a:buNone/>
            </a:pPr>
            <a:r>
              <a:rPr lang="en-US" sz="2000" b="1" dirty="0">
                <a:solidFill>
                  <a:schemeClr val="tx2"/>
                </a:solidFill>
              </a:rPr>
              <a:t>iCloud-Schlüsselbund</a:t>
            </a:r>
            <a:endParaRPr lang="en-US" sz="2000" dirty="0"/>
          </a:p>
        </p:txBody>
      </p:sp>
      <p:sp>
        <p:nvSpPr>
          <p:cNvPr id="8" name="Text 5"/>
          <p:cNvSpPr txBox="1"/>
          <p:nvPr/>
        </p:nvSpPr>
        <p:spPr>
          <a:xfrm>
            <a:off x="1828800" y="2560320"/>
            <a:ext cx="3886200" cy="1051560"/>
          </a:xfrm>
          <a:prstGeom prst="rect">
            <a:avLst/>
          </a:prstGeom>
          <a:noFill/>
          <a:ln/>
        </p:spPr>
        <p:txBody>
          <a:bodyPr wrap="square" lIns="0" tIns="0" rIns="0" bIns="0" rtlCol="0" anchor="t"/>
          <a:lstStyle/>
          <a:p>
            <a:pPr indent="0" marL="0">
              <a:buNone/>
            </a:pPr>
            <a:r>
              <a:rPr lang="en-US" sz="1500" dirty="0">
                <a:solidFill>
                  <a:schemeClr val="tx1"/>
                </a:solidFill>
              </a:rPr>
              <a:t>App „Passwörter“ auf iPhone, iPad und Mac, über iCloud für Windows auch am PC. Face ID, Ende-zu-Ende-verschlüsselt.</a:t>
            </a:r>
            <a:endParaRPr lang="en-US" sz="1500" dirty="0"/>
          </a:p>
        </p:txBody>
      </p:sp>
      <p:sp>
        <p:nvSpPr>
          <p:cNvPr id="9" name="System Google Passwortmanager"/>
          <p:cNvSpPr/>
          <p:nvPr/>
        </p:nvSpPr>
        <p:spPr>
          <a:xfrm>
            <a:off x="6217920" y="1828800"/>
            <a:ext cx="5394960" cy="1920240"/>
          </a:xfrm>
          <a:prstGeom prst="roundRect">
            <a:avLst>
              <a:gd name="adj" fmla="val 5714"/>
            </a:avLst>
          </a:prstGeom>
          <a:solidFill>
            <a:schemeClr val="bg2"/>
          </a:solidFill>
          <a:ln w="12700">
            <a:solidFill>
              <a:schemeClr val="bg2"/>
            </a:solidFill>
            <a:prstDash val="solid"/>
          </a:ln>
        </p:spPr>
      </p:sp>
      <p:sp>
        <p:nvSpPr>
          <p:cNvPr id="10" name="android Kreis"/>
          <p:cNvSpPr/>
          <p:nvPr/>
        </p:nvSpPr>
        <p:spPr>
          <a:xfrm>
            <a:off x="6492240" y="2103120"/>
            <a:ext cx="777240" cy="777240"/>
          </a:xfrm>
          <a:prstGeom prst="ellipse">
            <a:avLst/>
          </a:prstGeom>
          <a:solidFill>
            <a:schemeClr val="bg1"/>
          </a:solidFill>
          <a:ln w="12700">
            <a:solidFill>
              <a:schemeClr val="bg1"/>
            </a:solidFill>
            <a:prstDash val="solid"/>
          </a:ln>
        </p:spPr>
      </p:sp>
      <p:pic>
        <p:nvPicPr>
          <p:cNvPr id="11" name="android Icon" descr="android">    </p:cNvPr>
          <p:cNvPicPr>
            <a:picLocks noChangeAspect="1"/>
          </p:cNvPicPr>
          <p:nvPr/>
        </p:nvPicPr>
        <p:blipFill>
          <a:blip r:embed="rId2"/>
          <a:stretch>
            <a:fillRect/>
          </a:stretch>
        </p:blipFill>
        <p:spPr>
          <a:xfrm>
            <a:off x="6678778" y="2289658"/>
            <a:ext cx="404165" cy="404165"/>
          </a:xfrm>
          <a:prstGeom prst="rect">
            <a:avLst/>
          </a:prstGeom>
        </p:spPr>
      </p:pic>
      <p:sp>
        <p:nvSpPr>
          <p:cNvPr id="12" name="Text 8"/>
          <p:cNvSpPr txBox="1"/>
          <p:nvPr/>
        </p:nvSpPr>
        <p:spPr>
          <a:xfrm>
            <a:off x="7498080" y="2084832"/>
            <a:ext cx="3886200" cy="411480"/>
          </a:xfrm>
          <a:prstGeom prst="rect">
            <a:avLst/>
          </a:prstGeom>
          <a:noFill/>
          <a:ln/>
        </p:spPr>
        <p:txBody>
          <a:bodyPr wrap="square" lIns="0" tIns="0" rIns="0" bIns="0" rtlCol="0" anchor="t"/>
          <a:lstStyle/>
          <a:p>
            <a:pPr indent="0" marL="0">
              <a:buNone/>
            </a:pPr>
            <a:r>
              <a:rPr lang="en-US" sz="2000" b="1" dirty="0">
                <a:solidFill>
                  <a:schemeClr val="tx2"/>
                </a:solidFill>
              </a:rPr>
              <a:t>Google Passwortmanager</a:t>
            </a:r>
            <a:endParaRPr lang="en-US" sz="2000" dirty="0"/>
          </a:p>
        </p:txBody>
      </p:sp>
      <p:sp>
        <p:nvSpPr>
          <p:cNvPr id="13" name="Text 9"/>
          <p:cNvSpPr txBox="1"/>
          <p:nvPr/>
        </p:nvSpPr>
        <p:spPr>
          <a:xfrm>
            <a:off x="7498080" y="2560320"/>
            <a:ext cx="3886200" cy="1051560"/>
          </a:xfrm>
          <a:prstGeom prst="rect">
            <a:avLst/>
          </a:prstGeom>
          <a:noFill/>
          <a:ln/>
        </p:spPr>
        <p:txBody>
          <a:bodyPr wrap="square" lIns="0" tIns="0" rIns="0" bIns="0" rtlCol="0" anchor="t"/>
          <a:lstStyle/>
          <a:p>
            <a:pPr indent="0" marL="0">
              <a:buNone/>
            </a:pPr>
            <a:r>
              <a:rPr lang="en-US" sz="1500" dirty="0">
                <a:solidFill>
                  <a:schemeClr val="tx1"/>
                </a:solidFill>
              </a:rPr>
              <a:t>In Android und Chrome eingebaut. Prüft, ob deine Passwörter in einem Datenleck aufgetaucht sind.</a:t>
            </a:r>
            <a:endParaRPr lang="en-US" sz="1500" dirty="0"/>
          </a:p>
        </p:txBody>
      </p:sp>
      <p:sp>
        <p:nvSpPr>
          <p:cNvPr id="14" name="System Windows und Edge"/>
          <p:cNvSpPr/>
          <p:nvPr/>
        </p:nvSpPr>
        <p:spPr>
          <a:xfrm>
            <a:off x="548640" y="4023360"/>
            <a:ext cx="5394960" cy="1920240"/>
          </a:xfrm>
          <a:prstGeom prst="roundRect">
            <a:avLst>
              <a:gd name="adj" fmla="val 5714"/>
            </a:avLst>
          </a:prstGeom>
          <a:solidFill>
            <a:schemeClr val="bg2"/>
          </a:solidFill>
          <a:ln w="12700">
            <a:solidFill>
              <a:schemeClr val="bg2"/>
            </a:solidFill>
            <a:prstDash val="solid"/>
          </a:ln>
        </p:spPr>
      </p:sp>
      <p:sp>
        <p:nvSpPr>
          <p:cNvPr id="15" name="windows Kreis"/>
          <p:cNvSpPr/>
          <p:nvPr/>
        </p:nvSpPr>
        <p:spPr>
          <a:xfrm>
            <a:off x="822960" y="4297680"/>
            <a:ext cx="777240" cy="777240"/>
          </a:xfrm>
          <a:prstGeom prst="ellipse">
            <a:avLst/>
          </a:prstGeom>
          <a:solidFill>
            <a:schemeClr val="bg1"/>
          </a:solidFill>
          <a:ln w="12700">
            <a:solidFill>
              <a:schemeClr val="bg1"/>
            </a:solidFill>
            <a:prstDash val="solid"/>
          </a:ln>
        </p:spPr>
      </p:sp>
      <p:pic>
        <p:nvPicPr>
          <p:cNvPr id="16" name="windows Icon" descr="windows">    </p:cNvPr>
          <p:cNvPicPr>
            <a:picLocks noChangeAspect="1"/>
          </p:cNvPicPr>
          <p:nvPr/>
        </p:nvPicPr>
        <p:blipFill>
          <a:blip r:embed="rId3"/>
          <a:stretch>
            <a:fillRect/>
          </a:stretch>
        </p:blipFill>
        <p:spPr>
          <a:xfrm>
            <a:off x="1009498" y="4484218"/>
            <a:ext cx="404165" cy="404165"/>
          </a:xfrm>
          <a:prstGeom prst="rect">
            <a:avLst/>
          </a:prstGeom>
        </p:spPr>
      </p:pic>
      <p:sp>
        <p:nvSpPr>
          <p:cNvPr id="17" name="Text 12"/>
          <p:cNvSpPr txBox="1"/>
          <p:nvPr/>
        </p:nvSpPr>
        <p:spPr>
          <a:xfrm>
            <a:off x="1828800" y="4279392"/>
            <a:ext cx="3886200" cy="411480"/>
          </a:xfrm>
          <a:prstGeom prst="rect">
            <a:avLst/>
          </a:prstGeom>
          <a:noFill/>
          <a:ln/>
        </p:spPr>
        <p:txBody>
          <a:bodyPr wrap="square" lIns="0" tIns="0" rIns="0" bIns="0" rtlCol="0" anchor="t"/>
          <a:lstStyle/>
          <a:p>
            <a:pPr indent="0" marL="0">
              <a:buNone/>
            </a:pPr>
            <a:r>
              <a:rPr lang="en-US" sz="2000" b="1" dirty="0">
                <a:solidFill>
                  <a:schemeClr val="tx2"/>
                </a:solidFill>
              </a:rPr>
              <a:t>Windows und Edge</a:t>
            </a:r>
            <a:endParaRPr lang="en-US" sz="2000" dirty="0"/>
          </a:p>
        </p:txBody>
      </p:sp>
      <p:sp>
        <p:nvSpPr>
          <p:cNvPr id="18" name="Text 13"/>
          <p:cNvSpPr txBox="1"/>
          <p:nvPr/>
        </p:nvSpPr>
        <p:spPr>
          <a:xfrm>
            <a:off x="1828800" y="4754880"/>
            <a:ext cx="3886200" cy="1051560"/>
          </a:xfrm>
          <a:prstGeom prst="rect">
            <a:avLst/>
          </a:prstGeom>
          <a:noFill/>
          <a:ln/>
        </p:spPr>
        <p:txBody>
          <a:bodyPr wrap="square" lIns="0" tIns="0" rIns="0" bIns="0" rtlCol="0" anchor="t"/>
          <a:lstStyle/>
          <a:p>
            <a:pPr indent="0" marL="0">
              <a:buNone/>
            </a:pPr>
            <a:r>
              <a:rPr lang="en-US" sz="1500" dirty="0">
                <a:solidFill>
                  <a:schemeClr val="tx1"/>
                </a:solidFill>
              </a:rPr>
              <a:t>Passwörter liegen im Microsoft-Konto und werden in Edge abgeglichen. Der Kennwortmonitor warnt bei Datenlecks.</a:t>
            </a:r>
            <a:endParaRPr lang="en-US" sz="1500" dirty="0"/>
          </a:p>
        </p:txBody>
      </p:sp>
      <p:sp>
        <p:nvSpPr>
          <p:cNvPr id="19" name="System Linux-Schlüsselbund"/>
          <p:cNvSpPr/>
          <p:nvPr/>
        </p:nvSpPr>
        <p:spPr>
          <a:xfrm>
            <a:off x="6217920" y="4023360"/>
            <a:ext cx="5394960" cy="1920240"/>
          </a:xfrm>
          <a:prstGeom prst="roundRect">
            <a:avLst>
              <a:gd name="adj" fmla="val 5714"/>
            </a:avLst>
          </a:prstGeom>
          <a:solidFill>
            <a:schemeClr val="bg2"/>
          </a:solidFill>
          <a:ln w="12700">
            <a:solidFill>
              <a:schemeClr val="bg2"/>
            </a:solidFill>
            <a:prstDash val="solid"/>
          </a:ln>
        </p:spPr>
      </p:sp>
      <p:sp>
        <p:nvSpPr>
          <p:cNvPr id="20" name="linux Kreis"/>
          <p:cNvSpPr/>
          <p:nvPr/>
        </p:nvSpPr>
        <p:spPr>
          <a:xfrm>
            <a:off x="6492240" y="4297680"/>
            <a:ext cx="777240" cy="777240"/>
          </a:xfrm>
          <a:prstGeom prst="ellipse">
            <a:avLst/>
          </a:prstGeom>
          <a:solidFill>
            <a:schemeClr val="bg1"/>
          </a:solidFill>
          <a:ln w="12700">
            <a:solidFill>
              <a:schemeClr val="bg1"/>
            </a:solidFill>
            <a:prstDash val="solid"/>
          </a:ln>
        </p:spPr>
      </p:sp>
      <p:pic>
        <p:nvPicPr>
          <p:cNvPr id="21" name="linux Icon" descr="linux">    </p:cNvPr>
          <p:cNvPicPr>
            <a:picLocks noChangeAspect="1"/>
          </p:cNvPicPr>
          <p:nvPr/>
        </p:nvPicPr>
        <p:blipFill>
          <a:blip r:embed="rId4"/>
          <a:stretch>
            <a:fillRect/>
          </a:stretch>
        </p:blipFill>
        <p:spPr>
          <a:xfrm>
            <a:off x="6678778" y="4484218"/>
            <a:ext cx="404165" cy="404165"/>
          </a:xfrm>
          <a:prstGeom prst="rect">
            <a:avLst/>
          </a:prstGeom>
        </p:spPr>
      </p:pic>
      <p:sp>
        <p:nvSpPr>
          <p:cNvPr id="22" name="Text 16"/>
          <p:cNvSpPr txBox="1"/>
          <p:nvPr/>
        </p:nvSpPr>
        <p:spPr>
          <a:xfrm>
            <a:off x="7498080" y="4279392"/>
            <a:ext cx="3886200" cy="411480"/>
          </a:xfrm>
          <a:prstGeom prst="rect">
            <a:avLst/>
          </a:prstGeom>
          <a:noFill/>
          <a:ln/>
        </p:spPr>
        <p:txBody>
          <a:bodyPr wrap="square" lIns="0" tIns="0" rIns="0" bIns="0" rtlCol="0" anchor="t"/>
          <a:lstStyle/>
          <a:p>
            <a:pPr indent="0" marL="0">
              <a:buNone/>
            </a:pPr>
            <a:r>
              <a:rPr lang="en-US" sz="2000" b="1" dirty="0">
                <a:solidFill>
                  <a:schemeClr val="tx2"/>
                </a:solidFill>
              </a:rPr>
              <a:t>Linux-Schlüsselbund</a:t>
            </a:r>
            <a:endParaRPr lang="en-US" sz="2000" dirty="0"/>
          </a:p>
        </p:txBody>
      </p:sp>
      <p:sp>
        <p:nvSpPr>
          <p:cNvPr id="23" name="Text 17"/>
          <p:cNvSpPr txBox="1"/>
          <p:nvPr/>
        </p:nvSpPr>
        <p:spPr>
          <a:xfrm>
            <a:off x="7498080" y="4754880"/>
            <a:ext cx="3886200" cy="1051560"/>
          </a:xfrm>
          <a:prstGeom prst="rect">
            <a:avLst/>
          </a:prstGeom>
          <a:noFill/>
          <a:ln/>
        </p:spPr>
        <p:txBody>
          <a:bodyPr wrap="square" lIns="0" tIns="0" rIns="0" bIns="0" rtlCol="0" anchor="t"/>
          <a:lstStyle/>
          <a:p>
            <a:pPr indent="0" marL="0">
              <a:buNone/>
            </a:pPr>
            <a:r>
              <a:rPr lang="en-US" sz="1500" dirty="0">
                <a:solidFill>
                  <a:schemeClr val="tx1"/>
                </a:solidFill>
              </a:rPr>
              <a:t>GNOME-Schlüsselbund oder KDE Wallet speichern Passwörter für Programme, z. B. für Chrome. Für Webseiten: KeePassXC oder Bitwarden dazu.</a:t>
            </a:r>
            <a:endParaRPr lang="en-US" sz="1500" dirty="0"/>
          </a:p>
        </p:txBody>
      </p:sp>
      <p:sp>
        <p:nvSpPr>
          <p:cNvPr id="24"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5" invalidUrl="" action="" tgtFrame="" tooltip="Google-Konto-Hilfe – Kompromittierte Passwörter ändern (Passwortcheck)" history="1" highlightClick="0" endSnd="0">
                  <a:extLst>
                    <a:ext uri="{A12FA001-AC4F-418D-AE19-62706E023703}">
                      <ahyp:hlinkClr xmlns:ahyp="http://schemas.microsoft.com/office/drawing/2018/hyperlinkcolor" val="tx"/>
                    </a:ext>
                  </a:extLst>
                </a:hlinkClick>
              </a:rPr>
              <a:t>[12] Google Passwortcheck</a:t>
            </a:r>
            <a:pPr indent="0" marL="0">
              <a:buNone/>
            </a:pPr>
            <a:r>
              <a:rPr lang="en-US" sz="900" dirty="0">
                <a:solidFill>
                  <a:schemeClr val="accent6"/>
                </a:solidFill>
              </a:rPr>
              <a:t> · </a:t>
            </a:r>
            <a:pPr indent="0" marL="0">
              <a:buNone/>
            </a:pPr>
            <a:r>
              <a:rPr lang="en-US" sz="900" u="sng" dirty="0">
                <a:solidFill>
                  <a:schemeClr val="accent6"/>
                </a:solidFill>
                <a:hlinkClick r:id="rId6" invalidUrl="" action="" tgtFrame="" tooltip="Apple Support – Die App „Passwörter“" history="1" highlightClick="0" endSnd="0">
                  <a:extLst>
                    <a:ext uri="{A12FA001-AC4F-418D-AE19-62706E023703}">
                      <ahyp:hlinkClr xmlns:ahyp="http://schemas.microsoft.com/office/drawing/2018/hyperlinkcolor" val="tx"/>
                    </a:ext>
                  </a:extLst>
                </a:hlinkClick>
              </a:rPr>
              <a:t>[13] Apple Passwörter</a:t>
            </a:r>
            <a:pPr indent="0" marL="0">
              <a:buNone/>
            </a:pPr>
            <a:r>
              <a:rPr lang="en-US" sz="900" dirty="0">
                <a:solidFill>
                  <a:schemeClr val="accent6"/>
                </a:solidFill>
              </a:rPr>
              <a:t> · </a:t>
            </a:r>
            <a:pPr indent="0" marL="0">
              <a:buNone/>
            </a:pPr>
            <a:r>
              <a:rPr lang="en-US" sz="900" u="sng" dirty="0">
                <a:solidFill>
                  <a:schemeClr val="accent6"/>
                </a:solidFill>
                <a:hlinkClick r:id="rId7" invalidUrl="" action="" tgtFrame="" tooltip="Apple Support – Gespeicherte Passwörter und Passkeys auf dem iPhone" history="1" highlightClick="0" endSnd="0">
                  <a:extLst>
                    <a:ext uri="{A12FA001-AC4F-418D-AE19-62706E023703}">
                      <ahyp:hlinkClr xmlns:ahyp="http://schemas.microsoft.com/office/drawing/2018/hyperlinkcolor" val="tx"/>
                    </a:ext>
                  </a:extLst>
                </a:hlinkClick>
              </a:rPr>
              <a:t>[14] Apple iPhone</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Microsoft Support – Microsoft Edge geräteübergreifend synchronisieren" history="1" highlightClick="0" endSnd="0">
                  <a:extLst>
                    <a:ext uri="{A12FA001-AC4F-418D-AE19-62706E023703}">
                      <ahyp:hlinkClr xmlns:ahyp="http://schemas.microsoft.com/office/drawing/2018/hyperlinkcolor" val="tx"/>
                    </a:ext>
                  </a:extLst>
                </a:hlinkClick>
              </a:rPr>
              <a:t>[15] Edge Sync</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Apple Support – Sicherheitsüberblick iCloud-Daten" history="1" highlightClick="0" endSnd="0">
                  <a:extLst>
                    <a:ext uri="{A12FA001-AC4F-418D-AE19-62706E023703}">
                      <ahyp:hlinkClr xmlns:ahyp="http://schemas.microsoft.com/office/drawing/2018/hyperlinkcolor" val="tx"/>
                    </a:ext>
                  </a:extLst>
                </a:hlinkClick>
              </a:rPr>
              <a:t>[16] Apple iCloud</a:t>
            </a:r>
            <a:pPr indent="0" marL="0">
              <a:buNone/>
            </a:pPr>
            <a:r>
              <a:rPr lang="en-US" sz="900" dirty="0">
                <a:solidFill>
                  <a:schemeClr val="accent6"/>
                </a:solidFill>
              </a:rPr>
              <a:t> · </a:t>
            </a:r>
            <a:pPr indent="0" marL="0">
              <a:buNone/>
            </a:pPr>
            <a:r>
              <a:rPr lang="en-US" sz="900" u="sng" dirty="0">
                <a:solidFill>
                  <a:schemeClr val="accent6"/>
                </a:solidFill>
                <a:hlinkClick r:id="rId10" invalidUrl="" action="" tgtFrame="" tooltip="Apple Support – iCloud-Passwörter auf dem Windows-Computer einrichten" history="1" highlightClick="0" endSnd="0">
                  <a:extLst>
                    <a:ext uri="{A12FA001-AC4F-418D-AE19-62706E023703}">
                      <ahyp:hlinkClr xmlns:ahyp="http://schemas.microsoft.com/office/drawing/2018/hyperlinkcolor" val="tx"/>
                    </a:ext>
                  </a:extLst>
                </a:hlinkClick>
              </a:rPr>
              <a:t>[17] iCloud Windows</a:t>
            </a:r>
            <a:pPr indent="0" marL="0">
              <a:buNone/>
            </a:pPr>
            <a:r>
              <a:rPr lang="en-US" sz="900" dirty="0">
                <a:solidFill>
                  <a:schemeClr val="accent6"/>
                </a:solidFill>
              </a:rPr>
              <a:t> · </a:t>
            </a:r>
            <a:pPr indent="0" marL="0">
              <a:buNone/>
            </a:pPr>
            <a:r>
              <a:rPr lang="en-US" sz="900" u="sng" dirty="0">
                <a:solidFill>
                  <a:schemeClr val="accent6"/>
                </a:solidFill>
                <a:hlinkClick r:id="rId11" invalidUrl="" action="" tgtFrame="" tooltip="Microsoft Support – Kennwortmonitor in Microsoft Edge" history="1" highlightClick="0" endSnd="0">
                  <a:extLst>
                    <a:ext uri="{A12FA001-AC4F-418D-AE19-62706E023703}">
                      <ahyp:hlinkClr xmlns:ahyp="http://schemas.microsoft.com/office/drawing/2018/hyperlinkcolor" val="tx"/>
                    </a:ext>
                  </a:extLst>
                </a:hlinkClick>
              </a:rPr>
              <a:t>[18] Edge Kennwortmonitor</a:t>
            </a:r>
            <a:pPr indent="0" marL="0">
              <a:buNone/>
            </a:pPr>
            <a:r>
              <a:rPr lang="en-US" sz="900" dirty="0">
                <a:solidFill>
                  <a:schemeClr val="accent6"/>
                </a:solidFill>
              </a:rPr>
              <a:t> · </a:t>
            </a:r>
            <a:pPr indent="0" marL="0">
              <a:buNone/>
            </a:pPr>
            <a:r>
              <a:rPr lang="en-US" sz="900" u="sng" dirty="0">
                <a:solidFill>
                  <a:schemeClr val="accent6"/>
                </a:solidFill>
                <a:hlinkClick r:id="rId12" invalidUrl="" action="" tgtFrame="" tooltip="Chromium-Dokumentation – Passwortspeicher unter Linux" history="1" highlightClick="0" endSnd="0">
                  <a:extLst>
                    <a:ext uri="{A12FA001-AC4F-418D-AE19-62706E023703}">
                      <ahyp:hlinkClr xmlns:ahyp="http://schemas.microsoft.com/office/drawing/2018/hyperlinkcolor" val="tx"/>
                    </a:ext>
                  </a:extLst>
                </a:hlinkClick>
              </a:rPr>
              <a:t>[19] Chromium</a:t>
            </a:r>
            <a:pPr indent="0" marL="0">
              <a:buNone/>
            </a:pPr>
            <a:r>
              <a:rPr lang="en-US" sz="900" dirty="0">
                <a:solidFill>
                  <a:schemeClr val="accent6"/>
                </a:solidFill>
              </a:rPr>
              <a:t> · </a:t>
            </a:r>
            <a:pPr indent="0" marL="0">
              <a:buNone/>
            </a:pPr>
            <a:r>
              <a:rPr lang="en-US" sz="900" u="sng" dirty="0">
                <a:solidFill>
                  <a:schemeClr val="accent6"/>
                </a:solidFill>
                <a:hlinkClick r:id="rId13" invalidUrl="" action="" tgtFrame="" tooltip="Debian-Manpage – gnome-keyring-daemon" history="1" highlightClick="0" endSnd="0">
                  <a:extLst>
                    <a:ext uri="{A12FA001-AC4F-418D-AE19-62706E023703}">
                      <ahyp:hlinkClr xmlns:ahyp="http://schemas.microsoft.com/office/drawing/2018/hyperlinkcolor" val="tx"/>
                    </a:ext>
                  </a:extLst>
                </a:hlinkClick>
              </a:rPr>
              <a:t>[20] GNOME Keyring</a:t>
            </a:r>
            <a:pPr indent="0" marL="0">
              <a:buNone/>
            </a:pPr>
            <a:r>
              <a:rPr lang="en-US" sz="900" dirty="0">
                <a:solidFill>
                  <a:schemeClr val="accent6"/>
                </a:solidFill>
              </a:rPr>
              <a:t> · </a:t>
            </a:r>
            <a:pPr indent="0" marL="0">
              <a:buNone/>
            </a:pPr>
            <a:r>
              <a:rPr lang="en-US" sz="900" u="sng" dirty="0">
                <a:solidFill>
                  <a:schemeClr val="accent6"/>
                </a:solidFill>
                <a:hlinkClick r:id="rId14" invalidUrl="" action="" tgtFrame="" tooltip="KDE – KWalletManager (Digitale Brieftasche)" history="1" highlightClick="0" endSnd="0">
                  <a:extLst>
                    <a:ext uri="{A12FA001-AC4F-418D-AE19-62706E023703}">
                      <ahyp:hlinkClr xmlns:ahyp="http://schemas.microsoft.com/office/drawing/2018/hyperlinkcolor" val="tx"/>
                    </a:ext>
                  </a:extLst>
                </a:hlinkClick>
              </a:rPr>
              <a:t>[21] KDE Wallet</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Stufe 3: eigene Passwortmanager-Apps</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Laufen auf allen Geräten – unabhängig vom Hersteller deines Handys.</a:t>
            </a:r>
            <a:endParaRPr lang="en-US" sz="1500" dirty="0"/>
          </a:p>
        </p:txBody>
      </p:sp>
      <p:sp>
        <p:nvSpPr>
          <p:cNvPr id="4" name="App Bitwarden"/>
          <p:cNvSpPr/>
          <p:nvPr/>
        </p:nvSpPr>
        <p:spPr>
          <a:xfrm>
            <a:off x="548640" y="1828800"/>
            <a:ext cx="3505200" cy="3611880"/>
          </a:xfrm>
          <a:prstGeom prst="roundRect">
            <a:avLst>
              <a:gd name="adj" fmla="val 3130"/>
            </a:avLst>
          </a:prstGeom>
          <a:solidFill>
            <a:schemeClr val="bg2"/>
          </a:solidFill>
          <a:ln w="12700">
            <a:solidFill>
              <a:schemeClr val="bg2"/>
            </a:solidFill>
            <a:prstDash val="solid"/>
          </a:ln>
        </p:spPr>
      </p:sp>
      <p:sp>
        <p:nvSpPr>
          <p:cNvPr id="5" name="bitwarden Kreis"/>
          <p:cNvSpPr/>
          <p:nvPr/>
        </p:nvSpPr>
        <p:spPr>
          <a:xfrm>
            <a:off x="822960" y="2103120"/>
            <a:ext cx="868680" cy="868680"/>
          </a:xfrm>
          <a:prstGeom prst="ellipse">
            <a:avLst/>
          </a:prstGeom>
          <a:solidFill>
            <a:schemeClr val="accent1"/>
          </a:solidFill>
          <a:ln w="12700">
            <a:solidFill>
              <a:schemeClr val="accent1"/>
            </a:solidFill>
            <a:prstDash val="solid"/>
          </a:ln>
        </p:spPr>
      </p:sp>
      <p:pic>
        <p:nvPicPr>
          <p:cNvPr id="6" name="bitwarden Icon" descr="bitwarden">    </p:cNvPr>
          <p:cNvPicPr>
            <a:picLocks noChangeAspect="1"/>
          </p:cNvPicPr>
          <p:nvPr/>
        </p:nvPicPr>
        <p:blipFill>
          <a:blip r:embed="rId1"/>
          <a:stretch>
            <a:fillRect/>
          </a:stretch>
        </p:blipFill>
        <p:spPr>
          <a:xfrm>
            <a:off x="1031443" y="2311603"/>
            <a:ext cx="451714" cy="451714"/>
          </a:xfrm>
          <a:prstGeom prst="rect">
            <a:avLst/>
          </a:prstGeom>
        </p:spPr>
      </p:pic>
      <p:sp>
        <p:nvSpPr>
          <p:cNvPr id="7" name="Text 4"/>
          <p:cNvSpPr txBox="1"/>
          <p:nvPr/>
        </p:nvSpPr>
        <p:spPr>
          <a:xfrm>
            <a:off x="1874520" y="2103120"/>
            <a:ext cx="1950720" cy="868680"/>
          </a:xfrm>
          <a:prstGeom prst="rect">
            <a:avLst/>
          </a:prstGeom>
          <a:noFill/>
          <a:ln/>
        </p:spPr>
        <p:txBody>
          <a:bodyPr wrap="square" lIns="0" tIns="0" rIns="0" bIns="0" rtlCol="0" anchor="ctr"/>
          <a:lstStyle/>
          <a:p>
            <a:pPr indent="0" marL="0">
              <a:buNone/>
            </a:pPr>
            <a:r>
              <a:rPr lang="en-US" sz="2400" b="1" dirty="0">
                <a:solidFill>
                  <a:schemeClr val="tx2"/>
                </a:solidFill>
              </a:rPr>
              <a:t>Bitwarden</a:t>
            </a:r>
            <a:endParaRPr lang="en-US" sz="2400" dirty="0"/>
          </a:p>
        </p:txBody>
      </p:sp>
      <p:sp>
        <p:nvSpPr>
          <p:cNvPr id="8" name="Etikett Open Source"/>
          <p:cNvSpPr/>
          <p:nvPr/>
        </p:nvSpPr>
        <p:spPr>
          <a:xfrm>
            <a:off x="822960" y="3154680"/>
            <a:ext cx="1149096" cy="292608"/>
          </a:xfrm>
          <a:prstGeom prst="roundRect">
            <a:avLst>
              <a:gd name="adj" fmla="val 50000"/>
            </a:avLst>
          </a:prstGeom>
          <a:solidFill>
            <a:schemeClr val="tx2"/>
          </a:solidFill>
          <a:ln w="12700">
            <a:solidFill>
              <a:schemeClr val="tx2"/>
            </a:solidFill>
            <a:prstDash val="solid"/>
          </a:ln>
        </p:spPr>
      </p:sp>
      <p:sp>
        <p:nvSpPr>
          <p:cNvPr id="9" name="Text 6"/>
          <p:cNvSpPr txBox="1"/>
          <p:nvPr/>
        </p:nvSpPr>
        <p:spPr>
          <a:xfrm>
            <a:off x="822960" y="3154680"/>
            <a:ext cx="1149096" cy="292608"/>
          </a:xfrm>
          <a:prstGeom prst="rect">
            <a:avLst/>
          </a:prstGeom>
          <a:noFill/>
          <a:ln/>
        </p:spPr>
        <p:txBody>
          <a:bodyPr wrap="square" lIns="0" tIns="0" rIns="0" bIns="0" rtlCol="0" anchor="ctr"/>
          <a:lstStyle/>
          <a:p>
            <a:pPr algn="ctr" indent="0" marL="0">
              <a:buNone/>
            </a:pPr>
            <a:r>
              <a:rPr lang="en-US" sz="1200" b="1" dirty="0">
                <a:solidFill>
                  <a:schemeClr val="bg1"/>
                </a:solidFill>
              </a:rPr>
              <a:t>Open Source</a:t>
            </a:r>
            <a:endParaRPr lang="en-US" sz="1200" dirty="0"/>
          </a:p>
        </p:txBody>
      </p:sp>
      <p:sp>
        <p:nvSpPr>
          <p:cNvPr id="10" name="Etikett Gratis-Version"/>
          <p:cNvSpPr/>
          <p:nvPr/>
        </p:nvSpPr>
        <p:spPr>
          <a:xfrm>
            <a:off x="2081784" y="3154680"/>
            <a:ext cx="1377696" cy="292608"/>
          </a:xfrm>
          <a:prstGeom prst="roundRect">
            <a:avLst>
              <a:gd name="adj" fmla="val 50000"/>
            </a:avLst>
          </a:prstGeom>
          <a:solidFill>
            <a:schemeClr val="tx2"/>
          </a:solidFill>
          <a:ln w="12700">
            <a:solidFill>
              <a:schemeClr val="tx2"/>
            </a:solidFill>
            <a:prstDash val="solid"/>
          </a:ln>
        </p:spPr>
      </p:sp>
      <p:sp>
        <p:nvSpPr>
          <p:cNvPr id="11" name="Text 8"/>
          <p:cNvSpPr txBox="1"/>
          <p:nvPr/>
        </p:nvSpPr>
        <p:spPr>
          <a:xfrm>
            <a:off x="2081784" y="3154680"/>
            <a:ext cx="1377696" cy="292608"/>
          </a:xfrm>
          <a:prstGeom prst="rect">
            <a:avLst/>
          </a:prstGeom>
          <a:noFill/>
          <a:ln/>
        </p:spPr>
        <p:txBody>
          <a:bodyPr wrap="square" lIns="0" tIns="0" rIns="0" bIns="0" rtlCol="0" anchor="ctr"/>
          <a:lstStyle/>
          <a:p>
            <a:pPr algn="ctr" indent="0" marL="0">
              <a:buNone/>
            </a:pPr>
            <a:r>
              <a:rPr lang="en-US" sz="1200" b="1" dirty="0">
                <a:solidFill>
                  <a:schemeClr val="bg1"/>
                </a:solidFill>
              </a:rPr>
              <a:t>Gratis-Version</a:t>
            </a:r>
            <a:endParaRPr lang="en-US" sz="1200" dirty="0"/>
          </a:p>
        </p:txBody>
      </p:sp>
      <p:sp>
        <p:nvSpPr>
          <p:cNvPr id="12" name="Etikett alle Geräte"/>
          <p:cNvSpPr/>
          <p:nvPr/>
        </p:nvSpPr>
        <p:spPr>
          <a:xfrm>
            <a:off x="822960" y="3538728"/>
            <a:ext cx="1149096" cy="292608"/>
          </a:xfrm>
          <a:prstGeom prst="roundRect">
            <a:avLst>
              <a:gd name="adj" fmla="val 50000"/>
            </a:avLst>
          </a:prstGeom>
          <a:solidFill>
            <a:schemeClr val="tx2"/>
          </a:solidFill>
          <a:ln w="12700">
            <a:solidFill>
              <a:schemeClr val="tx2"/>
            </a:solidFill>
            <a:prstDash val="solid"/>
          </a:ln>
        </p:spPr>
      </p:sp>
      <p:sp>
        <p:nvSpPr>
          <p:cNvPr id="13" name="Text 10"/>
          <p:cNvSpPr txBox="1"/>
          <p:nvPr/>
        </p:nvSpPr>
        <p:spPr>
          <a:xfrm>
            <a:off x="822960" y="3538728"/>
            <a:ext cx="1149096" cy="292608"/>
          </a:xfrm>
          <a:prstGeom prst="rect">
            <a:avLst/>
          </a:prstGeom>
          <a:noFill/>
          <a:ln/>
        </p:spPr>
        <p:txBody>
          <a:bodyPr wrap="square" lIns="0" tIns="0" rIns="0" bIns="0" rtlCol="0" anchor="ctr"/>
          <a:lstStyle/>
          <a:p>
            <a:pPr algn="ctr" indent="0" marL="0">
              <a:buNone/>
            </a:pPr>
            <a:r>
              <a:rPr lang="en-US" sz="1200" b="1" dirty="0">
                <a:solidFill>
                  <a:schemeClr val="bg1"/>
                </a:solidFill>
              </a:rPr>
              <a:t>alle Geräte</a:t>
            </a:r>
            <a:endParaRPr lang="en-US" sz="1200" dirty="0"/>
          </a:p>
        </p:txBody>
      </p:sp>
      <p:sp>
        <p:nvSpPr>
          <p:cNvPr id="14" name="Text 11"/>
          <p:cNvSpPr txBox="1"/>
          <p:nvPr/>
        </p:nvSpPr>
        <p:spPr>
          <a:xfrm>
            <a:off x="822960" y="4041648"/>
            <a:ext cx="2956560" cy="1216152"/>
          </a:xfrm>
          <a:prstGeom prst="rect">
            <a:avLst/>
          </a:prstGeom>
          <a:noFill/>
          <a:ln/>
        </p:spPr>
        <p:txBody>
          <a:bodyPr wrap="square" lIns="0" tIns="0" rIns="0" bIns="0" rtlCol="0" anchor="t"/>
          <a:lstStyle/>
          <a:p>
            <a:pPr indent="0" marL="0">
              <a:buNone/>
            </a:pPr>
            <a:r>
              <a:rPr lang="en-US" sz="1500" dirty="0">
                <a:solidFill>
                  <a:schemeClr val="tx1"/>
                </a:solidFill>
              </a:rPr>
              <a:t>Firma in den USA. Daten wahlweise in der EU-Cloud oder auf dem eigenen Server (Vaultwarden).</a:t>
            </a:r>
            <a:endParaRPr lang="en-US" sz="1500" dirty="0"/>
          </a:p>
        </p:txBody>
      </p:sp>
      <p:sp>
        <p:nvSpPr>
          <p:cNvPr id="15" name="App KeePassXC"/>
          <p:cNvSpPr/>
          <p:nvPr/>
        </p:nvSpPr>
        <p:spPr>
          <a:xfrm>
            <a:off x="4328160" y="1828800"/>
            <a:ext cx="3505200" cy="3611880"/>
          </a:xfrm>
          <a:prstGeom prst="roundRect">
            <a:avLst>
              <a:gd name="adj" fmla="val 3130"/>
            </a:avLst>
          </a:prstGeom>
          <a:solidFill>
            <a:schemeClr val="bg2"/>
          </a:solidFill>
          <a:ln w="12700">
            <a:solidFill>
              <a:schemeClr val="bg2"/>
            </a:solidFill>
            <a:prstDash val="solid"/>
          </a:ln>
        </p:spPr>
      </p:sp>
      <p:sp>
        <p:nvSpPr>
          <p:cNvPr id="16" name="keepass Kreis"/>
          <p:cNvSpPr/>
          <p:nvPr/>
        </p:nvSpPr>
        <p:spPr>
          <a:xfrm>
            <a:off x="4602480" y="2103120"/>
            <a:ext cx="868680" cy="868680"/>
          </a:xfrm>
          <a:prstGeom prst="ellipse">
            <a:avLst/>
          </a:prstGeom>
          <a:solidFill>
            <a:schemeClr val="accent1"/>
          </a:solidFill>
          <a:ln w="12700">
            <a:solidFill>
              <a:schemeClr val="accent1"/>
            </a:solidFill>
            <a:prstDash val="solid"/>
          </a:ln>
        </p:spPr>
      </p:sp>
      <p:pic>
        <p:nvPicPr>
          <p:cNvPr id="17" name="keepass Icon" descr="keepass">    </p:cNvPr>
          <p:cNvPicPr>
            <a:picLocks noChangeAspect="1"/>
          </p:cNvPicPr>
          <p:nvPr/>
        </p:nvPicPr>
        <p:blipFill>
          <a:blip r:embed="rId2"/>
          <a:stretch>
            <a:fillRect/>
          </a:stretch>
        </p:blipFill>
        <p:spPr>
          <a:xfrm>
            <a:off x="4810963" y="2311603"/>
            <a:ext cx="451714" cy="451714"/>
          </a:xfrm>
          <a:prstGeom prst="rect">
            <a:avLst/>
          </a:prstGeom>
        </p:spPr>
      </p:pic>
      <p:sp>
        <p:nvSpPr>
          <p:cNvPr id="18" name="Text 14"/>
          <p:cNvSpPr txBox="1"/>
          <p:nvPr/>
        </p:nvSpPr>
        <p:spPr>
          <a:xfrm>
            <a:off x="5654040" y="2103120"/>
            <a:ext cx="1950720" cy="868680"/>
          </a:xfrm>
          <a:prstGeom prst="rect">
            <a:avLst/>
          </a:prstGeom>
          <a:noFill/>
          <a:ln/>
        </p:spPr>
        <p:txBody>
          <a:bodyPr wrap="square" lIns="0" tIns="0" rIns="0" bIns="0" rtlCol="0" anchor="ctr"/>
          <a:lstStyle/>
          <a:p>
            <a:pPr indent="0" marL="0">
              <a:buNone/>
            </a:pPr>
            <a:r>
              <a:rPr lang="en-US" sz="2400" b="1" dirty="0">
                <a:solidFill>
                  <a:schemeClr val="tx2"/>
                </a:solidFill>
              </a:rPr>
              <a:t>KeePassXC</a:t>
            </a:r>
            <a:endParaRPr lang="en-US" sz="2400" dirty="0"/>
          </a:p>
        </p:txBody>
      </p:sp>
      <p:sp>
        <p:nvSpPr>
          <p:cNvPr id="19" name="Etikett Open Source"/>
          <p:cNvSpPr/>
          <p:nvPr/>
        </p:nvSpPr>
        <p:spPr>
          <a:xfrm>
            <a:off x="4602480" y="3154680"/>
            <a:ext cx="1149096" cy="292608"/>
          </a:xfrm>
          <a:prstGeom prst="roundRect">
            <a:avLst>
              <a:gd name="adj" fmla="val 50000"/>
            </a:avLst>
          </a:prstGeom>
          <a:solidFill>
            <a:schemeClr val="tx2"/>
          </a:solidFill>
          <a:ln w="12700">
            <a:solidFill>
              <a:schemeClr val="tx2"/>
            </a:solidFill>
            <a:prstDash val="solid"/>
          </a:ln>
        </p:spPr>
      </p:sp>
      <p:sp>
        <p:nvSpPr>
          <p:cNvPr id="20" name="Text 16"/>
          <p:cNvSpPr txBox="1"/>
          <p:nvPr/>
        </p:nvSpPr>
        <p:spPr>
          <a:xfrm>
            <a:off x="4602480" y="3154680"/>
            <a:ext cx="1149096" cy="292608"/>
          </a:xfrm>
          <a:prstGeom prst="rect">
            <a:avLst/>
          </a:prstGeom>
          <a:noFill/>
          <a:ln/>
        </p:spPr>
        <p:txBody>
          <a:bodyPr wrap="square" lIns="0" tIns="0" rIns="0" bIns="0" rtlCol="0" anchor="ctr"/>
          <a:lstStyle/>
          <a:p>
            <a:pPr algn="ctr" indent="0" marL="0">
              <a:buNone/>
            </a:pPr>
            <a:r>
              <a:rPr lang="en-US" sz="1200" b="1" dirty="0">
                <a:solidFill>
                  <a:schemeClr val="bg1"/>
                </a:solidFill>
              </a:rPr>
              <a:t>Open Source</a:t>
            </a:r>
            <a:endParaRPr lang="en-US" sz="1200" dirty="0"/>
          </a:p>
        </p:txBody>
      </p:sp>
      <p:sp>
        <p:nvSpPr>
          <p:cNvPr id="21" name="Etikett kostenlos"/>
          <p:cNvSpPr/>
          <p:nvPr/>
        </p:nvSpPr>
        <p:spPr>
          <a:xfrm>
            <a:off x="5861304" y="3154680"/>
            <a:ext cx="996696" cy="292608"/>
          </a:xfrm>
          <a:prstGeom prst="roundRect">
            <a:avLst>
              <a:gd name="adj" fmla="val 50000"/>
            </a:avLst>
          </a:prstGeom>
          <a:solidFill>
            <a:schemeClr val="tx2"/>
          </a:solidFill>
          <a:ln w="12700">
            <a:solidFill>
              <a:schemeClr val="tx2"/>
            </a:solidFill>
            <a:prstDash val="solid"/>
          </a:ln>
        </p:spPr>
      </p:sp>
      <p:sp>
        <p:nvSpPr>
          <p:cNvPr id="22" name="Text 18"/>
          <p:cNvSpPr txBox="1"/>
          <p:nvPr/>
        </p:nvSpPr>
        <p:spPr>
          <a:xfrm>
            <a:off x="5861304" y="3154680"/>
            <a:ext cx="996696" cy="292608"/>
          </a:xfrm>
          <a:prstGeom prst="rect">
            <a:avLst/>
          </a:prstGeom>
          <a:noFill/>
          <a:ln/>
        </p:spPr>
        <p:txBody>
          <a:bodyPr wrap="square" lIns="0" tIns="0" rIns="0" bIns="0" rtlCol="0" anchor="ctr"/>
          <a:lstStyle/>
          <a:p>
            <a:pPr algn="ctr" indent="0" marL="0">
              <a:buNone/>
            </a:pPr>
            <a:r>
              <a:rPr lang="en-US" sz="1200" b="1" dirty="0">
                <a:solidFill>
                  <a:schemeClr val="bg1"/>
                </a:solidFill>
              </a:rPr>
              <a:t>kostenlos</a:t>
            </a:r>
            <a:endParaRPr lang="en-US" sz="1200" dirty="0"/>
          </a:p>
        </p:txBody>
      </p:sp>
      <p:sp>
        <p:nvSpPr>
          <p:cNvPr id="23" name="Etikett ohne Cloud"/>
          <p:cNvSpPr/>
          <p:nvPr/>
        </p:nvSpPr>
        <p:spPr>
          <a:xfrm>
            <a:off x="4602480" y="3538728"/>
            <a:ext cx="1072896" cy="292608"/>
          </a:xfrm>
          <a:prstGeom prst="roundRect">
            <a:avLst>
              <a:gd name="adj" fmla="val 50000"/>
            </a:avLst>
          </a:prstGeom>
          <a:solidFill>
            <a:schemeClr val="tx2"/>
          </a:solidFill>
          <a:ln w="12700">
            <a:solidFill>
              <a:schemeClr val="tx2"/>
            </a:solidFill>
            <a:prstDash val="solid"/>
          </a:ln>
        </p:spPr>
      </p:sp>
      <p:sp>
        <p:nvSpPr>
          <p:cNvPr id="24" name="Text 20"/>
          <p:cNvSpPr txBox="1"/>
          <p:nvPr/>
        </p:nvSpPr>
        <p:spPr>
          <a:xfrm>
            <a:off x="4602480" y="3538728"/>
            <a:ext cx="1072896" cy="292608"/>
          </a:xfrm>
          <a:prstGeom prst="rect">
            <a:avLst/>
          </a:prstGeom>
          <a:noFill/>
          <a:ln/>
        </p:spPr>
        <p:txBody>
          <a:bodyPr wrap="square" lIns="0" tIns="0" rIns="0" bIns="0" rtlCol="0" anchor="ctr"/>
          <a:lstStyle/>
          <a:p>
            <a:pPr algn="ctr" indent="0" marL="0">
              <a:buNone/>
            </a:pPr>
            <a:r>
              <a:rPr lang="en-US" sz="1200" b="1" dirty="0">
                <a:solidFill>
                  <a:schemeClr val="bg1"/>
                </a:solidFill>
              </a:rPr>
              <a:t>ohne Cloud</a:t>
            </a:r>
            <a:endParaRPr lang="en-US" sz="1200" dirty="0"/>
          </a:p>
        </p:txBody>
      </p:sp>
      <p:sp>
        <p:nvSpPr>
          <p:cNvPr id="25" name="Text 21"/>
          <p:cNvSpPr txBox="1"/>
          <p:nvPr/>
        </p:nvSpPr>
        <p:spPr>
          <a:xfrm>
            <a:off x="4602480" y="4041648"/>
            <a:ext cx="2956560" cy="1216152"/>
          </a:xfrm>
          <a:prstGeom prst="rect">
            <a:avLst/>
          </a:prstGeom>
          <a:noFill/>
          <a:ln/>
        </p:spPr>
        <p:txBody>
          <a:bodyPr wrap="square" lIns="0" tIns="0" rIns="0" bIns="0" rtlCol="0" anchor="t"/>
          <a:lstStyle/>
          <a:p>
            <a:pPr indent="0" marL="0">
              <a:buNone/>
            </a:pPr>
            <a:r>
              <a:rPr lang="en-US" sz="1500" dirty="0">
                <a:solidFill>
                  <a:schemeClr val="tx1"/>
                </a:solidFill>
              </a:rPr>
              <a:t>Eine verschlüsselte Datei – bei dir. Handy: KeePassDX (Android), KeePassium (iPhone). Abgleich z. B. per Syncthing oder Nextcloud.</a:t>
            </a:r>
            <a:endParaRPr lang="en-US" sz="1500" dirty="0"/>
          </a:p>
        </p:txBody>
      </p:sp>
      <p:sp>
        <p:nvSpPr>
          <p:cNvPr id="26" name="App Proton Pass"/>
          <p:cNvSpPr/>
          <p:nvPr/>
        </p:nvSpPr>
        <p:spPr>
          <a:xfrm>
            <a:off x="8107680" y="1828800"/>
            <a:ext cx="3505200" cy="3611880"/>
          </a:xfrm>
          <a:prstGeom prst="roundRect">
            <a:avLst>
              <a:gd name="adj" fmla="val 3130"/>
            </a:avLst>
          </a:prstGeom>
          <a:solidFill>
            <a:schemeClr val="bg2"/>
          </a:solidFill>
          <a:ln w="12700">
            <a:solidFill>
              <a:schemeClr val="bg2"/>
            </a:solidFill>
            <a:prstDash val="solid"/>
          </a:ln>
        </p:spPr>
      </p:sp>
      <p:sp>
        <p:nvSpPr>
          <p:cNvPr id="27" name="proton Kreis"/>
          <p:cNvSpPr/>
          <p:nvPr/>
        </p:nvSpPr>
        <p:spPr>
          <a:xfrm>
            <a:off x="8382000" y="2103120"/>
            <a:ext cx="868680" cy="868680"/>
          </a:xfrm>
          <a:prstGeom prst="ellipse">
            <a:avLst/>
          </a:prstGeom>
          <a:solidFill>
            <a:schemeClr val="accent1"/>
          </a:solidFill>
          <a:ln w="12700">
            <a:solidFill>
              <a:schemeClr val="accent1"/>
            </a:solidFill>
            <a:prstDash val="solid"/>
          </a:ln>
        </p:spPr>
      </p:sp>
      <p:pic>
        <p:nvPicPr>
          <p:cNvPr id="28" name="proton Icon" descr="proton">    </p:cNvPr>
          <p:cNvPicPr>
            <a:picLocks noChangeAspect="1"/>
          </p:cNvPicPr>
          <p:nvPr/>
        </p:nvPicPr>
        <p:blipFill>
          <a:blip r:embed="rId3"/>
          <a:stretch>
            <a:fillRect/>
          </a:stretch>
        </p:blipFill>
        <p:spPr>
          <a:xfrm>
            <a:off x="8590483" y="2311603"/>
            <a:ext cx="451714" cy="451714"/>
          </a:xfrm>
          <a:prstGeom prst="rect">
            <a:avLst/>
          </a:prstGeom>
        </p:spPr>
      </p:pic>
      <p:sp>
        <p:nvSpPr>
          <p:cNvPr id="29" name="Text 24"/>
          <p:cNvSpPr txBox="1"/>
          <p:nvPr/>
        </p:nvSpPr>
        <p:spPr>
          <a:xfrm>
            <a:off x="9433560" y="2103120"/>
            <a:ext cx="1950720" cy="868680"/>
          </a:xfrm>
          <a:prstGeom prst="rect">
            <a:avLst/>
          </a:prstGeom>
          <a:noFill/>
          <a:ln/>
        </p:spPr>
        <p:txBody>
          <a:bodyPr wrap="square" lIns="0" tIns="0" rIns="0" bIns="0" rtlCol="0" anchor="ctr"/>
          <a:lstStyle/>
          <a:p>
            <a:pPr indent="0" marL="0">
              <a:buNone/>
            </a:pPr>
            <a:r>
              <a:rPr lang="en-US" sz="2400" b="1" dirty="0">
                <a:solidFill>
                  <a:schemeClr val="tx2"/>
                </a:solidFill>
              </a:rPr>
              <a:t>Proton Pass</a:t>
            </a:r>
            <a:endParaRPr lang="en-US" sz="2400" dirty="0"/>
          </a:p>
        </p:txBody>
      </p:sp>
      <p:sp>
        <p:nvSpPr>
          <p:cNvPr id="30" name="Etikett Open Source"/>
          <p:cNvSpPr/>
          <p:nvPr/>
        </p:nvSpPr>
        <p:spPr>
          <a:xfrm>
            <a:off x="8382000" y="3154680"/>
            <a:ext cx="1149096" cy="292608"/>
          </a:xfrm>
          <a:prstGeom prst="roundRect">
            <a:avLst>
              <a:gd name="adj" fmla="val 50000"/>
            </a:avLst>
          </a:prstGeom>
          <a:solidFill>
            <a:schemeClr val="tx2"/>
          </a:solidFill>
          <a:ln w="12700">
            <a:solidFill>
              <a:schemeClr val="tx2"/>
            </a:solidFill>
            <a:prstDash val="solid"/>
          </a:ln>
        </p:spPr>
      </p:sp>
      <p:sp>
        <p:nvSpPr>
          <p:cNvPr id="31" name="Text 26"/>
          <p:cNvSpPr txBox="1"/>
          <p:nvPr/>
        </p:nvSpPr>
        <p:spPr>
          <a:xfrm>
            <a:off x="8382000" y="3154680"/>
            <a:ext cx="1149096" cy="292608"/>
          </a:xfrm>
          <a:prstGeom prst="rect">
            <a:avLst/>
          </a:prstGeom>
          <a:noFill/>
          <a:ln/>
        </p:spPr>
        <p:txBody>
          <a:bodyPr wrap="square" lIns="0" tIns="0" rIns="0" bIns="0" rtlCol="0" anchor="ctr"/>
          <a:lstStyle/>
          <a:p>
            <a:pPr algn="ctr" indent="0" marL="0">
              <a:buNone/>
            </a:pPr>
            <a:r>
              <a:rPr lang="en-US" sz="1200" b="1" dirty="0">
                <a:solidFill>
                  <a:schemeClr val="bg1"/>
                </a:solidFill>
              </a:rPr>
              <a:t>Open Source</a:t>
            </a:r>
            <a:endParaRPr lang="en-US" sz="1200" dirty="0"/>
          </a:p>
        </p:txBody>
      </p:sp>
      <p:sp>
        <p:nvSpPr>
          <p:cNvPr id="32" name="Etikett Schweiz"/>
          <p:cNvSpPr/>
          <p:nvPr/>
        </p:nvSpPr>
        <p:spPr>
          <a:xfrm>
            <a:off x="9640824" y="3154680"/>
            <a:ext cx="844296" cy="292608"/>
          </a:xfrm>
          <a:prstGeom prst="roundRect">
            <a:avLst>
              <a:gd name="adj" fmla="val 50000"/>
            </a:avLst>
          </a:prstGeom>
          <a:solidFill>
            <a:schemeClr val="tx2"/>
          </a:solidFill>
          <a:ln w="12700">
            <a:solidFill>
              <a:schemeClr val="tx2"/>
            </a:solidFill>
            <a:prstDash val="solid"/>
          </a:ln>
        </p:spPr>
      </p:sp>
      <p:sp>
        <p:nvSpPr>
          <p:cNvPr id="33" name="Text 28"/>
          <p:cNvSpPr txBox="1"/>
          <p:nvPr/>
        </p:nvSpPr>
        <p:spPr>
          <a:xfrm>
            <a:off x="9640824" y="3154680"/>
            <a:ext cx="844296" cy="292608"/>
          </a:xfrm>
          <a:prstGeom prst="rect">
            <a:avLst/>
          </a:prstGeom>
          <a:noFill/>
          <a:ln/>
        </p:spPr>
        <p:txBody>
          <a:bodyPr wrap="square" lIns="0" tIns="0" rIns="0" bIns="0" rtlCol="0" anchor="ctr"/>
          <a:lstStyle/>
          <a:p>
            <a:pPr algn="ctr" indent="0" marL="0">
              <a:buNone/>
            </a:pPr>
            <a:r>
              <a:rPr lang="en-US" sz="1200" b="1" dirty="0">
                <a:solidFill>
                  <a:schemeClr val="bg1"/>
                </a:solidFill>
              </a:rPr>
              <a:t>Schweiz</a:t>
            </a:r>
            <a:endParaRPr lang="en-US" sz="1200" dirty="0"/>
          </a:p>
        </p:txBody>
      </p:sp>
      <p:sp>
        <p:nvSpPr>
          <p:cNvPr id="34" name="Etikett Gratis-Version"/>
          <p:cNvSpPr/>
          <p:nvPr/>
        </p:nvSpPr>
        <p:spPr>
          <a:xfrm>
            <a:off x="8382000" y="3538728"/>
            <a:ext cx="1377696" cy="292608"/>
          </a:xfrm>
          <a:prstGeom prst="roundRect">
            <a:avLst>
              <a:gd name="adj" fmla="val 50000"/>
            </a:avLst>
          </a:prstGeom>
          <a:solidFill>
            <a:schemeClr val="tx2"/>
          </a:solidFill>
          <a:ln w="12700">
            <a:solidFill>
              <a:schemeClr val="tx2"/>
            </a:solidFill>
            <a:prstDash val="solid"/>
          </a:ln>
        </p:spPr>
      </p:sp>
      <p:sp>
        <p:nvSpPr>
          <p:cNvPr id="35" name="Text 30"/>
          <p:cNvSpPr txBox="1"/>
          <p:nvPr/>
        </p:nvSpPr>
        <p:spPr>
          <a:xfrm>
            <a:off x="8382000" y="3538728"/>
            <a:ext cx="1377696" cy="292608"/>
          </a:xfrm>
          <a:prstGeom prst="rect">
            <a:avLst/>
          </a:prstGeom>
          <a:noFill/>
          <a:ln/>
        </p:spPr>
        <p:txBody>
          <a:bodyPr wrap="square" lIns="0" tIns="0" rIns="0" bIns="0" rtlCol="0" anchor="ctr"/>
          <a:lstStyle/>
          <a:p>
            <a:pPr algn="ctr" indent="0" marL="0">
              <a:buNone/>
            </a:pPr>
            <a:r>
              <a:rPr lang="en-US" sz="1200" b="1" dirty="0">
                <a:solidFill>
                  <a:schemeClr val="bg1"/>
                </a:solidFill>
              </a:rPr>
              <a:t>Gratis-Version</a:t>
            </a:r>
            <a:endParaRPr lang="en-US" sz="1200" dirty="0"/>
          </a:p>
        </p:txBody>
      </p:sp>
      <p:sp>
        <p:nvSpPr>
          <p:cNvPr id="36" name="Text 31"/>
          <p:cNvSpPr txBox="1"/>
          <p:nvPr/>
        </p:nvSpPr>
        <p:spPr>
          <a:xfrm>
            <a:off x="8382000" y="4041648"/>
            <a:ext cx="2956560" cy="1216152"/>
          </a:xfrm>
          <a:prstGeom prst="rect">
            <a:avLst/>
          </a:prstGeom>
          <a:noFill/>
          <a:ln/>
        </p:spPr>
        <p:txBody>
          <a:bodyPr wrap="square" lIns="0" tIns="0" rIns="0" bIns="0" rtlCol="0" anchor="t"/>
          <a:lstStyle/>
          <a:p>
            <a:pPr indent="0" marL="0">
              <a:buNone/>
            </a:pPr>
            <a:r>
              <a:rPr lang="en-US" sz="1500" dirty="0">
                <a:solidFill>
                  <a:schemeClr val="tx1"/>
                </a:solidFill>
              </a:rPr>
              <a:t>Gleicht verschlüsselt über die Proton-Cloud ab. Apps für Handy, Computer und Browser.</a:t>
            </a:r>
            <a:endParaRPr lang="en-US" sz="1500" dirty="0"/>
          </a:p>
        </p:txBody>
      </p:sp>
      <p:sp>
        <p:nvSpPr>
          <p:cNvPr id="37" name="Text 32"/>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Auch bei di.day genannt: Sticky Password, 1Password, Dashlane. Nicht empfohlen: LastPass.</a:t>
            </a:r>
            <a:endParaRPr lang="en-US" sz="1200" dirty="0"/>
          </a:p>
        </p:txBody>
      </p:sp>
      <p:sp>
        <p:nvSpPr>
          <p:cNvPr id="38"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4"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pPr indent="0" marL="0">
              <a:buNone/>
            </a:pPr>
            <a:r>
              <a:rPr lang="en-US" sz="900" dirty="0">
                <a:solidFill>
                  <a:schemeClr val="accent6"/>
                </a:solidFill>
              </a:rPr>
              <a:t> · </a:t>
            </a:r>
            <a:pPr indent="0" marL="0">
              <a:buNone/>
            </a:pPr>
            <a:r>
              <a:rPr lang="en-US" sz="900" u="sng" dirty="0">
                <a:solidFill>
                  <a:schemeClr val="accent6"/>
                </a:solidFill>
                <a:hlinkClick r:id="rId5" invalidUrl="" action="" tgtFrame="" tooltip="Bitwarden – Startseite" history="1" highlightClick="0" endSnd="0">
                  <a:extLst>
                    <a:ext uri="{A12FA001-AC4F-418D-AE19-62706E023703}">
                      <ahyp:hlinkClr xmlns:ahyp="http://schemas.microsoft.com/office/drawing/2018/hyperlinkcolor" val="tx"/>
                    </a:ext>
                  </a:extLst>
                </a:hlinkClick>
              </a:rPr>
              <a:t>[22] bitwarden.com</a:t>
            </a:r>
            <a:pPr indent="0" marL="0">
              <a:buNone/>
            </a:pPr>
            <a:r>
              <a:rPr lang="en-US" sz="900" dirty="0">
                <a:solidFill>
                  <a:schemeClr val="accent6"/>
                </a:solidFill>
              </a:rPr>
              <a:t> · </a:t>
            </a:r>
            <a:pPr indent="0" marL="0">
              <a:buNone/>
            </a:pPr>
            <a:r>
              <a:rPr lang="en-US" sz="900" u="sng" dirty="0">
                <a:solidFill>
                  <a:schemeClr val="accent6"/>
                </a:solidFill>
                <a:hlinkClick r:id="rId6" invalidUrl="" action="" tgtFrame="" tooltip="Bitwarden-Hilfe – Server-Regionen (USA und EU)" history="1" highlightClick="0" endSnd="0">
                  <a:extLst>
                    <a:ext uri="{A12FA001-AC4F-418D-AE19-62706E023703}">
                      <ahyp:hlinkClr xmlns:ahyp="http://schemas.microsoft.com/office/drawing/2018/hyperlinkcolor" val="tx"/>
                    </a:ext>
                  </a:extLst>
                </a:hlinkClick>
              </a:rPr>
              <a:t>[23] Bitwarden EU-Region</a:t>
            </a:r>
            <a:pPr indent="0" marL="0">
              <a:buNone/>
            </a:pPr>
            <a:r>
              <a:rPr lang="en-US" sz="900" dirty="0">
                <a:solidFill>
                  <a:schemeClr val="accent6"/>
                </a:solidFill>
              </a:rPr>
              <a:t> · </a:t>
            </a:r>
            <a:pPr indent="0" marL="0">
              <a:buNone/>
            </a:pPr>
            <a:r>
              <a:rPr lang="en-US" sz="900" u="sng" dirty="0">
                <a:solidFill>
                  <a:schemeClr val="accent6"/>
                </a:solidFill>
                <a:hlinkClick r:id="rId7" invalidUrl="" action="" tgtFrame="" tooltip="Vaultwarden – selbst gehosteter Bitwarden-kompatibler Server (GitHub)" history="1" highlightClick="0" endSnd="0">
                  <a:extLst>
                    <a:ext uri="{A12FA001-AC4F-418D-AE19-62706E023703}">
                      <ahyp:hlinkClr xmlns:ahyp="http://schemas.microsoft.com/office/drawing/2018/hyperlinkcolor" val="tx"/>
                    </a:ext>
                  </a:extLst>
                </a:hlinkClick>
              </a:rPr>
              <a:t>[24] Vaultwarden</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KeePassXC – Startseite" history="1" highlightClick="0" endSnd="0">
                  <a:extLst>
                    <a:ext uri="{A12FA001-AC4F-418D-AE19-62706E023703}">
                      <ahyp:hlinkClr xmlns:ahyp="http://schemas.microsoft.com/office/drawing/2018/hyperlinkcolor" val="tx"/>
                    </a:ext>
                  </a:extLst>
                </a:hlinkClick>
              </a:rPr>
              <a:t>[25] keepassxc.org</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Proton Pass – Startseite" history="1" highlightClick="0" endSnd="0">
                  <a:extLst>
                    <a:ext uri="{A12FA001-AC4F-418D-AE19-62706E023703}">
                      <ahyp:hlinkClr xmlns:ahyp="http://schemas.microsoft.com/office/drawing/2018/hyperlinkcolor" val="tx"/>
                    </a:ext>
                  </a:extLst>
                </a:hlinkClick>
              </a:rPr>
              <a:t>[26] Proton Pass</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Umziehen in vier Schritten</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So kommst du vom Browser oder alten Manager in eine neue App – in etwa 30 Minuten.</a:t>
            </a:r>
            <a:endParaRPr lang="en-US" sz="1500" dirty="0"/>
          </a:p>
        </p:txBody>
      </p:sp>
      <p:sp>
        <p:nvSpPr>
          <p:cNvPr id="4" name="Verbindung Schritte"/>
          <p:cNvSpPr/>
          <p:nvPr/>
        </p:nvSpPr>
        <p:spPr>
          <a:xfrm>
            <a:off x="1828800" y="2286000"/>
            <a:ext cx="8503920" cy="0"/>
          </a:xfrm>
          <a:prstGeom prst="line">
            <a:avLst/>
          </a:prstGeom>
          <a:noFill/>
          <a:ln w="38100">
            <a:solidFill>
              <a:schemeClr val="accent5"/>
            </a:solidFill>
            <a:prstDash val="solid"/>
          </a:ln>
        </p:spPr>
      </p:sp>
      <p:sp>
        <p:nvSpPr>
          <p:cNvPr id="5" name="Schritt 1 Kreis"/>
          <p:cNvSpPr/>
          <p:nvPr/>
        </p:nvSpPr>
        <p:spPr>
          <a:xfrm>
            <a:off x="1417320" y="1874520"/>
            <a:ext cx="822960" cy="822960"/>
          </a:xfrm>
          <a:prstGeom prst="ellipse">
            <a:avLst/>
          </a:prstGeom>
          <a:solidFill>
            <a:schemeClr val="tx2"/>
          </a:solidFill>
          <a:ln w="12700">
            <a:solidFill>
              <a:schemeClr val="tx2"/>
            </a:solidFill>
            <a:prstDash val="solid"/>
          </a:ln>
        </p:spPr>
      </p:sp>
      <p:sp>
        <p:nvSpPr>
          <p:cNvPr id="6" name="Text 4"/>
          <p:cNvSpPr txBox="1"/>
          <p:nvPr/>
        </p:nvSpPr>
        <p:spPr>
          <a:xfrm>
            <a:off x="1417320" y="18745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7" name="Schritt 1 Karte"/>
          <p:cNvSpPr/>
          <p:nvPr/>
        </p:nvSpPr>
        <p:spPr>
          <a:xfrm>
            <a:off x="548640" y="2971800"/>
            <a:ext cx="2560320" cy="219456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777240" y="3108960"/>
            <a:ext cx="2103120" cy="960120"/>
          </a:xfrm>
          <a:prstGeom prst="rect">
            <a:avLst/>
          </a:prstGeom>
          <a:noFill/>
          <a:ln/>
        </p:spPr>
        <p:txBody>
          <a:bodyPr wrap="square" lIns="0" tIns="0" rIns="0" bIns="0" rtlCol="0" anchor="t"/>
          <a:lstStyle/>
          <a:p>
            <a:pPr indent="0" marL="0">
              <a:buNone/>
            </a:pPr>
            <a:r>
              <a:rPr lang="en-US" sz="1800" b="1" dirty="0">
                <a:solidFill>
                  <a:schemeClr val="tx2"/>
                </a:solidFill>
              </a:rPr>
              <a:t>App aussuchen</a:t>
            </a:r>
            <a:endParaRPr lang="en-US" sz="1800" dirty="0"/>
          </a:p>
        </p:txBody>
      </p:sp>
      <p:sp>
        <p:nvSpPr>
          <p:cNvPr id="9" name="Text 7"/>
          <p:cNvSpPr txBox="1"/>
          <p:nvPr/>
        </p:nvSpPr>
        <p:spPr>
          <a:xfrm>
            <a:off x="77724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Installieren – am besten zuerst auf dem Handy.</a:t>
            </a:r>
            <a:endParaRPr lang="en-US" sz="1400" dirty="0"/>
          </a:p>
        </p:txBody>
      </p:sp>
      <p:sp>
        <p:nvSpPr>
          <p:cNvPr id="10" name="Schritt 2 Kreis"/>
          <p:cNvSpPr/>
          <p:nvPr/>
        </p:nvSpPr>
        <p:spPr>
          <a:xfrm>
            <a:off x="4251960" y="1874520"/>
            <a:ext cx="822960" cy="822960"/>
          </a:xfrm>
          <a:prstGeom prst="ellipse">
            <a:avLst/>
          </a:prstGeom>
          <a:solidFill>
            <a:schemeClr val="tx2"/>
          </a:solidFill>
          <a:ln w="12700">
            <a:solidFill>
              <a:schemeClr val="tx2"/>
            </a:solidFill>
            <a:prstDash val="solid"/>
          </a:ln>
        </p:spPr>
      </p:sp>
      <p:sp>
        <p:nvSpPr>
          <p:cNvPr id="11" name="Text 9"/>
          <p:cNvSpPr txBox="1"/>
          <p:nvPr/>
        </p:nvSpPr>
        <p:spPr>
          <a:xfrm>
            <a:off x="4251960" y="18745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2" name="Schritt 2 Karte"/>
          <p:cNvSpPr/>
          <p:nvPr/>
        </p:nvSpPr>
        <p:spPr>
          <a:xfrm>
            <a:off x="3383280" y="2971800"/>
            <a:ext cx="2560320" cy="2194560"/>
          </a:xfrm>
          <a:prstGeom prst="roundRect">
            <a:avLst>
              <a:gd name="adj" fmla="val 5000"/>
            </a:avLst>
          </a:prstGeom>
          <a:solidFill>
            <a:schemeClr val="bg2"/>
          </a:solidFill>
          <a:ln w="12700">
            <a:solidFill>
              <a:schemeClr val="bg2"/>
            </a:solidFill>
            <a:prstDash val="solid"/>
          </a:ln>
        </p:spPr>
      </p:sp>
      <p:sp>
        <p:nvSpPr>
          <p:cNvPr id="13" name="Text 11"/>
          <p:cNvSpPr txBox="1"/>
          <p:nvPr/>
        </p:nvSpPr>
        <p:spPr>
          <a:xfrm>
            <a:off x="3611880" y="3108960"/>
            <a:ext cx="2103120" cy="960120"/>
          </a:xfrm>
          <a:prstGeom prst="rect">
            <a:avLst/>
          </a:prstGeom>
          <a:noFill/>
          <a:ln/>
        </p:spPr>
        <p:txBody>
          <a:bodyPr wrap="square" lIns="0" tIns="0" rIns="0" bIns="0" rtlCol="0" anchor="t"/>
          <a:lstStyle/>
          <a:p>
            <a:pPr indent="0" marL="0">
              <a:buNone/>
            </a:pPr>
            <a:r>
              <a:rPr lang="en-US" sz="1800" b="1" dirty="0">
                <a:solidFill>
                  <a:schemeClr val="tx2"/>
                </a:solidFill>
              </a:rPr>
              <a:t>Master-Passwort festlegen</a:t>
            </a:r>
            <a:endParaRPr lang="en-US" sz="1800" dirty="0"/>
          </a:p>
        </p:txBody>
      </p:sp>
      <p:sp>
        <p:nvSpPr>
          <p:cNvPr id="14" name="Text 12"/>
          <p:cNvSpPr txBox="1"/>
          <p:nvPr/>
        </p:nvSpPr>
        <p:spPr>
          <a:xfrm>
            <a:off x="361188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Lang und merkbar. Auf Papier an einem sicheren Ort aufheben.</a:t>
            </a:r>
            <a:endParaRPr lang="en-US" sz="1400" dirty="0"/>
          </a:p>
        </p:txBody>
      </p:sp>
      <p:sp>
        <p:nvSpPr>
          <p:cNvPr id="15" name="Schritt 3 Kreis"/>
          <p:cNvSpPr/>
          <p:nvPr/>
        </p:nvSpPr>
        <p:spPr>
          <a:xfrm>
            <a:off x="7086600" y="1874520"/>
            <a:ext cx="822960" cy="822960"/>
          </a:xfrm>
          <a:prstGeom prst="ellipse">
            <a:avLst/>
          </a:prstGeom>
          <a:solidFill>
            <a:schemeClr val="tx2"/>
          </a:solidFill>
          <a:ln w="12700">
            <a:solidFill>
              <a:schemeClr val="tx2"/>
            </a:solidFill>
            <a:prstDash val="solid"/>
          </a:ln>
        </p:spPr>
      </p:sp>
      <p:sp>
        <p:nvSpPr>
          <p:cNvPr id="16" name="Text 14"/>
          <p:cNvSpPr txBox="1"/>
          <p:nvPr/>
        </p:nvSpPr>
        <p:spPr>
          <a:xfrm>
            <a:off x="7086600" y="18745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7" name="Schritt 3 Karte"/>
          <p:cNvSpPr/>
          <p:nvPr/>
        </p:nvSpPr>
        <p:spPr>
          <a:xfrm>
            <a:off x="6217920" y="2971800"/>
            <a:ext cx="2560320" cy="2194560"/>
          </a:xfrm>
          <a:prstGeom prst="roundRect">
            <a:avLst>
              <a:gd name="adj" fmla="val 5000"/>
            </a:avLst>
          </a:prstGeom>
          <a:solidFill>
            <a:schemeClr val="bg2"/>
          </a:solidFill>
          <a:ln w="12700">
            <a:solidFill>
              <a:schemeClr val="bg2"/>
            </a:solidFill>
            <a:prstDash val="solid"/>
          </a:ln>
        </p:spPr>
      </p:sp>
      <p:sp>
        <p:nvSpPr>
          <p:cNvPr id="18" name="Text 16"/>
          <p:cNvSpPr txBox="1"/>
          <p:nvPr/>
        </p:nvSpPr>
        <p:spPr>
          <a:xfrm>
            <a:off x="6446520" y="3108960"/>
            <a:ext cx="2103120" cy="960120"/>
          </a:xfrm>
          <a:prstGeom prst="rect">
            <a:avLst/>
          </a:prstGeom>
          <a:noFill/>
          <a:ln/>
        </p:spPr>
        <p:txBody>
          <a:bodyPr wrap="square" lIns="0" tIns="0" rIns="0" bIns="0" rtlCol="0" anchor="t"/>
          <a:lstStyle/>
          <a:p>
            <a:pPr indent="0" marL="0">
              <a:buNone/>
            </a:pPr>
            <a:r>
              <a:rPr lang="en-US" sz="1800" b="1" dirty="0">
                <a:solidFill>
                  <a:schemeClr val="tx2"/>
                </a:solidFill>
              </a:rPr>
              <a:t>Passwörter umziehen</a:t>
            </a:r>
            <a:endParaRPr lang="en-US" sz="1800" dirty="0"/>
          </a:p>
        </p:txBody>
      </p:sp>
      <p:sp>
        <p:nvSpPr>
          <p:cNvPr id="19" name="Text 17"/>
          <p:cNvSpPr txBox="1"/>
          <p:nvPr/>
        </p:nvSpPr>
        <p:spPr>
          <a:xfrm>
            <a:off x="644652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Im Browser als CSV-Datei exportieren und in der neuen App importieren.</a:t>
            </a:r>
            <a:endParaRPr lang="en-US" sz="1400" dirty="0"/>
          </a:p>
        </p:txBody>
      </p:sp>
      <p:sp>
        <p:nvSpPr>
          <p:cNvPr id="20" name="Schritt 4 Kreis"/>
          <p:cNvSpPr/>
          <p:nvPr/>
        </p:nvSpPr>
        <p:spPr>
          <a:xfrm>
            <a:off x="9921240" y="1874520"/>
            <a:ext cx="822960" cy="822960"/>
          </a:xfrm>
          <a:prstGeom prst="ellipse">
            <a:avLst/>
          </a:prstGeom>
          <a:solidFill>
            <a:schemeClr val="accent3"/>
          </a:solidFill>
          <a:ln w="12700">
            <a:solidFill>
              <a:schemeClr val="accent3"/>
            </a:solidFill>
            <a:prstDash val="solid"/>
          </a:ln>
        </p:spPr>
      </p:sp>
      <p:sp>
        <p:nvSpPr>
          <p:cNvPr id="21" name="Text 19"/>
          <p:cNvSpPr txBox="1"/>
          <p:nvPr/>
        </p:nvSpPr>
        <p:spPr>
          <a:xfrm>
            <a:off x="9921240" y="18745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22" name="Schritt 4 Karte"/>
          <p:cNvSpPr/>
          <p:nvPr/>
        </p:nvSpPr>
        <p:spPr>
          <a:xfrm>
            <a:off x="9052560" y="2971800"/>
            <a:ext cx="2560320" cy="2194560"/>
          </a:xfrm>
          <a:prstGeom prst="roundRect">
            <a:avLst>
              <a:gd name="adj" fmla="val 5000"/>
            </a:avLst>
          </a:prstGeom>
          <a:solidFill>
            <a:schemeClr val="bg2"/>
          </a:solidFill>
          <a:ln w="12700">
            <a:solidFill>
              <a:schemeClr val="bg2"/>
            </a:solidFill>
            <a:prstDash val="solid"/>
          </a:ln>
        </p:spPr>
      </p:sp>
      <p:sp>
        <p:nvSpPr>
          <p:cNvPr id="23" name="Text 21"/>
          <p:cNvSpPr txBox="1"/>
          <p:nvPr/>
        </p:nvSpPr>
        <p:spPr>
          <a:xfrm>
            <a:off x="9281160" y="3108960"/>
            <a:ext cx="2103120" cy="960120"/>
          </a:xfrm>
          <a:prstGeom prst="rect">
            <a:avLst/>
          </a:prstGeom>
          <a:noFill/>
          <a:ln/>
        </p:spPr>
        <p:txBody>
          <a:bodyPr wrap="square" lIns="0" tIns="0" rIns="0" bIns="0" rtlCol="0" anchor="t"/>
          <a:lstStyle/>
          <a:p>
            <a:pPr indent="0" marL="0">
              <a:buNone/>
            </a:pPr>
            <a:r>
              <a:rPr lang="en-US" sz="1800" b="1" dirty="0">
                <a:solidFill>
                  <a:schemeClr val="accent3"/>
                </a:solidFill>
              </a:rPr>
              <a:t>CSV-Datei löschen!</a:t>
            </a:r>
            <a:endParaRPr lang="en-US" sz="1800" dirty="0"/>
          </a:p>
        </p:txBody>
      </p:sp>
      <p:sp>
        <p:nvSpPr>
          <p:cNvPr id="24" name="Text 22"/>
          <p:cNvSpPr txBox="1"/>
          <p:nvPr/>
        </p:nvSpPr>
        <p:spPr>
          <a:xfrm>
            <a:off x="928116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Darin stehen alle Passwörter lesbar. Auch aus dem Papierkorb löschen.</a:t>
            </a:r>
            <a:endParaRPr lang="en-US" sz="1400" dirty="0"/>
          </a:p>
        </p:txBody>
      </p:sp>
      <p:sp>
        <p:nvSpPr>
          <p:cNvPr id="25" name="drive Kreis"/>
          <p:cNvSpPr/>
          <p:nvPr/>
        </p:nvSpPr>
        <p:spPr>
          <a:xfrm>
            <a:off x="548640" y="5303520"/>
            <a:ext cx="685800" cy="685800"/>
          </a:xfrm>
          <a:prstGeom prst="ellipse">
            <a:avLst/>
          </a:prstGeom>
          <a:solidFill>
            <a:schemeClr val="accent1"/>
          </a:solidFill>
          <a:ln w="12700">
            <a:solidFill>
              <a:schemeClr val="accent1"/>
            </a:solidFill>
            <a:prstDash val="solid"/>
          </a:ln>
        </p:spPr>
      </p:sp>
      <p:pic>
        <p:nvPicPr>
          <p:cNvPr id="26" name="drive Icon" descr="drive">    </p:cNvPr>
          <p:cNvPicPr>
            <a:picLocks noChangeAspect="1"/>
          </p:cNvPicPr>
          <p:nvPr/>
        </p:nvPicPr>
        <p:blipFill>
          <a:blip r:embed="rId1"/>
          <a:stretch>
            <a:fillRect/>
          </a:stretch>
        </p:blipFill>
        <p:spPr>
          <a:xfrm>
            <a:off x="713232" y="5468112"/>
            <a:ext cx="356616" cy="356616"/>
          </a:xfrm>
          <a:prstGeom prst="rect">
            <a:avLst/>
          </a:prstGeom>
        </p:spPr>
      </p:pic>
      <p:sp>
        <p:nvSpPr>
          <p:cNvPr id="27" name="Text 24"/>
          <p:cNvSpPr txBox="1"/>
          <p:nvPr/>
        </p:nvSpPr>
        <p:spPr>
          <a:xfrm>
            <a:off x="1463040" y="5303520"/>
            <a:ext cx="10149840" cy="685800"/>
          </a:xfrm>
          <a:prstGeom prst="rect">
            <a:avLst/>
          </a:prstGeom>
          <a:noFill/>
          <a:ln/>
        </p:spPr>
        <p:txBody>
          <a:bodyPr wrap="square" lIns="0" tIns="0" rIns="0" bIns="0" rtlCol="0" anchor="ctr"/>
          <a:lstStyle/>
          <a:p>
            <a:pPr indent="0" marL="0">
              <a:buNone/>
            </a:pPr>
            <a:r>
              <a:rPr lang="en-US" sz="1700" b="1" dirty="0">
                <a:solidFill>
                  <a:schemeClr val="tx2"/>
                </a:solidFill>
              </a:rPr>
              <a:t>Tipp: </a:t>
            </a:r>
            <a:pPr indent="0" marL="0">
              <a:buNone/>
            </a:pPr>
            <a:r>
              <a:rPr lang="en-US" sz="1700" dirty="0">
                <a:solidFill>
                  <a:schemeClr val="tx1"/>
                </a:solidFill>
              </a:rPr>
              <a:t>Ab und zu ein Backup auf USB-Stick oder externe Festplatte. Danach: Zwei-Faktor einschalten – dazu gleich mehr.</a:t>
            </a:r>
            <a:endParaRPr lang="en-US" sz="1700" dirty="0"/>
          </a:p>
        </p:txBody>
      </p:sp>
      <p:sp>
        <p:nvSpPr>
          <p:cNvPr id="28"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2"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Das Master-Passwort: lang schlägt kompliziert</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Das BSI sagt: „Je länger, desto besser.“ Ab 25 Zeichen darf ein Passwort einfach sein.</a:t>
            </a:r>
            <a:endParaRPr lang="en-US" sz="1500" dirty="0"/>
          </a:p>
        </p:txBody>
      </p:sp>
      <p:sp>
        <p:nvSpPr>
          <p:cNvPr id="4" name="Beispiel schlecht"/>
          <p:cNvSpPr/>
          <p:nvPr/>
        </p:nvSpPr>
        <p:spPr>
          <a:xfrm>
            <a:off x="548640" y="1828800"/>
            <a:ext cx="5394960" cy="2240280"/>
          </a:xfrm>
          <a:prstGeom prst="roundRect">
            <a:avLst>
              <a:gd name="adj" fmla="val 4898"/>
            </a:avLst>
          </a:prstGeom>
          <a:solidFill>
            <a:schemeClr val="bg2"/>
          </a:solidFill>
          <a:ln w="12700">
            <a:solidFill>
              <a:schemeClr val="bg2"/>
            </a:solidFill>
            <a:prstDash val="solid"/>
          </a:ln>
        </p:spPr>
      </p:sp>
      <p:sp>
        <p:nvSpPr>
          <p:cNvPr id="5" name="Etikett schlecht"/>
          <p:cNvSpPr/>
          <p:nvPr/>
        </p:nvSpPr>
        <p:spPr>
          <a:xfrm>
            <a:off x="822960" y="2057400"/>
            <a:ext cx="971296" cy="292608"/>
          </a:xfrm>
          <a:prstGeom prst="roundRect">
            <a:avLst>
              <a:gd name="adj" fmla="val 50000"/>
            </a:avLst>
          </a:prstGeom>
          <a:solidFill>
            <a:schemeClr val="accent3"/>
          </a:solidFill>
          <a:ln w="12700">
            <a:solidFill>
              <a:schemeClr val="accent3"/>
            </a:solidFill>
            <a:prstDash val="solid"/>
          </a:ln>
        </p:spPr>
      </p:sp>
      <p:sp>
        <p:nvSpPr>
          <p:cNvPr id="6" name="Text 4"/>
          <p:cNvSpPr txBox="1"/>
          <p:nvPr/>
        </p:nvSpPr>
        <p:spPr>
          <a:xfrm>
            <a:off x="822960" y="2057400"/>
            <a:ext cx="971296" cy="292608"/>
          </a:xfrm>
          <a:prstGeom prst="rect">
            <a:avLst/>
          </a:prstGeom>
          <a:noFill/>
          <a:ln/>
        </p:spPr>
        <p:txBody>
          <a:bodyPr wrap="square" lIns="0" tIns="0" rIns="0" bIns="0" rtlCol="0" anchor="ctr"/>
          <a:lstStyle/>
          <a:p>
            <a:pPr algn="ctr" indent="0" marL="0">
              <a:buNone/>
            </a:pPr>
            <a:r>
              <a:rPr lang="en-US" sz="1300" b="1" dirty="0">
                <a:solidFill>
                  <a:schemeClr val="bg1"/>
                </a:solidFill>
              </a:rPr>
              <a:t>schlecht</a:t>
            </a:r>
            <a:endParaRPr lang="en-US" sz="1300" dirty="0"/>
          </a:p>
        </p:txBody>
      </p:sp>
      <p:sp>
        <p:nvSpPr>
          <p:cNvPr id="7" name="Text 5"/>
          <p:cNvSpPr txBox="1"/>
          <p:nvPr/>
        </p:nvSpPr>
        <p:spPr>
          <a:xfrm>
            <a:off x="822960" y="2514600"/>
            <a:ext cx="4846320" cy="73152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P@ssw0rt!</a:t>
            </a:r>
            <a:endParaRPr lang="en-US" sz="2000" dirty="0"/>
          </a:p>
        </p:txBody>
      </p:sp>
      <p:sp>
        <p:nvSpPr>
          <p:cNvPr id="8" name="Text 6"/>
          <p:cNvSpPr txBox="1"/>
          <p:nvPr/>
        </p:nvSpPr>
        <p:spPr>
          <a:xfrm>
            <a:off x="822960" y="3337560"/>
            <a:ext cx="4846320" cy="594360"/>
          </a:xfrm>
          <a:prstGeom prst="rect">
            <a:avLst/>
          </a:prstGeom>
          <a:noFill/>
          <a:ln/>
        </p:spPr>
        <p:txBody>
          <a:bodyPr wrap="square" lIns="0" tIns="0" rIns="0" bIns="0" rtlCol="0" anchor="t"/>
          <a:lstStyle/>
          <a:p>
            <a:pPr indent="0" marL="0">
              <a:buNone/>
            </a:pPr>
            <a:r>
              <a:rPr lang="en-US" sz="1600" dirty="0">
                <a:solidFill>
                  <a:schemeClr val="tx1"/>
                </a:solidFill>
              </a:rPr>
              <a:t>Sieht kompliziert aus – steht aber schon 42-mal in Datenlecks.</a:t>
            </a:r>
            <a:endParaRPr lang="en-US" sz="1600" dirty="0"/>
          </a:p>
        </p:txBody>
      </p:sp>
      <p:sp>
        <p:nvSpPr>
          <p:cNvPr id="9" name="Beispiel gut"/>
          <p:cNvSpPr/>
          <p:nvPr/>
        </p:nvSpPr>
        <p:spPr>
          <a:xfrm>
            <a:off x="6217920" y="1828800"/>
            <a:ext cx="5394960" cy="2240280"/>
          </a:xfrm>
          <a:prstGeom prst="roundRect">
            <a:avLst>
              <a:gd name="adj" fmla="val 4898"/>
            </a:avLst>
          </a:prstGeom>
          <a:solidFill>
            <a:schemeClr val="bg2"/>
          </a:solidFill>
          <a:ln w="12700">
            <a:solidFill>
              <a:schemeClr val="bg2"/>
            </a:solidFill>
            <a:prstDash val="solid"/>
          </a:ln>
        </p:spPr>
      </p:sp>
      <p:sp>
        <p:nvSpPr>
          <p:cNvPr id="10" name="Etikett gut"/>
          <p:cNvSpPr/>
          <p:nvPr/>
        </p:nvSpPr>
        <p:spPr>
          <a:xfrm>
            <a:off x="6492240" y="2057400"/>
            <a:ext cx="558546" cy="292608"/>
          </a:xfrm>
          <a:prstGeom prst="roundRect">
            <a:avLst>
              <a:gd name="adj" fmla="val 50000"/>
            </a:avLst>
          </a:prstGeom>
          <a:solidFill>
            <a:schemeClr val="accent4"/>
          </a:solidFill>
          <a:ln w="12700">
            <a:solidFill>
              <a:schemeClr val="accent4"/>
            </a:solidFill>
            <a:prstDash val="solid"/>
          </a:ln>
        </p:spPr>
      </p:sp>
      <p:sp>
        <p:nvSpPr>
          <p:cNvPr id="11" name="Text 9"/>
          <p:cNvSpPr txBox="1"/>
          <p:nvPr/>
        </p:nvSpPr>
        <p:spPr>
          <a:xfrm>
            <a:off x="6492240" y="2057400"/>
            <a:ext cx="558546" cy="292608"/>
          </a:xfrm>
          <a:prstGeom prst="rect">
            <a:avLst/>
          </a:prstGeom>
          <a:noFill/>
          <a:ln/>
        </p:spPr>
        <p:txBody>
          <a:bodyPr wrap="square" lIns="0" tIns="0" rIns="0" bIns="0" rtlCol="0" anchor="ctr"/>
          <a:lstStyle/>
          <a:p>
            <a:pPr algn="ctr" indent="0" marL="0">
              <a:buNone/>
            </a:pPr>
            <a:r>
              <a:rPr lang="en-US" sz="1300" b="1" dirty="0">
                <a:solidFill>
                  <a:schemeClr val="bg1"/>
                </a:solidFill>
              </a:rPr>
              <a:t>gut</a:t>
            </a:r>
            <a:endParaRPr lang="en-US" sz="1300" dirty="0"/>
          </a:p>
        </p:txBody>
      </p:sp>
      <p:sp>
        <p:nvSpPr>
          <p:cNvPr id="12" name="Text 10"/>
          <p:cNvSpPr txBox="1"/>
          <p:nvPr/>
        </p:nvSpPr>
        <p:spPr>
          <a:xfrm>
            <a:off x="6492240" y="2514600"/>
            <a:ext cx="4983480" cy="73152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tulpe-fahrrad-mond-kaffee-wolke</a:t>
            </a:r>
            <a:endParaRPr lang="en-US" sz="2000" dirty="0"/>
          </a:p>
        </p:txBody>
      </p:sp>
      <p:sp>
        <p:nvSpPr>
          <p:cNvPr id="13" name="Text 11"/>
          <p:cNvSpPr txBox="1"/>
          <p:nvPr/>
        </p:nvSpPr>
        <p:spPr>
          <a:xfrm>
            <a:off x="6492240" y="3337560"/>
            <a:ext cx="4846320" cy="594360"/>
          </a:xfrm>
          <a:prstGeom prst="rect">
            <a:avLst/>
          </a:prstGeom>
          <a:noFill/>
          <a:ln/>
        </p:spPr>
        <p:txBody>
          <a:bodyPr wrap="square" lIns="0" tIns="0" rIns="0" bIns="0" rtlCol="0" anchor="t"/>
          <a:lstStyle/>
          <a:p>
            <a:pPr indent="0" marL="0">
              <a:buNone/>
            </a:pPr>
            <a:r>
              <a:rPr lang="en-US" sz="1600" dirty="0">
                <a:solidFill>
                  <a:schemeClr val="tx1"/>
                </a:solidFill>
              </a:rPr>
              <a:t>5 zufällige Wörter, 31 Zeichen – lang und gut zu merken.</a:t>
            </a:r>
            <a:endParaRPr lang="en-US" sz="1600" dirty="0"/>
          </a:p>
        </p:txBody>
      </p:sp>
      <p:sp>
        <p:nvSpPr>
          <p:cNvPr id="14" name="dice Kreis"/>
          <p:cNvSpPr/>
          <p:nvPr/>
        </p:nvSpPr>
        <p:spPr>
          <a:xfrm>
            <a:off x="548640" y="4434840"/>
            <a:ext cx="731520" cy="731520"/>
          </a:xfrm>
          <a:prstGeom prst="ellipse">
            <a:avLst/>
          </a:prstGeom>
          <a:solidFill>
            <a:schemeClr val="accent1"/>
          </a:solidFill>
          <a:ln w="12700">
            <a:solidFill>
              <a:schemeClr val="accent1"/>
            </a:solidFill>
            <a:prstDash val="solid"/>
          </a:ln>
        </p:spPr>
      </p:sp>
      <p:pic>
        <p:nvPicPr>
          <p:cNvPr id="15" name="dice Icon" descr="dice">    </p:cNvPr>
          <p:cNvPicPr>
            <a:picLocks noChangeAspect="1"/>
          </p:cNvPicPr>
          <p:nvPr/>
        </p:nvPicPr>
        <p:blipFill>
          <a:blip r:embed="rId1"/>
          <a:stretch>
            <a:fillRect/>
          </a:stretch>
        </p:blipFill>
        <p:spPr>
          <a:xfrm>
            <a:off x="724205" y="4610405"/>
            <a:ext cx="380390" cy="380390"/>
          </a:xfrm>
          <a:prstGeom prst="rect">
            <a:avLst/>
          </a:prstGeom>
        </p:spPr>
      </p:pic>
      <p:sp>
        <p:nvSpPr>
          <p:cNvPr id="16" name="Text 13"/>
          <p:cNvSpPr txBox="1"/>
          <p:nvPr/>
        </p:nvSpPr>
        <p:spPr>
          <a:xfrm>
            <a:off x="1463040" y="4389120"/>
            <a:ext cx="2606040" cy="868680"/>
          </a:xfrm>
          <a:prstGeom prst="rect">
            <a:avLst/>
          </a:prstGeom>
          <a:noFill/>
          <a:ln/>
        </p:spPr>
        <p:txBody>
          <a:bodyPr wrap="square" lIns="0" tIns="0" rIns="0" bIns="0" rtlCol="0" anchor="ctr"/>
          <a:lstStyle/>
          <a:p>
            <a:pPr indent="0" marL="0">
              <a:buNone/>
            </a:pPr>
            <a:r>
              <a:rPr lang="en-US" sz="1500" dirty="0">
                <a:solidFill>
                  <a:schemeClr val="tx1"/>
                </a:solidFill>
              </a:rPr>
              <a:t>5 bis 6 zufällige Wörter, getrennt durch Leerzeichen oder Bindestriche</a:t>
            </a:r>
            <a:endParaRPr lang="en-US" sz="1500" dirty="0"/>
          </a:p>
        </p:txBody>
      </p:sp>
      <p:sp>
        <p:nvSpPr>
          <p:cNvPr id="17" name="key Kreis"/>
          <p:cNvSpPr/>
          <p:nvPr/>
        </p:nvSpPr>
        <p:spPr>
          <a:xfrm>
            <a:off x="4297680" y="4434840"/>
            <a:ext cx="731520" cy="731520"/>
          </a:xfrm>
          <a:prstGeom prst="ellipse">
            <a:avLst/>
          </a:prstGeom>
          <a:solidFill>
            <a:schemeClr val="accent1"/>
          </a:solidFill>
          <a:ln w="12700">
            <a:solidFill>
              <a:schemeClr val="accent1"/>
            </a:solidFill>
            <a:prstDash val="solid"/>
          </a:ln>
        </p:spPr>
      </p:sp>
      <p:pic>
        <p:nvPicPr>
          <p:cNvPr id="18" name="key Icon" descr="key">    </p:cNvPr>
          <p:cNvPicPr>
            <a:picLocks noChangeAspect="1"/>
          </p:cNvPicPr>
          <p:nvPr/>
        </p:nvPicPr>
        <p:blipFill>
          <a:blip r:embed="rId2"/>
          <a:stretch>
            <a:fillRect/>
          </a:stretch>
        </p:blipFill>
        <p:spPr>
          <a:xfrm>
            <a:off x="4473245" y="4610405"/>
            <a:ext cx="380390" cy="380390"/>
          </a:xfrm>
          <a:prstGeom prst="rect">
            <a:avLst/>
          </a:prstGeom>
        </p:spPr>
      </p:pic>
      <p:sp>
        <p:nvSpPr>
          <p:cNvPr id="19" name="Text 15"/>
          <p:cNvSpPr txBox="1"/>
          <p:nvPr/>
        </p:nvSpPr>
        <p:spPr>
          <a:xfrm>
            <a:off x="5212080" y="4389120"/>
            <a:ext cx="2606040" cy="868680"/>
          </a:xfrm>
          <a:prstGeom prst="rect">
            <a:avLst/>
          </a:prstGeom>
          <a:noFill/>
          <a:ln/>
        </p:spPr>
        <p:txBody>
          <a:bodyPr wrap="square" lIns="0" tIns="0" rIns="0" bIns="0" rtlCol="0" anchor="ctr"/>
          <a:lstStyle/>
          <a:p>
            <a:pPr indent="0" marL="0">
              <a:buNone/>
            </a:pPr>
            <a:r>
              <a:rPr lang="en-US" sz="1500" dirty="0">
                <a:solidFill>
                  <a:schemeClr val="tx1"/>
                </a:solidFill>
              </a:rPr>
              <a:t>Nur für den Passwortmanager benutzen – nirgendwo sonst</a:t>
            </a:r>
            <a:endParaRPr lang="en-US" sz="1500" dirty="0"/>
          </a:p>
        </p:txBody>
      </p:sp>
      <p:sp>
        <p:nvSpPr>
          <p:cNvPr id="20" name="notebook Kreis"/>
          <p:cNvSpPr/>
          <p:nvPr/>
        </p:nvSpPr>
        <p:spPr>
          <a:xfrm>
            <a:off x="8046720" y="4434840"/>
            <a:ext cx="731520" cy="731520"/>
          </a:xfrm>
          <a:prstGeom prst="ellipse">
            <a:avLst/>
          </a:prstGeom>
          <a:solidFill>
            <a:schemeClr val="accent1"/>
          </a:solidFill>
          <a:ln w="12700">
            <a:solidFill>
              <a:schemeClr val="accent1"/>
            </a:solidFill>
            <a:prstDash val="solid"/>
          </a:ln>
        </p:spPr>
      </p:sp>
      <p:pic>
        <p:nvPicPr>
          <p:cNvPr id="21" name="notebook Icon" descr="notebook">    </p:cNvPr>
          <p:cNvPicPr>
            <a:picLocks noChangeAspect="1"/>
          </p:cNvPicPr>
          <p:nvPr/>
        </p:nvPicPr>
        <p:blipFill>
          <a:blip r:embed="rId3"/>
          <a:stretch>
            <a:fillRect/>
          </a:stretch>
        </p:blipFill>
        <p:spPr>
          <a:xfrm>
            <a:off x="8222285" y="4610405"/>
            <a:ext cx="380390" cy="380390"/>
          </a:xfrm>
          <a:prstGeom prst="rect">
            <a:avLst/>
          </a:prstGeom>
        </p:spPr>
      </p:pic>
      <p:sp>
        <p:nvSpPr>
          <p:cNvPr id="22" name="Text 17"/>
          <p:cNvSpPr txBox="1"/>
          <p:nvPr/>
        </p:nvSpPr>
        <p:spPr>
          <a:xfrm>
            <a:off x="8961120" y="4389120"/>
            <a:ext cx="2606040" cy="868680"/>
          </a:xfrm>
          <a:prstGeom prst="rect">
            <a:avLst/>
          </a:prstGeom>
          <a:noFill/>
          <a:ln/>
        </p:spPr>
        <p:txBody>
          <a:bodyPr wrap="square" lIns="0" tIns="0" rIns="0" bIns="0" rtlCol="0" anchor="ctr"/>
          <a:lstStyle/>
          <a:p>
            <a:pPr indent="0" marL="0">
              <a:buNone/>
            </a:pPr>
            <a:r>
              <a:rPr lang="en-US" sz="1500" dirty="0">
                <a:solidFill>
                  <a:schemeClr val="tx1"/>
                </a:solidFill>
              </a:rPr>
              <a:t>Auf Papier aufschreiben und sicher verwahren</a:t>
            </a:r>
            <a:endParaRPr lang="en-US" sz="1500" dirty="0"/>
          </a:p>
        </p:txBody>
      </p:sp>
      <p:sp>
        <p:nvSpPr>
          <p:cNvPr id="23" name="Text 18"/>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Die Beispiele bitte nicht übernehmen – denk dir eigene Wörter aus.</a:t>
            </a:r>
            <a:endParaRPr lang="en-US" sz="1200" dirty="0"/>
          </a:p>
        </p:txBody>
      </p:sp>
      <p:sp>
        <p:nvSpPr>
          <p:cNvPr id="24"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4"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pPr indent="0" marL="0">
              <a:buNone/>
            </a:pPr>
            <a:r>
              <a:rPr lang="en-US" sz="900" dirty="0">
                <a:solidFill>
                  <a:schemeClr val="accent6"/>
                </a:solidFill>
              </a:rPr>
              <a:t> · </a:t>
            </a:r>
            <a:pPr indent="0" marL="0">
              <a:buNone/>
            </a:pPr>
            <a:r>
              <a:rPr lang="en-US" sz="900" u="sng" dirty="0">
                <a:solidFill>
                  <a:schemeClr val="accent6"/>
                </a:solidFill>
                <a:hlinkClick r:id="rId5" invalidUrl="" action="" tgtFrame="" tooltip="BSI – Sichere Passwörter erstellen" history="1" highlightClick="0" endSnd="0">
                  <a:extLst>
                    <a:ext uri="{A12FA001-AC4F-418D-AE19-62706E023703}">
                      <ahyp:hlinkClr xmlns:ahyp="http://schemas.microsoft.com/office/drawing/2018/hyperlinkcolor" val="tx"/>
                    </a:ext>
                  </a:extLst>
                </a:hlinkClick>
              </a:rPr>
              <a:t>[5] BSI Passwörter</a:t>
            </a:r>
            <a:pPr indent="0" marL="0">
              <a:buNone/>
            </a:pPr>
            <a:r>
              <a:rPr lang="en-US" sz="900" dirty="0">
                <a:solidFill>
                  <a:schemeClr val="accent6"/>
                </a:solidFill>
              </a:rPr>
              <a:t> · </a:t>
            </a:r>
            <a:pPr indent="0" marL="0">
              <a:buNone/>
            </a:pPr>
            <a:r>
              <a:rPr lang="en-US" sz="900" u="sng" dirty="0">
                <a:solidFill>
                  <a:schemeClr val="accent6"/>
                </a:solidFill>
                <a:hlinkClick r:id="rId6" invalidUrl="" action="" tgtFrame="" tooltip="Have I Been Pwned – Pwned Passwords (Abfrage am 27.10.2026)" history="1" highlightClick="0" endSnd="0">
                  <a:extLst>
                    <a:ext uri="{A12FA001-AC4F-418D-AE19-62706E023703}">
                      <ahyp:hlinkClr xmlns:ahyp="http://schemas.microsoft.com/office/drawing/2018/hyperlinkcolor" val="tx"/>
                    </a:ext>
                  </a:extLst>
                </a:hlinkClick>
              </a:rPr>
              <a:t>[7] Have I Been Pwned</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Extra: eine E-Mail-Adresse pro Konto</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Der Passwortmanager erfindet nicht nur Passwörter – auf Wunsch auch E-Mail-Adressen (Aliase).</a:t>
            </a:r>
            <a:endParaRPr lang="en-US" sz="1500" dirty="0"/>
          </a:p>
        </p:txBody>
      </p:sp>
      <p:sp>
        <p:nvSpPr>
          <p:cNvPr id="4" name="Alias Online-Shop"/>
          <p:cNvSpPr/>
          <p:nvPr/>
        </p:nvSpPr>
        <p:spPr>
          <a:xfrm>
            <a:off x="548640" y="1828800"/>
            <a:ext cx="4069080" cy="777240"/>
          </a:xfrm>
          <a:prstGeom prst="roundRect">
            <a:avLst>
              <a:gd name="adj" fmla="val 14118"/>
            </a:avLst>
          </a:prstGeom>
          <a:solidFill>
            <a:schemeClr val="bg2"/>
          </a:solidFill>
          <a:ln w="12700">
            <a:solidFill>
              <a:schemeClr val="bg2"/>
            </a:solidFill>
            <a:prstDash val="solid"/>
          </a:ln>
        </p:spPr>
      </p:sp>
      <p:sp>
        <p:nvSpPr>
          <p:cNvPr id="5" name="Text 3"/>
          <p:cNvSpPr txBox="1"/>
          <p:nvPr/>
        </p:nvSpPr>
        <p:spPr>
          <a:xfrm>
            <a:off x="777240" y="1901952"/>
            <a:ext cx="3566160" cy="274320"/>
          </a:xfrm>
          <a:prstGeom prst="rect">
            <a:avLst/>
          </a:prstGeom>
          <a:noFill/>
          <a:ln/>
        </p:spPr>
        <p:txBody>
          <a:bodyPr wrap="square" lIns="0" tIns="0" rIns="0" bIns="0" rtlCol="0" anchor="t"/>
          <a:lstStyle/>
          <a:p>
            <a:pPr indent="0" marL="0">
              <a:buNone/>
            </a:pPr>
            <a:r>
              <a:rPr lang="en-US" sz="1200" dirty="0">
                <a:solidFill>
                  <a:schemeClr val="accent6"/>
                </a:solidFill>
              </a:rPr>
              <a:t>Online-Shop</a:t>
            </a:r>
            <a:endParaRPr lang="en-US" sz="1200" dirty="0"/>
          </a:p>
        </p:txBody>
      </p:sp>
      <p:sp>
        <p:nvSpPr>
          <p:cNvPr id="6" name="Text 4"/>
          <p:cNvSpPr txBox="1"/>
          <p:nvPr/>
        </p:nvSpPr>
        <p:spPr>
          <a:xfrm>
            <a:off x="777240" y="2157984"/>
            <a:ext cx="370332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k7x2p9@meine-domain.example</a:t>
            </a:r>
            <a:endParaRPr lang="en-US" sz="1500" dirty="0"/>
          </a:p>
        </p:txBody>
      </p:sp>
      <p:sp>
        <p:nvSpPr>
          <p:cNvPr id="7" name="Pfeil Alias 1"/>
          <p:cNvSpPr/>
          <p:nvPr/>
        </p:nvSpPr>
        <p:spPr>
          <a:xfrm>
            <a:off x="4754880" y="2066544"/>
            <a:ext cx="411480" cy="310896"/>
          </a:xfrm>
          <a:prstGeom prst="rightArrow">
            <a:avLst/>
          </a:prstGeom>
          <a:solidFill>
            <a:schemeClr val="accent6"/>
          </a:solidFill>
          <a:ln w="12700">
            <a:solidFill>
              <a:schemeClr val="accent6"/>
            </a:solidFill>
            <a:prstDash val="solid"/>
          </a:ln>
        </p:spPr>
      </p:sp>
      <p:sp>
        <p:nvSpPr>
          <p:cNvPr id="8" name="Alias Newsletter"/>
          <p:cNvSpPr/>
          <p:nvPr/>
        </p:nvSpPr>
        <p:spPr>
          <a:xfrm>
            <a:off x="548640" y="2788920"/>
            <a:ext cx="4069080" cy="777240"/>
          </a:xfrm>
          <a:prstGeom prst="roundRect">
            <a:avLst>
              <a:gd name="adj" fmla="val 14118"/>
            </a:avLst>
          </a:prstGeom>
          <a:solidFill>
            <a:schemeClr val="bg2"/>
          </a:solidFill>
          <a:ln w="12700">
            <a:solidFill>
              <a:schemeClr val="bg2"/>
            </a:solidFill>
            <a:prstDash val="solid"/>
          </a:ln>
        </p:spPr>
      </p:sp>
      <p:sp>
        <p:nvSpPr>
          <p:cNvPr id="9" name="Text 7"/>
          <p:cNvSpPr txBox="1"/>
          <p:nvPr/>
        </p:nvSpPr>
        <p:spPr>
          <a:xfrm>
            <a:off x="777240" y="2862072"/>
            <a:ext cx="3566160" cy="274320"/>
          </a:xfrm>
          <a:prstGeom prst="rect">
            <a:avLst/>
          </a:prstGeom>
          <a:noFill/>
          <a:ln/>
        </p:spPr>
        <p:txBody>
          <a:bodyPr wrap="square" lIns="0" tIns="0" rIns="0" bIns="0" rtlCol="0" anchor="t"/>
          <a:lstStyle/>
          <a:p>
            <a:pPr indent="0" marL="0">
              <a:buNone/>
            </a:pPr>
            <a:r>
              <a:rPr lang="en-US" sz="1200" dirty="0">
                <a:solidFill>
                  <a:schemeClr val="accent6"/>
                </a:solidFill>
              </a:rPr>
              <a:t>Newsletter</a:t>
            </a:r>
            <a:endParaRPr lang="en-US" sz="1200" dirty="0"/>
          </a:p>
        </p:txBody>
      </p:sp>
      <p:sp>
        <p:nvSpPr>
          <p:cNvPr id="10" name="Text 8"/>
          <p:cNvSpPr txBox="1"/>
          <p:nvPr/>
        </p:nvSpPr>
        <p:spPr>
          <a:xfrm>
            <a:off x="777240" y="3118104"/>
            <a:ext cx="370332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max+gsd4aqqe@example.org</a:t>
            </a:r>
            <a:endParaRPr lang="en-US" sz="1500" dirty="0"/>
          </a:p>
        </p:txBody>
      </p:sp>
      <p:sp>
        <p:nvSpPr>
          <p:cNvPr id="11" name="Pfeil Alias 2"/>
          <p:cNvSpPr/>
          <p:nvPr/>
        </p:nvSpPr>
        <p:spPr>
          <a:xfrm>
            <a:off x="4754880" y="3026664"/>
            <a:ext cx="411480" cy="310896"/>
          </a:xfrm>
          <a:prstGeom prst="rightArrow">
            <a:avLst/>
          </a:prstGeom>
          <a:solidFill>
            <a:schemeClr val="accent6"/>
          </a:solidFill>
          <a:ln w="12700">
            <a:solidFill>
              <a:schemeClr val="accent6"/>
            </a:solidFill>
            <a:prstDash val="solid"/>
          </a:ln>
        </p:spPr>
      </p:sp>
      <p:sp>
        <p:nvSpPr>
          <p:cNvPr id="12" name="Alias Forum"/>
          <p:cNvSpPr/>
          <p:nvPr/>
        </p:nvSpPr>
        <p:spPr>
          <a:xfrm>
            <a:off x="548640" y="3749040"/>
            <a:ext cx="4069080" cy="777240"/>
          </a:xfrm>
          <a:prstGeom prst="roundRect">
            <a:avLst>
              <a:gd name="adj" fmla="val 14118"/>
            </a:avLst>
          </a:prstGeom>
          <a:solidFill>
            <a:schemeClr val="bg2"/>
          </a:solidFill>
          <a:ln w="12700">
            <a:solidFill>
              <a:schemeClr val="bg2"/>
            </a:solidFill>
            <a:prstDash val="solid"/>
          </a:ln>
        </p:spPr>
      </p:sp>
      <p:sp>
        <p:nvSpPr>
          <p:cNvPr id="13" name="Text 11"/>
          <p:cNvSpPr txBox="1"/>
          <p:nvPr/>
        </p:nvSpPr>
        <p:spPr>
          <a:xfrm>
            <a:off x="777240" y="3822192"/>
            <a:ext cx="3566160" cy="274320"/>
          </a:xfrm>
          <a:prstGeom prst="rect">
            <a:avLst/>
          </a:prstGeom>
          <a:noFill/>
          <a:ln/>
        </p:spPr>
        <p:txBody>
          <a:bodyPr wrap="square" lIns="0" tIns="0" rIns="0" bIns="0" rtlCol="0" anchor="t"/>
          <a:lstStyle/>
          <a:p>
            <a:pPr indent="0" marL="0">
              <a:buNone/>
            </a:pPr>
            <a:r>
              <a:rPr lang="en-US" sz="1200" dirty="0">
                <a:solidFill>
                  <a:schemeClr val="accent6"/>
                </a:solidFill>
              </a:rPr>
              <a:t>Forum</a:t>
            </a:r>
            <a:endParaRPr lang="en-US" sz="1200" dirty="0"/>
          </a:p>
        </p:txBody>
      </p:sp>
      <p:sp>
        <p:nvSpPr>
          <p:cNvPr id="14" name="Text 12"/>
          <p:cNvSpPr txBox="1"/>
          <p:nvPr/>
        </p:nvSpPr>
        <p:spPr>
          <a:xfrm>
            <a:off x="777240" y="4078224"/>
            <a:ext cx="370332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wolke.d0p0r@relay.example</a:t>
            </a:r>
            <a:endParaRPr lang="en-US" sz="1500" dirty="0"/>
          </a:p>
        </p:txBody>
      </p:sp>
      <p:sp>
        <p:nvSpPr>
          <p:cNvPr id="15" name="Pfeil Alias 3"/>
          <p:cNvSpPr/>
          <p:nvPr/>
        </p:nvSpPr>
        <p:spPr>
          <a:xfrm>
            <a:off x="4754880" y="3986784"/>
            <a:ext cx="411480" cy="310896"/>
          </a:xfrm>
          <a:prstGeom prst="rightArrow">
            <a:avLst/>
          </a:prstGeom>
          <a:solidFill>
            <a:schemeClr val="accent6"/>
          </a:solidFill>
          <a:ln w="12700">
            <a:solidFill>
              <a:schemeClr val="accent6"/>
            </a:solidFill>
            <a:prstDash val="solid"/>
          </a:ln>
        </p:spPr>
      </p:sp>
      <p:sp>
        <p:nvSpPr>
          <p:cNvPr id="16" name="Echtes Postfach"/>
          <p:cNvSpPr/>
          <p:nvPr/>
        </p:nvSpPr>
        <p:spPr>
          <a:xfrm>
            <a:off x="5303520" y="1828800"/>
            <a:ext cx="1463040" cy="2697480"/>
          </a:xfrm>
          <a:prstGeom prst="roundRect">
            <a:avLst>
              <a:gd name="adj" fmla="val 7500"/>
            </a:avLst>
          </a:prstGeom>
          <a:solidFill>
            <a:schemeClr val="tx2"/>
          </a:solidFill>
          <a:ln w="12700">
            <a:solidFill>
              <a:schemeClr val="tx2"/>
            </a:solidFill>
            <a:prstDash val="solid"/>
          </a:ln>
        </p:spPr>
      </p:sp>
      <p:sp>
        <p:nvSpPr>
          <p:cNvPr id="17" name="inbox Kreis"/>
          <p:cNvSpPr/>
          <p:nvPr/>
        </p:nvSpPr>
        <p:spPr>
          <a:xfrm>
            <a:off x="5623560" y="2240280"/>
            <a:ext cx="822960" cy="822960"/>
          </a:xfrm>
          <a:prstGeom prst="ellipse">
            <a:avLst/>
          </a:prstGeom>
          <a:solidFill>
            <a:schemeClr val="accent2"/>
          </a:solidFill>
          <a:ln w="12700">
            <a:solidFill>
              <a:schemeClr val="accent2"/>
            </a:solidFill>
            <a:prstDash val="solid"/>
          </a:ln>
        </p:spPr>
      </p:sp>
      <p:pic>
        <p:nvPicPr>
          <p:cNvPr id="18" name="inbox Icon" descr="inbox">    </p:cNvPr>
          <p:cNvPicPr>
            <a:picLocks noChangeAspect="1"/>
          </p:cNvPicPr>
          <p:nvPr/>
        </p:nvPicPr>
        <p:blipFill>
          <a:blip r:embed="rId1"/>
          <a:stretch>
            <a:fillRect/>
          </a:stretch>
        </p:blipFill>
        <p:spPr>
          <a:xfrm>
            <a:off x="5821070" y="2437790"/>
            <a:ext cx="427939" cy="427939"/>
          </a:xfrm>
          <a:prstGeom prst="rect">
            <a:avLst/>
          </a:prstGeom>
        </p:spPr>
      </p:pic>
      <p:sp>
        <p:nvSpPr>
          <p:cNvPr id="19" name="Text 16"/>
          <p:cNvSpPr txBox="1"/>
          <p:nvPr/>
        </p:nvSpPr>
        <p:spPr>
          <a:xfrm>
            <a:off x="5394960" y="3246120"/>
            <a:ext cx="1280160" cy="822960"/>
          </a:xfrm>
          <a:prstGeom prst="rect">
            <a:avLst/>
          </a:prstGeom>
          <a:noFill/>
          <a:ln/>
        </p:spPr>
        <p:txBody>
          <a:bodyPr wrap="square" lIns="0" tIns="0" rIns="0" bIns="0" rtlCol="0" anchor="t"/>
          <a:lstStyle/>
          <a:p>
            <a:pPr algn="ctr" indent="0" marL="0">
              <a:buNone/>
            </a:pPr>
            <a:r>
              <a:rPr lang="en-US" sz="1500" b="1" dirty="0">
                <a:solidFill>
                  <a:schemeClr val="bg1"/>
                </a:solidFill>
              </a:rPr>
              <a:t>dein echtes Postfach</a:t>
            </a:r>
            <a:endParaRPr lang="en-US" sz="1500" dirty="0"/>
          </a:p>
        </p:txBody>
      </p:sp>
      <p:sp>
        <p:nvSpPr>
          <p:cNvPr id="20" name="eyeOff Kreis"/>
          <p:cNvSpPr/>
          <p:nvPr/>
        </p:nvSpPr>
        <p:spPr>
          <a:xfrm>
            <a:off x="7178040" y="1874520"/>
            <a:ext cx="640080" cy="640080"/>
          </a:xfrm>
          <a:prstGeom prst="ellipse">
            <a:avLst/>
          </a:prstGeom>
          <a:solidFill>
            <a:schemeClr val="accent1"/>
          </a:solidFill>
          <a:ln w="12700">
            <a:solidFill>
              <a:schemeClr val="accent1"/>
            </a:solidFill>
            <a:prstDash val="solid"/>
          </a:ln>
        </p:spPr>
      </p:sp>
      <p:pic>
        <p:nvPicPr>
          <p:cNvPr id="21" name="eyeOff Icon" descr="eyeOff">    </p:cNvPr>
          <p:cNvPicPr>
            <a:picLocks noChangeAspect="1"/>
          </p:cNvPicPr>
          <p:nvPr/>
        </p:nvPicPr>
        <p:blipFill>
          <a:blip r:embed="rId2"/>
          <a:stretch>
            <a:fillRect/>
          </a:stretch>
        </p:blipFill>
        <p:spPr>
          <a:xfrm>
            <a:off x="7331659" y="2028139"/>
            <a:ext cx="332842" cy="332842"/>
          </a:xfrm>
          <a:prstGeom prst="rect">
            <a:avLst/>
          </a:prstGeom>
        </p:spPr>
      </p:pic>
      <p:sp>
        <p:nvSpPr>
          <p:cNvPr id="22" name="Text 18"/>
          <p:cNvSpPr txBox="1"/>
          <p:nvPr/>
        </p:nvSpPr>
        <p:spPr>
          <a:xfrm>
            <a:off x="8001000" y="1828800"/>
            <a:ext cx="3611880" cy="384048"/>
          </a:xfrm>
          <a:prstGeom prst="rect">
            <a:avLst/>
          </a:prstGeom>
          <a:noFill/>
          <a:ln/>
        </p:spPr>
        <p:txBody>
          <a:bodyPr wrap="square" lIns="0" tIns="0" rIns="0" bIns="0" rtlCol="0" anchor="t"/>
          <a:lstStyle/>
          <a:p>
            <a:pPr indent="0" marL="0">
              <a:buNone/>
            </a:pPr>
            <a:r>
              <a:rPr lang="en-US" sz="1800" b="1" dirty="0">
                <a:solidFill>
                  <a:schemeClr val="tx2"/>
                </a:solidFill>
              </a:rPr>
              <a:t>Echte Adresse bleibt privat</a:t>
            </a:r>
            <a:endParaRPr lang="en-US" sz="1800" dirty="0"/>
          </a:p>
        </p:txBody>
      </p:sp>
      <p:sp>
        <p:nvSpPr>
          <p:cNvPr id="23" name="Text 19"/>
          <p:cNvSpPr txBox="1"/>
          <p:nvPr/>
        </p:nvSpPr>
        <p:spPr>
          <a:xfrm>
            <a:off x="8001000" y="2212848"/>
            <a:ext cx="3611880" cy="365760"/>
          </a:xfrm>
          <a:prstGeom prst="rect">
            <a:avLst/>
          </a:prstGeom>
          <a:noFill/>
          <a:ln/>
        </p:spPr>
        <p:txBody>
          <a:bodyPr wrap="square" lIns="0" tIns="0" rIns="0" bIns="0" rtlCol="0" anchor="t"/>
          <a:lstStyle/>
          <a:p>
            <a:pPr indent="0" marL="0">
              <a:buNone/>
            </a:pPr>
            <a:r>
              <a:rPr lang="en-US" sz="1500" dirty="0">
                <a:solidFill>
                  <a:schemeClr val="tx1"/>
                </a:solidFill>
              </a:rPr>
              <a:t>Der Dienst sieht nur den Alias.</a:t>
            </a:r>
            <a:endParaRPr lang="en-US" sz="1500" dirty="0"/>
          </a:p>
        </p:txBody>
      </p:sp>
      <p:sp>
        <p:nvSpPr>
          <p:cNvPr id="24" name="mailX Kreis"/>
          <p:cNvSpPr/>
          <p:nvPr/>
        </p:nvSpPr>
        <p:spPr>
          <a:xfrm>
            <a:off x="7178040" y="2788920"/>
            <a:ext cx="640080" cy="640080"/>
          </a:xfrm>
          <a:prstGeom prst="ellipse">
            <a:avLst/>
          </a:prstGeom>
          <a:solidFill>
            <a:schemeClr val="accent1"/>
          </a:solidFill>
          <a:ln w="12700">
            <a:solidFill>
              <a:schemeClr val="accent1"/>
            </a:solidFill>
            <a:prstDash val="solid"/>
          </a:ln>
        </p:spPr>
      </p:sp>
      <p:pic>
        <p:nvPicPr>
          <p:cNvPr id="25" name="mailX Icon" descr="mailX">    </p:cNvPr>
          <p:cNvPicPr>
            <a:picLocks noChangeAspect="1"/>
          </p:cNvPicPr>
          <p:nvPr/>
        </p:nvPicPr>
        <p:blipFill>
          <a:blip r:embed="rId3"/>
          <a:stretch>
            <a:fillRect/>
          </a:stretch>
        </p:blipFill>
        <p:spPr>
          <a:xfrm>
            <a:off x="7331659" y="2942539"/>
            <a:ext cx="332842" cy="332842"/>
          </a:xfrm>
          <a:prstGeom prst="rect">
            <a:avLst/>
          </a:prstGeom>
        </p:spPr>
      </p:pic>
      <p:sp>
        <p:nvSpPr>
          <p:cNvPr id="26" name="Text 21"/>
          <p:cNvSpPr txBox="1"/>
          <p:nvPr/>
        </p:nvSpPr>
        <p:spPr>
          <a:xfrm>
            <a:off x="8001000" y="2743200"/>
            <a:ext cx="3611880" cy="384048"/>
          </a:xfrm>
          <a:prstGeom prst="rect">
            <a:avLst/>
          </a:prstGeom>
          <a:noFill/>
          <a:ln/>
        </p:spPr>
        <p:txBody>
          <a:bodyPr wrap="square" lIns="0" tIns="0" rIns="0" bIns="0" rtlCol="0" anchor="t"/>
          <a:lstStyle/>
          <a:p>
            <a:pPr indent="0" marL="0">
              <a:buNone/>
            </a:pPr>
            <a:r>
              <a:rPr lang="en-US" sz="1800" b="1" dirty="0">
                <a:solidFill>
                  <a:schemeClr val="tx2"/>
                </a:solidFill>
              </a:rPr>
              <a:t>Spam? Alias abschalten</a:t>
            </a:r>
            <a:endParaRPr lang="en-US" sz="1800" dirty="0"/>
          </a:p>
        </p:txBody>
      </p:sp>
      <p:sp>
        <p:nvSpPr>
          <p:cNvPr id="27" name="Text 22"/>
          <p:cNvSpPr txBox="1"/>
          <p:nvPr/>
        </p:nvSpPr>
        <p:spPr>
          <a:xfrm>
            <a:off x="8001000" y="3127248"/>
            <a:ext cx="3611880" cy="365760"/>
          </a:xfrm>
          <a:prstGeom prst="rect">
            <a:avLst/>
          </a:prstGeom>
          <a:noFill/>
          <a:ln/>
        </p:spPr>
        <p:txBody>
          <a:bodyPr wrap="square" lIns="0" tIns="0" rIns="0" bIns="0" rtlCol="0" anchor="t"/>
          <a:lstStyle/>
          <a:p>
            <a:pPr indent="0" marL="0">
              <a:buNone/>
            </a:pPr>
            <a:r>
              <a:rPr lang="en-US" sz="1500" dirty="0">
                <a:solidFill>
                  <a:schemeClr val="tx1"/>
                </a:solidFill>
              </a:rPr>
              <a:t>Deaktivieren oder löschen – fertig.</a:t>
            </a:r>
            <a:endParaRPr lang="en-US" sz="1500" dirty="0"/>
          </a:p>
        </p:txBody>
      </p:sp>
      <p:sp>
        <p:nvSpPr>
          <p:cNvPr id="28" name="shield Kreis"/>
          <p:cNvSpPr/>
          <p:nvPr/>
        </p:nvSpPr>
        <p:spPr>
          <a:xfrm>
            <a:off x="7178040" y="3703320"/>
            <a:ext cx="640080" cy="640080"/>
          </a:xfrm>
          <a:prstGeom prst="ellipse">
            <a:avLst/>
          </a:prstGeom>
          <a:solidFill>
            <a:schemeClr val="accent1"/>
          </a:solidFill>
          <a:ln w="12700">
            <a:solidFill>
              <a:schemeClr val="accent1"/>
            </a:solidFill>
            <a:prstDash val="solid"/>
          </a:ln>
        </p:spPr>
      </p:sp>
      <p:pic>
        <p:nvPicPr>
          <p:cNvPr id="29" name="shield Icon" descr="shield">    </p:cNvPr>
          <p:cNvPicPr>
            <a:picLocks noChangeAspect="1"/>
          </p:cNvPicPr>
          <p:nvPr/>
        </p:nvPicPr>
        <p:blipFill>
          <a:blip r:embed="rId4"/>
          <a:stretch>
            <a:fillRect/>
          </a:stretch>
        </p:blipFill>
        <p:spPr>
          <a:xfrm>
            <a:off x="7331659" y="3856939"/>
            <a:ext cx="332842" cy="332842"/>
          </a:xfrm>
          <a:prstGeom prst="rect">
            <a:avLst/>
          </a:prstGeom>
        </p:spPr>
      </p:pic>
      <p:sp>
        <p:nvSpPr>
          <p:cNvPr id="30" name="Text 24"/>
          <p:cNvSpPr txBox="1"/>
          <p:nvPr/>
        </p:nvSpPr>
        <p:spPr>
          <a:xfrm>
            <a:off x="8001000" y="3657600"/>
            <a:ext cx="3611880" cy="384048"/>
          </a:xfrm>
          <a:prstGeom prst="rect">
            <a:avLst/>
          </a:prstGeom>
          <a:noFill/>
          <a:ln/>
        </p:spPr>
        <p:txBody>
          <a:bodyPr wrap="square" lIns="0" tIns="0" rIns="0" bIns="0" rtlCol="0" anchor="t"/>
          <a:lstStyle/>
          <a:p>
            <a:pPr indent="0" marL="0">
              <a:buNone/>
            </a:pPr>
            <a:r>
              <a:rPr lang="en-US" sz="1800" b="1" dirty="0">
                <a:solidFill>
                  <a:schemeClr val="tx2"/>
                </a:solidFill>
              </a:rPr>
              <a:t>Weniger Phishing und Spam</a:t>
            </a:r>
            <a:endParaRPr lang="en-US" sz="1800" dirty="0"/>
          </a:p>
        </p:txBody>
      </p:sp>
      <p:sp>
        <p:nvSpPr>
          <p:cNvPr id="31" name="Text 25"/>
          <p:cNvSpPr txBox="1"/>
          <p:nvPr/>
        </p:nvSpPr>
        <p:spPr>
          <a:xfrm>
            <a:off x="8001000" y="4041648"/>
            <a:ext cx="3611880" cy="365760"/>
          </a:xfrm>
          <a:prstGeom prst="rect">
            <a:avLst/>
          </a:prstGeom>
          <a:noFill/>
          <a:ln/>
        </p:spPr>
        <p:txBody>
          <a:bodyPr wrap="square" lIns="0" tIns="0" rIns="0" bIns="0" rtlCol="0" anchor="t"/>
          <a:lstStyle/>
          <a:p>
            <a:pPr indent="0" marL="0">
              <a:buNone/>
            </a:pPr>
            <a:r>
              <a:rPr lang="en-US" sz="1500" dirty="0">
                <a:solidFill>
                  <a:schemeClr val="tx1"/>
                </a:solidFill>
              </a:rPr>
              <a:t>Deine echte Adresse gibst du nie heraus.</a:t>
            </a:r>
            <a:endParaRPr lang="en-US" sz="1500" dirty="0"/>
          </a:p>
        </p:txBody>
      </p:sp>
      <p:sp>
        <p:nvSpPr>
          <p:cNvPr id="32" name="Eingebaut bei"/>
          <p:cNvSpPr/>
          <p:nvPr/>
        </p:nvSpPr>
        <p:spPr>
          <a:xfrm>
            <a:off x="548640" y="4846320"/>
            <a:ext cx="11064240" cy="1097280"/>
          </a:xfrm>
          <a:prstGeom prst="roundRect">
            <a:avLst>
              <a:gd name="adj" fmla="val 10000"/>
            </a:avLst>
          </a:prstGeom>
          <a:solidFill>
            <a:schemeClr val="bg2"/>
          </a:solidFill>
          <a:ln w="12700">
            <a:solidFill>
              <a:schemeClr val="bg2"/>
            </a:solidFill>
            <a:prstDash val="solid"/>
          </a:ln>
        </p:spPr>
      </p:sp>
      <p:sp>
        <p:nvSpPr>
          <p:cNvPr id="33" name="Text 27"/>
          <p:cNvSpPr txBox="1"/>
          <p:nvPr/>
        </p:nvSpPr>
        <p:spPr>
          <a:xfrm>
            <a:off x="822960" y="4846320"/>
            <a:ext cx="1737360" cy="1097280"/>
          </a:xfrm>
          <a:prstGeom prst="rect">
            <a:avLst/>
          </a:prstGeom>
          <a:noFill/>
          <a:ln/>
        </p:spPr>
        <p:txBody>
          <a:bodyPr wrap="square" lIns="0" tIns="0" rIns="0" bIns="0" rtlCol="0" anchor="ctr"/>
          <a:lstStyle/>
          <a:p>
            <a:pPr indent="0" marL="0">
              <a:buNone/>
            </a:pPr>
            <a:r>
              <a:rPr lang="en-US" sz="1600" b="1" dirty="0">
                <a:solidFill>
                  <a:schemeClr val="tx2"/>
                </a:solidFill>
              </a:rPr>
              <a:t>Schon eingebaut:</a:t>
            </a:r>
            <a:endParaRPr lang="en-US" sz="1600" dirty="0"/>
          </a:p>
        </p:txBody>
      </p:sp>
      <p:pic>
        <p:nvPicPr>
          <p:cNvPr id="34" name="Logo Bitwarden" descr="Bitwarden">    </p:cNvPr>
          <p:cNvPicPr>
            <a:picLocks noChangeAspect="1"/>
          </p:cNvPicPr>
          <p:nvPr/>
        </p:nvPicPr>
        <p:blipFill>
          <a:blip r:embed="rId5"/>
          <a:stretch>
            <a:fillRect/>
          </a:stretch>
        </p:blipFill>
        <p:spPr>
          <a:xfrm>
            <a:off x="2606040" y="5120640"/>
            <a:ext cx="411480" cy="411480"/>
          </a:xfrm>
          <a:prstGeom prst="rect">
            <a:avLst/>
          </a:prstGeom>
        </p:spPr>
      </p:pic>
      <p:sp>
        <p:nvSpPr>
          <p:cNvPr id="35" name="Text 28"/>
          <p:cNvSpPr txBox="1"/>
          <p:nvPr/>
        </p:nvSpPr>
        <p:spPr>
          <a:xfrm>
            <a:off x="3154680" y="4956048"/>
            <a:ext cx="2377440" cy="868680"/>
          </a:xfrm>
          <a:prstGeom prst="rect">
            <a:avLst/>
          </a:prstGeom>
          <a:noFill/>
          <a:ln/>
        </p:spPr>
        <p:txBody>
          <a:bodyPr wrap="square" lIns="0" tIns="0" rIns="0" bIns="0" rtlCol="0" anchor="ctr"/>
          <a:lstStyle/>
          <a:p>
            <a:pPr indent="0" marL="0">
              <a:buNone/>
            </a:pPr>
            <a:r>
              <a:rPr lang="en-US" sz="1400" b="1" dirty="0">
                <a:solidFill>
                  <a:schemeClr val="tx2"/>
                </a:solidFill>
              </a:rPr>
              <a:t>Bitwarden</a:t>
            </a:r>
            <a:endParaRPr lang="en-US" sz="1400" dirty="0"/>
          </a:p>
          <a:p>
            <a:pPr indent="0" marL="0">
              <a:buNone/>
            </a:pPr>
            <a:r>
              <a:rPr lang="en-US" sz="1400" dirty="0">
                <a:solidFill>
                  <a:schemeClr val="tx1"/>
                </a:solidFill>
              </a:rPr>
              <a:t>Benutzernamen-Generator, auch kostenlos</a:t>
            </a:r>
            <a:endParaRPr lang="en-US" sz="1400" dirty="0"/>
          </a:p>
        </p:txBody>
      </p:sp>
      <p:pic>
        <p:nvPicPr>
          <p:cNvPr id="36" name="Logo Apple" descr="Apple">    </p:cNvPr>
          <p:cNvPicPr>
            <a:picLocks noChangeAspect="1"/>
          </p:cNvPicPr>
          <p:nvPr/>
        </p:nvPicPr>
        <p:blipFill>
          <a:blip r:embed="rId6"/>
          <a:stretch>
            <a:fillRect/>
          </a:stretch>
        </p:blipFill>
        <p:spPr>
          <a:xfrm>
            <a:off x="5623560" y="5120640"/>
            <a:ext cx="411480" cy="411480"/>
          </a:xfrm>
          <a:prstGeom prst="rect">
            <a:avLst/>
          </a:prstGeom>
        </p:spPr>
      </p:pic>
      <p:sp>
        <p:nvSpPr>
          <p:cNvPr id="37" name="Text 29"/>
          <p:cNvSpPr txBox="1"/>
          <p:nvPr/>
        </p:nvSpPr>
        <p:spPr>
          <a:xfrm>
            <a:off x="6172200" y="4956048"/>
            <a:ext cx="2377440" cy="868680"/>
          </a:xfrm>
          <a:prstGeom prst="rect">
            <a:avLst/>
          </a:prstGeom>
          <a:noFill/>
          <a:ln/>
        </p:spPr>
        <p:txBody>
          <a:bodyPr wrap="square" lIns="0" tIns="0" rIns="0" bIns="0" rtlCol="0" anchor="ctr"/>
          <a:lstStyle/>
          <a:p>
            <a:pPr indent="0" marL="0">
              <a:buNone/>
            </a:pPr>
            <a:r>
              <a:rPr lang="en-US" sz="1400" b="1" dirty="0">
                <a:solidFill>
                  <a:schemeClr val="tx2"/>
                </a:solidFill>
              </a:rPr>
              <a:t>Apple</a:t>
            </a:r>
            <a:endParaRPr lang="en-US" sz="1400" dirty="0"/>
          </a:p>
          <a:p>
            <a:pPr indent="0" marL="0">
              <a:buNone/>
            </a:pPr>
            <a:r>
              <a:rPr lang="en-US" sz="1400" dirty="0">
                <a:solidFill>
                  <a:schemeClr val="tx1"/>
                </a:solidFill>
              </a:rPr>
              <a:t>„E-Mail-Adresse verbergen“, mit iCloud+</a:t>
            </a:r>
            <a:endParaRPr lang="en-US" sz="1400" dirty="0"/>
          </a:p>
        </p:txBody>
      </p:sp>
      <p:pic>
        <p:nvPicPr>
          <p:cNvPr id="38" name="Logo Proton Pass" descr="Proton Pass">    </p:cNvPr>
          <p:cNvPicPr>
            <a:picLocks noChangeAspect="1"/>
          </p:cNvPicPr>
          <p:nvPr/>
        </p:nvPicPr>
        <p:blipFill>
          <a:blip r:embed="rId7"/>
          <a:stretch>
            <a:fillRect/>
          </a:stretch>
        </p:blipFill>
        <p:spPr>
          <a:xfrm>
            <a:off x="8641080" y="5120640"/>
            <a:ext cx="411480" cy="411480"/>
          </a:xfrm>
          <a:prstGeom prst="rect">
            <a:avLst/>
          </a:prstGeom>
        </p:spPr>
      </p:pic>
      <p:sp>
        <p:nvSpPr>
          <p:cNvPr id="39" name="Text 30"/>
          <p:cNvSpPr txBox="1"/>
          <p:nvPr/>
        </p:nvSpPr>
        <p:spPr>
          <a:xfrm>
            <a:off x="9189720" y="4956048"/>
            <a:ext cx="2377440" cy="868680"/>
          </a:xfrm>
          <a:prstGeom prst="rect">
            <a:avLst/>
          </a:prstGeom>
          <a:noFill/>
          <a:ln/>
        </p:spPr>
        <p:txBody>
          <a:bodyPr wrap="square" lIns="0" tIns="0" rIns="0" bIns="0" rtlCol="0" anchor="ctr"/>
          <a:lstStyle/>
          <a:p>
            <a:pPr indent="0" marL="0">
              <a:buNone/>
            </a:pPr>
            <a:r>
              <a:rPr lang="en-US" sz="1400" b="1" dirty="0">
                <a:solidFill>
                  <a:schemeClr val="tx2"/>
                </a:solidFill>
              </a:rPr>
              <a:t>Proton Pass</a:t>
            </a:r>
            <a:endParaRPr lang="en-US" sz="1400" dirty="0"/>
          </a:p>
          <a:p>
            <a:pPr indent="0" marL="0">
              <a:buNone/>
            </a:pPr>
            <a:r>
              <a:rPr lang="en-US" sz="1400" dirty="0">
                <a:solidFill>
                  <a:schemeClr val="tx1"/>
                </a:solidFill>
              </a:rPr>
              <a:t>10 Aliase in der Gratis-Version</a:t>
            </a:r>
            <a:endParaRPr lang="en-US" sz="1400" dirty="0"/>
          </a:p>
        </p:txBody>
      </p:sp>
      <p:sp>
        <p:nvSpPr>
          <p:cNvPr id="40"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8" invalidUrl="" action="" tgtFrame="" tooltip="Bitwarden-Blog – Forwarded email alias generator (08.04.2026)" history="1" highlightClick="0" endSnd="0">
                  <a:extLst>
                    <a:ext uri="{A12FA001-AC4F-418D-AE19-62706E023703}">
                      <ahyp:hlinkClr xmlns:ahyp="http://schemas.microsoft.com/office/drawing/2018/hyperlinkcolor" val="tx"/>
                    </a:ext>
                  </a:extLst>
                </a:hlinkClick>
              </a:rPr>
              <a:t>[27] Bitwarden-Blog Aliase</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Bitwarden-Hilfe – Generator (Benutzernamen-Typen)" history="1" highlightClick="0" endSnd="0">
                  <a:extLst>
                    <a:ext uri="{A12FA001-AC4F-418D-AE19-62706E023703}">
                      <ahyp:hlinkClr xmlns:ahyp="http://schemas.microsoft.com/office/drawing/2018/hyperlinkcolor" val="tx"/>
                    </a:ext>
                  </a:extLst>
                </a:hlinkClick>
              </a:rPr>
              <a:t>[28] Bitwarden-Generator</a:t>
            </a:r>
            <a:pPr indent="0" marL="0">
              <a:buNone/>
            </a:pPr>
            <a:r>
              <a:rPr lang="en-US" sz="900" dirty="0">
                <a:solidFill>
                  <a:schemeClr val="accent6"/>
                </a:solidFill>
              </a:rPr>
              <a:t> · </a:t>
            </a:r>
            <a:pPr indent="0" marL="0">
              <a:buNone/>
            </a:pPr>
            <a:r>
              <a:rPr lang="en-US" sz="900" u="sng" dirty="0">
                <a:solidFill>
                  <a:schemeClr val="accent6"/>
                </a:solidFill>
                <a:hlinkClick r:id="rId10" invalidUrl="" action="" tgtFrame="" tooltip="Proton-Blog – Why email aliases are better than fake email addresses" history="1" highlightClick="0" endSnd="0">
                  <a:extLst>
                    <a:ext uri="{A12FA001-AC4F-418D-AE19-62706E023703}">
                      <ahyp:hlinkClr xmlns:ahyp="http://schemas.microsoft.com/office/drawing/2018/hyperlinkcolor" val="tx"/>
                    </a:ext>
                  </a:extLst>
                </a:hlinkClick>
              </a:rPr>
              <a:t>[29] Proton-Blog Aliase</a:t>
            </a:r>
            <a:pPr indent="0" marL="0">
              <a:buNone/>
            </a:pPr>
            <a:r>
              <a:rPr lang="en-US" sz="900" dirty="0">
                <a:solidFill>
                  <a:schemeClr val="accent6"/>
                </a:solidFill>
              </a:rPr>
              <a:t> · </a:t>
            </a:r>
            <a:pPr indent="0" marL="0">
              <a:buNone/>
            </a:pPr>
            <a:r>
              <a:rPr lang="en-US" sz="900" u="sng" dirty="0">
                <a:solidFill>
                  <a:schemeClr val="accent6"/>
                </a:solidFill>
                <a:hlinkClick r:id="rId11" invalidUrl="" action="" tgtFrame="" tooltip="Apple Support – „E-Mail-Adresse verbergen“ mit iCloud+" history="1" highlightClick="0" endSnd="0">
                  <a:extLst>
                    <a:ext uri="{A12FA001-AC4F-418D-AE19-62706E023703}">
                      <ahyp:hlinkClr xmlns:ahyp="http://schemas.microsoft.com/office/drawing/2018/hyperlinkcolor" val="tx"/>
                    </a:ext>
                  </a:extLst>
                </a:hlinkClick>
              </a:rPr>
              <a:t>[30] Apple E-Mail verbergen</a:t>
            </a:r>
            <a:pPr indent="0" marL="0">
              <a:buNone/>
            </a:pPr>
            <a:r>
              <a:rPr lang="en-US" sz="900" dirty="0">
                <a:solidFill>
                  <a:schemeClr val="accent6"/>
                </a:solidFill>
              </a:rPr>
              <a:t> · </a:t>
            </a:r>
            <a:pPr indent="0" marL="0">
              <a:buNone/>
            </a:pPr>
            <a:r>
              <a:rPr lang="en-US" sz="900" u="sng" dirty="0">
                <a:solidFill>
                  <a:schemeClr val="accent6"/>
                </a:solidFill>
                <a:hlinkClick r:id="rId12" invalidUrl="" action="" tgtFrame="" tooltip="Proton Pass – Preise und Pläne" history="1" highlightClick="0" endSnd="0">
                  <a:extLst>
                    <a:ext uri="{A12FA001-AC4F-418D-AE19-62706E023703}">
                      <ahyp:hlinkClr xmlns:ahyp="http://schemas.microsoft.com/office/drawing/2018/hyperlinkcolor" val="tx"/>
                    </a:ext>
                  </a:extLst>
                </a:hlinkClick>
              </a:rPr>
              <a:t>[31] Proton Pass Preise</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So geht's in Bitwarden</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Neuer Eintrag → beim Benutzernamen den Generator öffnen → Typ wählen → übernehmen und speichern.</a:t>
            </a:r>
            <a:endParaRPr lang="en-US" sz="1500" dirty="0"/>
          </a:p>
        </p:txBody>
      </p:sp>
      <p:sp>
        <p:nvSpPr>
          <p:cNvPr id="4" name="Typ Plus-Adresse"/>
          <p:cNvSpPr/>
          <p:nvPr/>
        </p:nvSpPr>
        <p:spPr>
          <a:xfrm>
            <a:off x="548640" y="1828800"/>
            <a:ext cx="3505200" cy="3429000"/>
          </a:xfrm>
          <a:prstGeom prst="roundRect">
            <a:avLst>
              <a:gd name="adj" fmla="val 3200"/>
            </a:avLst>
          </a:prstGeom>
          <a:solidFill>
            <a:schemeClr val="bg2"/>
          </a:solidFill>
          <a:ln w="12700">
            <a:solidFill>
              <a:schemeClr val="bg2"/>
            </a:solidFill>
            <a:prstDash val="solid"/>
          </a:ln>
        </p:spPr>
      </p:sp>
      <p:sp>
        <p:nvSpPr>
          <p:cNvPr id="5" name="Typ 1 Kreis"/>
          <p:cNvSpPr/>
          <p:nvPr/>
        </p:nvSpPr>
        <p:spPr>
          <a:xfrm>
            <a:off x="822960" y="2057400"/>
            <a:ext cx="548640" cy="548640"/>
          </a:xfrm>
          <a:prstGeom prst="ellipse">
            <a:avLst/>
          </a:prstGeom>
          <a:solidFill>
            <a:schemeClr val="tx2"/>
          </a:solidFill>
          <a:ln w="12700">
            <a:solidFill>
              <a:schemeClr val="tx2"/>
            </a:solidFill>
            <a:prstDash val="solid"/>
          </a:ln>
        </p:spPr>
      </p:sp>
      <p:sp>
        <p:nvSpPr>
          <p:cNvPr id="6" name="Text 4"/>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1508760" y="2057400"/>
            <a:ext cx="2316480" cy="548640"/>
          </a:xfrm>
          <a:prstGeom prst="rect">
            <a:avLst/>
          </a:prstGeom>
          <a:noFill/>
          <a:ln/>
        </p:spPr>
        <p:txBody>
          <a:bodyPr wrap="square" lIns="0" tIns="0" rIns="0" bIns="0" rtlCol="0" anchor="ctr"/>
          <a:lstStyle/>
          <a:p>
            <a:pPr indent="0" marL="0">
              <a:buNone/>
            </a:pPr>
            <a:r>
              <a:rPr lang="en-US" sz="2000" b="1" dirty="0">
                <a:solidFill>
                  <a:schemeClr val="tx2"/>
                </a:solidFill>
              </a:rPr>
              <a:t>Plus-Adresse</a:t>
            </a:r>
            <a:endParaRPr lang="en-US" sz="2000" dirty="0"/>
          </a:p>
        </p:txBody>
      </p:sp>
      <p:sp>
        <p:nvSpPr>
          <p:cNvPr id="8" name="Etikett ohne Einrichtung"/>
          <p:cNvSpPr/>
          <p:nvPr/>
        </p:nvSpPr>
        <p:spPr>
          <a:xfrm>
            <a:off x="822960" y="2788920"/>
            <a:ext cx="1530096" cy="292608"/>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822960" y="2788920"/>
            <a:ext cx="1530096" cy="292608"/>
          </a:xfrm>
          <a:prstGeom prst="rect">
            <a:avLst/>
          </a:prstGeom>
          <a:noFill/>
          <a:ln/>
        </p:spPr>
        <p:txBody>
          <a:bodyPr wrap="square" lIns="0" tIns="0" rIns="0" bIns="0" rtlCol="0" anchor="ctr"/>
          <a:lstStyle/>
          <a:p>
            <a:pPr algn="ctr" indent="0" marL="0">
              <a:buNone/>
            </a:pPr>
            <a:r>
              <a:rPr lang="en-US" sz="1200" b="1" dirty="0">
                <a:solidFill>
                  <a:schemeClr val="tx2"/>
                </a:solidFill>
              </a:rPr>
              <a:t>ohne Einrichtung</a:t>
            </a:r>
            <a:endParaRPr lang="en-US" sz="1200" dirty="0"/>
          </a:p>
        </p:txBody>
      </p:sp>
      <p:sp>
        <p:nvSpPr>
          <p:cNvPr id="10" name="Beispiel Plus-Adresse"/>
          <p:cNvSpPr/>
          <p:nvPr/>
        </p:nvSpPr>
        <p:spPr>
          <a:xfrm>
            <a:off x="822960" y="3246120"/>
            <a:ext cx="2956560" cy="502920"/>
          </a:xfrm>
          <a:prstGeom prst="roundRect">
            <a:avLst>
              <a:gd name="adj" fmla="val 21818"/>
            </a:avLst>
          </a:prstGeom>
          <a:solidFill>
            <a:schemeClr val="bg1"/>
          </a:solidFill>
          <a:ln w="12700">
            <a:solidFill>
              <a:schemeClr val="bg1"/>
            </a:solidFill>
            <a:prstDash val="solid"/>
          </a:ln>
        </p:spPr>
      </p:sp>
      <p:sp>
        <p:nvSpPr>
          <p:cNvPr id="11" name="Text 9"/>
          <p:cNvSpPr txBox="1"/>
          <p:nvPr/>
        </p:nvSpPr>
        <p:spPr>
          <a:xfrm>
            <a:off x="932688" y="3246120"/>
            <a:ext cx="2737104" cy="502920"/>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max+gsd4aqqe@example.org</a:t>
            </a:r>
            <a:endParaRPr lang="en-US" sz="1200" dirty="0"/>
          </a:p>
        </p:txBody>
      </p:sp>
      <p:sp>
        <p:nvSpPr>
          <p:cNvPr id="12" name="Text 10"/>
          <p:cNvSpPr txBox="1"/>
          <p:nvPr/>
        </p:nvSpPr>
        <p:spPr>
          <a:xfrm>
            <a:off x="822960" y="3886200"/>
            <a:ext cx="2956560" cy="1280160"/>
          </a:xfrm>
          <a:prstGeom prst="rect">
            <a:avLst/>
          </a:prstGeom>
          <a:noFill/>
          <a:ln/>
        </p:spPr>
        <p:txBody>
          <a:bodyPr wrap="square" lIns="0" tIns="0" rIns="0" bIns="0" rtlCol="0" anchor="t"/>
          <a:lstStyle/>
          <a:p>
            <a:pPr indent="0" marL="0">
              <a:buNone/>
            </a:pPr>
            <a:r>
              <a:rPr lang="en-US" sz="1500" dirty="0">
                <a:solidFill>
                  <a:schemeClr val="tx1"/>
                </a:solidFill>
              </a:rPr>
              <a:t>Hängt „+Zufallstext“ an deine Adresse. Die Mail landet im normalen Postfach – wenn dein Anbieter das „+“ unterstützt.</a:t>
            </a:r>
            <a:endParaRPr lang="en-US" sz="1500" dirty="0"/>
          </a:p>
        </p:txBody>
      </p:sp>
      <p:sp>
        <p:nvSpPr>
          <p:cNvPr id="13" name="Typ Catch-all"/>
          <p:cNvSpPr/>
          <p:nvPr/>
        </p:nvSpPr>
        <p:spPr>
          <a:xfrm>
            <a:off x="4328160" y="1828800"/>
            <a:ext cx="3505200" cy="3429000"/>
          </a:xfrm>
          <a:prstGeom prst="roundRect">
            <a:avLst>
              <a:gd name="adj" fmla="val 3200"/>
            </a:avLst>
          </a:prstGeom>
          <a:solidFill>
            <a:schemeClr val="bg2"/>
          </a:solidFill>
          <a:ln w="12700">
            <a:solidFill>
              <a:schemeClr val="bg2"/>
            </a:solidFill>
            <a:prstDash val="solid"/>
          </a:ln>
        </p:spPr>
      </p:sp>
      <p:sp>
        <p:nvSpPr>
          <p:cNvPr id="14" name="Typ 2 Kreis"/>
          <p:cNvSpPr/>
          <p:nvPr/>
        </p:nvSpPr>
        <p:spPr>
          <a:xfrm>
            <a:off x="4602480" y="2057400"/>
            <a:ext cx="548640" cy="548640"/>
          </a:xfrm>
          <a:prstGeom prst="ellipse">
            <a:avLst/>
          </a:prstGeom>
          <a:solidFill>
            <a:schemeClr val="tx2"/>
          </a:solidFill>
          <a:ln w="12700">
            <a:solidFill>
              <a:schemeClr val="tx2"/>
            </a:solidFill>
            <a:prstDash val="solid"/>
          </a:ln>
        </p:spPr>
      </p:sp>
      <p:sp>
        <p:nvSpPr>
          <p:cNvPr id="15" name="Text 13"/>
          <p:cNvSpPr txBox="1"/>
          <p:nvPr/>
        </p:nvSpPr>
        <p:spPr>
          <a:xfrm>
            <a:off x="4602480" y="2057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4"/>
          <p:cNvSpPr txBox="1"/>
          <p:nvPr/>
        </p:nvSpPr>
        <p:spPr>
          <a:xfrm>
            <a:off x="5288280" y="2057400"/>
            <a:ext cx="2316480" cy="548640"/>
          </a:xfrm>
          <a:prstGeom prst="rect">
            <a:avLst/>
          </a:prstGeom>
          <a:noFill/>
          <a:ln/>
        </p:spPr>
        <p:txBody>
          <a:bodyPr wrap="square" lIns="0" tIns="0" rIns="0" bIns="0" rtlCol="0" anchor="ctr"/>
          <a:lstStyle/>
          <a:p>
            <a:pPr indent="0" marL="0">
              <a:buNone/>
            </a:pPr>
            <a:r>
              <a:rPr lang="en-US" sz="2000" b="1" dirty="0">
                <a:solidFill>
                  <a:schemeClr val="tx2"/>
                </a:solidFill>
              </a:rPr>
              <a:t>Catch-all</a:t>
            </a:r>
            <a:endParaRPr lang="en-US" sz="2000" dirty="0"/>
          </a:p>
        </p:txBody>
      </p:sp>
      <p:sp>
        <p:nvSpPr>
          <p:cNvPr id="17" name="Etikett eigene Domain nötig"/>
          <p:cNvSpPr/>
          <p:nvPr/>
        </p:nvSpPr>
        <p:spPr>
          <a:xfrm>
            <a:off x="4602480" y="2788920"/>
            <a:ext cx="1758696" cy="292608"/>
          </a:xfrm>
          <a:prstGeom prst="roundRect">
            <a:avLst>
              <a:gd name="adj" fmla="val 50000"/>
            </a:avLst>
          </a:prstGeom>
          <a:solidFill>
            <a:schemeClr val="accent1"/>
          </a:solidFill>
          <a:ln w="12700">
            <a:solidFill>
              <a:schemeClr val="accent1"/>
            </a:solidFill>
            <a:prstDash val="solid"/>
          </a:ln>
        </p:spPr>
      </p:sp>
      <p:sp>
        <p:nvSpPr>
          <p:cNvPr id="18" name="Text 16"/>
          <p:cNvSpPr txBox="1"/>
          <p:nvPr/>
        </p:nvSpPr>
        <p:spPr>
          <a:xfrm>
            <a:off x="4602480" y="2788920"/>
            <a:ext cx="1758696" cy="292608"/>
          </a:xfrm>
          <a:prstGeom prst="rect">
            <a:avLst/>
          </a:prstGeom>
          <a:noFill/>
          <a:ln/>
        </p:spPr>
        <p:txBody>
          <a:bodyPr wrap="square" lIns="0" tIns="0" rIns="0" bIns="0" rtlCol="0" anchor="ctr"/>
          <a:lstStyle/>
          <a:p>
            <a:pPr algn="ctr" indent="0" marL="0">
              <a:buNone/>
            </a:pPr>
            <a:r>
              <a:rPr lang="en-US" sz="1200" b="1" dirty="0">
                <a:solidFill>
                  <a:schemeClr val="tx2"/>
                </a:solidFill>
              </a:rPr>
              <a:t>eigene Domain nötig</a:t>
            </a:r>
            <a:endParaRPr lang="en-US" sz="1200" dirty="0"/>
          </a:p>
        </p:txBody>
      </p:sp>
      <p:sp>
        <p:nvSpPr>
          <p:cNvPr id="19" name="Beispiel Catch-all"/>
          <p:cNvSpPr/>
          <p:nvPr/>
        </p:nvSpPr>
        <p:spPr>
          <a:xfrm>
            <a:off x="4602480" y="3246120"/>
            <a:ext cx="2956560" cy="502920"/>
          </a:xfrm>
          <a:prstGeom prst="roundRect">
            <a:avLst>
              <a:gd name="adj" fmla="val 21818"/>
            </a:avLst>
          </a:prstGeom>
          <a:solidFill>
            <a:schemeClr val="bg1"/>
          </a:solidFill>
          <a:ln w="12700">
            <a:solidFill>
              <a:schemeClr val="bg1"/>
            </a:solidFill>
            <a:prstDash val="solid"/>
          </a:ln>
        </p:spPr>
      </p:sp>
      <p:sp>
        <p:nvSpPr>
          <p:cNvPr id="20" name="Text 18"/>
          <p:cNvSpPr txBox="1"/>
          <p:nvPr/>
        </p:nvSpPr>
        <p:spPr>
          <a:xfrm>
            <a:off x="4712208" y="3246120"/>
            <a:ext cx="2737104" cy="502920"/>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bqzjlero@meine-domain.example</a:t>
            </a:r>
            <a:endParaRPr lang="en-US" sz="1200" dirty="0"/>
          </a:p>
        </p:txBody>
      </p:sp>
      <p:sp>
        <p:nvSpPr>
          <p:cNvPr id="21" name="Text 19"/>
          <p:cNvSpPr txBox="1"/>
          <p:nvPr/>
        </p:nvSpPr>
        <p:spPr>
          <a:xfrm>
            <a:off x="4602480" y="3886200"/>
            <a:ext cx="2956560" cy="1280160"/>
          </a:xfrm>
          <a:prstGeom prst="rect">
            <a:avLst/>
          </a:prstGeom>
          <a:noFill/>
          <a:ln/>
        </p:spPr>
        <p:txBody>
          <a:bodyPr wrap="square" lIns="0" tIns="0" rIns="0" bIns="0" rtlCol="0" anchor="t"/>
          <a:lstStyle/>
          <a:p>
            <a:pPr indent="0" marL="0">
              <a:buNone/>
            </a:pPr>
            <a:r>
              <a:rPr lang="en-US" sz="1500" dirty="0">
                <a:solidFill>
                  <a:schemeClr val="tx1"/>
                </a:solidFill>
              </a:rPr>
              <a:t>Zufällige Adresse unter deiner eigenen Domain. Alles landet im Sammel-Postfach (Catch-all) dieser Domain.</a:t>
            </a:r>
            <a:endParaRPr lang="en-US" sz="1500" dirty="0"/>
          </a:p>
        </p:txBody>
      </p:sp>
      <p:sp>
        <p:nvSpPr>
          <p:cNvPr id="22" name="Typ Weiterleitungs-Alias"/>
          <p:cNvSpPr/>
          <p:nvPr/>
        </p:nvSpPr>
        <p:spPr>
          <a:xfrm>
            <a:off x="8107680" y="1828800"/>
            <a:ext cx="3505200" cy="3429000"/>
          </a:xfrm>
          <a:prstGeom prst="roundRect">
            <a:avLst>
              <a:gd name="adj" fmla="val 3200"/>
            </a:avLst>
          </a:prstGeom>
          <a:solidFill>
            <a:schemeClr val="bg2"/>
          </a:solidFill>
          <a:ln w="12700">
            <a:solidFill>
              <a:schemeClr val="bg2"/>
            </a:solidFill>
            <a:prstDash val="solid"/>
          </a:ln>
        </p:spPr>
      </p:sp>
      <p:sp>
        <p:nvSpPr>
          <p:cNvPr id="23" name="Typ 3 Kreis"/>
          <p:cNvSpPr/>
          <p:nvPr/>
        </p:nvSpPr>
        <p:spPr>
          <a:xfrm>
            <a:off x="8382000" y="2057400"/>
            <a:ext cx="548640" cy="548640"/>
          </a:xfrm>
          <a:prstGeom prst="ellipse">
            <a:avLst/>
          </a:prstGeom>
          <a:solidFill>
            <a:schemeClr val="tx2"/>
          </a:solidFill>
          <a:ln w="12700">
            <a:solidFill>
              <a:schemeClr val="tx2"/>
            </a:solidFill>
            <a:prstDash val="solid"/>
          </a:ln>
        </p:spPr>
      </p:sp>
      <p:sp>
        <p:nvSpPr>
          <p:cNvPr id="24" name="Text 22"/>
          <p:cNvSpPr txBox="1"/>
          <p:nvPr/>
        </p:nvSpPr>
        <p:spPr>
          <a:xfrm>
            <a:off x="8382000" y="2057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5" name="Text 23"/>
          <p:cNvSpPr txBox="1"/>
          <p:nvPr/>
        </p:nvSpPr>
        <p:spPr>
          <a:xfrm>
            <a:off x="9067800" y="2057400"/>
            <a:ext cx="2316480" cy="548640"/>
          </a:xfrm>
          <a:prstGeom prst="rect">
            <a:avLst/>
          </a:prstGeom>
          <a:noFill/>
          <a:ln/>
        </p:spPr>
        <p:txBody>
          <a:bodyPr wrap="square" lIns="0" tIns="0" rIns="0" bIns="0" rtlCol="0" anchor="ctr"/>
          <a:lstStyle/>
          <a:p>
            <a:pPr indent="0" marL="0">
              <a:buNone/>
            </a:pPr>
            <a:r>
              <a:rPr lang="en-US" sz="2000" b="1" dirty="0">
                <a:solidFill>
                  <a:schemeClr val="tx2"/>
                </a:solidFill>
              </a:rPr>
              <a:t>Weiterleitungs-Alias</a:t>
            </a:r>
            <a:endParaRPr lang="en-US" sz="2000" dirty="0"/>
          </a:p>
        </p:txBody>
      </p:sp>
      <p:sp>
        <p:nvSpPr>
          <p:cNvPr id="26" name="Etikett Alias-Dienst nötig"/>
          <p:cNvSpPr/>
          <p:nvPr/>
        </p:nvSpPr>
        <p:spPr>
          <a:xfrm>
            <a:off x="8382000" y="2788920"/>
            <a:ext cx="1682496" cy="292608"/>
          </a:xfrm>
          <a:prstGeom prst="roundRect">
            <a:avLst>
              <a:gd name="adj" fmla="val 50000"/>
            </a:avLst>
          </a:prstGeom>
          <a:solidFill>
            <a:schemeClr val="accent1"/>
          </a:solidFill>
          <a:ln w="12700">
            <a:solidFill>
              <a:schemeClr val="accent1"/>
            </a:solidFill>
            <a:prstDash val="solid"/>
          </a:ln>
        </p:spPr>
      </p:sp>
      <p:sp>
        <p:nvSpPr>
          <p:cNvPr id="27" name="Text 25"/>
          <p:cNvSpPr txBox="1"/>
          <p:nvPr/>
        </p:nvSpPr>
        <p:spPr>
          <a:xfrm>
            <a:off x="8382000" y="2788920"/>
            <a:ext cx="1682496" cy="292608"/>
          </a:xfrm>
          <a:prstGeom prst="rect">
            <a:avLst/>
          </a:prstGeom>
          <a:noFill/>
          <a:ln/>
        </p:spPr>
        <p:txBody>
          <a:bodyPr wrap="square" lIns="0" tIns="0" rIns="0" bIns="0" rtlCol="0" anchor="ctr"/>
          <a:lstStyle/>
          <a:p>
            <a:pPr algn="ctr" indent="0" marL="0">
              <a:buNone/>
            </a:pPr>
            <a:r>
              <a:rPr lang="en-US" sz="1200" b="1" dirty="0">
                <a:solidFill>
                  <a:schemeClr val="tx2"/>
                </a:solidFill>
              </a:rPr>
              <a:t>Alias-Dienst nötig</a:t>
            </a:r>
            <a:endParaRPr lang="en-US" sz="1200" dirty="0"/>
          </a:p>
        </p:txBody>
      </p:sp>
      <p:sp>
        <p:nvSpPr>
          <p:cNvPr id="28" name="Beispiel Weiterleitungs-Alias"/>
          <p:cNvSpPr/>
          <p:nvPr/>
        </p:nvSpPr>
        <p:spPr>
          <a:xfrm>
            <a:off x="8382000" y="3246120"/>
            <a:ext cx="2956560" cy="502920"/>
          </a:xfrm>
          <a:prstGeom prst="roundRect">
            <a:avLst>
              <a:gd name="adj" fmla="val 21818"/>
            </a:avLst>
          </a:prstGeom>
          <a:solidFill>
            <a:schemeClr val="bg1"/>
          </a:solidFill>
          <a:ln w="12700">
            <a:solidFill>
              <a:schemeClr val="bg1"/>
            </a:solidFill>
            <a:prstDash val="solid"/>
          </a:ln>
        </p:spPr>
      </p:sp>
      <p:sp>
        <p:nvSpPr>
          <p:cNvPr id="29" name="Text 27"/>
          <p:cNvSpPr txBox="1"/>
          <p:nvPr/>
        </p:nvSpPr>
        <p:spPr>
          <a:xfrm>
            <a:off x="8491728" y="3246120"/>
            <a:ext cx="2737104" cy="502920"/>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k7x2p9.d0p0r@relay.example</a:t>
            </a:r>
            <a:endParaRPr lang="en-US" sz="1200" dirty="0"/>
          </a:p>
        </p:txBody>
      </p:sp>
      <p:sp>
        <p:nvSpPr>
          <p:cNvPr id="30" name="Text 28"/>
          <p:cNvSpPr txBox="1"/>
          <p:nvPr/>
        </p:nvSpPr>
        <p:spPr>
          <a:xfrm>
            <a:off x="8382000" y="3886200"/>
            <a:ext cx="2956560" cy="1280160"/>
          </a:xfrm>
          <a:prstGeom prst="rect">
            <a:avLst/>
          </a:prstGeom>
          <a:noFill/>
          <a:ln/>
        </p:spPr>
        <p:txBody>
          <a:bodyPr wrap="square" lIns="0" tIns="0" rIns="0" bIns="0" rtlCol="0" anchor="t"/>
          <a:lstStyle/>
          <a:p>
            <a:pPr indent="0" marL="0">
              <a:buNone/>
            </a:pPr>
            <a:r>
              <a:rPr lang="en-US" sz="1500" dirty="0">
                <a:solidFill>
                  <a:schemeClr val="tx1"/>
                </a:solidFill>
              </a:rPr>
              <a:t>Bitwarden legt den Alias per API-Schlüssel automatisch an: SimpleLogin, addy.io, Firefox Relay, DuckDuckGo, Fastmail oder Forward Email.</a:t>
            </a:r>
            <a:endParaRPr lang="en-US" sz="1500" dirty="0"/>
          </a:p>
        </p:txBody>
      </p:sp>
      <p:sp>
        <p:nvSpPr>
          <p:cNvPr id="31" name="Hinweis kostenlos"/>
          <p:cNvSpPr/>
          <p:nvPr/>
        </p:nvSpPr>
        <p:spPr>
          <a:xfrm>
            <a:off x="548640" y="5440680"/>
            <a:ext cx="11064240" cy="548640"/>
          </a:xfrm>
          <a:prstGeom prst="roundRect">
            <a:avLst>
              <a:gd name="adj" fmla="val 20000"/>
            </a:avLst>
          </a:prstGeom>
          <a:solidFill>
            <a:schemeClr val="tx2"/>
          </a:solidFill>
          <a:ln w="12700">
            <a:solidFill>
              <a:schemeClr val="tx2"/>
            </a:solidFill>
            <a:prstDash val="solid"/>
          </a:ln>
        </p:spPr>
      </p:sp>
      <p:sp>
        <p:nvSpPr>
          <p:cNvPr id="32" name="Text 30"/>
          <p:cNvSpPr txBox="1"/>
          <p:nvPr/>
        </p:nvSpPr>
        <p:spPr>
          <a:xfrm>
            <a:off x="822960" y="5440680"/>
            <a:ext cx="10607040" cy="548640"/>
          </a:xfrm>
          <a:prstGeom prst="rect">
            <a:avLst/>
          </a:prstGeom>
          <a:noFill/>
          <a:ln/>
        </p:spPr>
        <p:txBody>
          <a:bodyPr wrap="square" lIns="0" tIns="0" rIns="0" bIns="0" rtlCol="0" anchor="ctr"/>
          <a:lstStyle/>
          <a:p>
            <a:pPr indent="0" marL="0">
              <a:buNone/>
            </a:pPr>
            <a:r>
              <a:rPr lang="en-US" sz="1700" b="1" dirty="0">
                <a:solidFill>
                  <a:schemeClr val="accent1"/>
                </a:solidFill>
              </a:rPr>
              <a:t>Gut zu wissen: </a:t>
            </a:r>
            <a:pPr indent="0" marL="0">
              <a:buNone/>
            </a:pPr>
            <a:r>
              <a:rPr lang="en-US" sz="1700" dirty="0">
                <a:solidFill>
                  <a:schemeClr val="bg1"/>
                </a:solidFill>
              </a:rPr>
              <a:t>Klappt mit dem kostenlosen Bitwarden-Konto. Manche Alias-Dienste kosten extra.</a:t>
            </a:r>
            <a:endParaRPr lang="en-US" sz="1700" dirty="0"/>
          </a:p>
        </p:txBody>
      </p:sp>
      <p:sp>
        <p:nvSpPr>
          <p:cNvPr id="33"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1" invalidUrl="" action="" tgtFrame="" tooltip="Bitwarden-Blog – Forwarded email alias generator (08.04.2026)" history="1" highlightClick="0" endSnd="0">
                  <a:extLst>
                    <a:ext uri="{A12FA001-AC4F-418D-AE19-62706E023703}">
                      <ahyp:hlinkClr xmlns:ahyp="http://schemas.microsoft.com/office/drawing/2018/hyperlinkcolor" val="tx"/>
                    </a:ext>
                  </a:extLst>
                </a:hlinkClick>
              </a:rPr>
              <a:t>[27] Bitwarden-Blog Aliase</a:t>
            </a:r>
            <a:pPr indent="0" marL="0">
              <a:buNone/>
            </a:pPr>
            <a:r>
              <a:rPr lang="en-US" sz="900" dirty="0">
                <a:solidFill>
                  <a:schemeClr val="accent6"/>
                </a:solidFill>
              </a:rPr>
              <a:t> · </a:t>
            </a:r>
            <a:pPr indent="0" marL="0">
              <a:buNone/>
            </a:pPr>
            <a:r>
              <a:rPr lang="en-US" sz="900" u="sng" dirty="0">
                <a:solidFill>
                  <a:schemeClr val="accent6"/>
                </a:solidFill>
                <a:hlinkClick r:id="rId2" invalidUrl="" action="" tgtFrame="" tooltip="Bitwarden-Hilfe – Generator (Benutzernamen-Typen)" history="1" highlightClick="0" endSnd="0">
                  <a:extLst>
                    <a:ext uri="{A12FA001-AC4F-418D-AE19-62706E023703}">
                      <ahyp:hlinkClr xmlns:ahyp="http://schemas.microsoft.com/office/drawing/2018/hyperlinkcolor" val="tx"/>
                    </a:ext>
                  </a:extLst>
                </a:hlinkClick>
              </a:rPr>
              <a:t>[28] Bitwarden-Generator</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Der zweite Schlüssel: Zwei-Faktor (2FA)</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Zum Passwort kommt ein Code vom Handy. Er ändert sich alle 30 Sekunden.</a:t>
            </a:r>
            <a:endParaRPr lang="en-US" sz="1500" dirty="0"/>
          </a:p>
        </p:txBody>
      </p:sp>
      <p:sp>
        <p:nvSpPr>
          <p:cNvPr id="4" name="key Kreis"/>
          <p:cNvSpPr/>
          <p:nvPr/>
        </p:nvSpPr>
        <p:spPr>
          <a:xfrm>
            <a:off x="1417320" y="2011680"/>
            <a:ext cx="1463040" cy="1463040"/>
          </a:xfrm>
          <a:prstGeom prst="ellipse">
            <a:avLst/>
          </a:prstGeom>
          <a:solidFill>
            <a:schemeClr val="accent1"/>
          </a:solidFill>
          <a:ln w="12700">
            <a:solidFill>
              <a:schemeClr val="accent1"/>
            </a:solidFill>
            <a:prstDash val="solid"/>
          </a:ln>
        </p:spPr>
      </p:sp>
      <p:pic>
        <p:nvPicPr>
          <p:cNvPr id="5" name="key Icon" descr="key">    </p:cNvPr>
          <p:cNvPicPr>
            <a:picLocks noChangeAspect="1"/>
          </p:cNvPicPr>
          <p:nvPr/>
        </p:nvPicPr>
        <p:blipFill>
          <a:blip r:embed="rId1"/>
          <a:stretch>
            <a:fillRect/>
          </a:stretch>
        </p:blipFill>
        <p:spPr>
          <a:xfrm>
            <a:off x="1768450" y="2362810"/>
            <a:ext cx="760781" cy="760781"/>
          </a:xfrm>
          <a:prstGeom prst="rect">
            <a:avLst/>
          </a:prstGeom>
        </p:spPr>
      </p:pic>
      <p:sp>
        <p:nvSpPr>
          <p:cNvPr id="6" name="Text 3"/>
          <p:cNvSpPr txBox="1"/>
          <p:nvPr/>
        </p:nvSpPr>
        <p:spPr>
          <a:xfrm>
            <a:off x="548640" y="3657600"/>
            <a:ext cx="3200400" cy="457200"/>
          </a:xfrm>
          <a:prstGeom prst="rect">
            <a:avLst/>
          </a:prstGeom>
          <a:noFill/>
          <a:ln/>
        </p:spPr>
        <p:txBody>
          <a:bodyPr wrap="square" lIns="0" tIns="0" rIns="0" bIns="0" rtlCol="0" anchor="t"/>
          <a:lstStyle/>
          <a:p>
            <a:pPr algn="ctr" indent="0" marL="0">
              <a:buNone/>
            </a:pPr>
            <a:r>
              <a:rPr lang="en-US" sz="2400" b="1" dirty="0">
                <a:solidFill>
                  <a:schemeClr val="bg1"/>
                </a:solidFill>
              </a:rPr>
              <a:t>Passwort</a:t>
            </a:r>
            <a:endParaRPr lang="en-US" sz="2400" dirty="0"/>
          </a:p>
        </p:txBody>
      </p:sp>
      <p:sp>
        <p:nvSpPr>
          <p:cNvPr id="7" name="Text 4"/>
          <p:cNvSpPr txBox="1"/>
          <p:nvPr/>
        </p:nvSpPr>
        <p:spPr>
          <a:xfrm>
            <a:off x="548640" y="4160520"/>
            <a:ext cx="3200400" cy="640080"/>
          </a:xfrm>
          <a:prstGeom prst="rect">
            <a:avLst/>
          </a:prstGeom>
          <a:noFill/>
          <a:ln/>
        </p:spPr>
        <p:txBody>
          <a:bodyPr wrap="square" lIns="0" tIns="0" rIns="0" bIns="0" rtlCol="0" anchor="t"/>
          <a:lstStyle/>
          <a:p>
            <a:pPr algn="ctr" indent="0" marL="0">
              <a:buNone/>
            </a:pPr>
            <a:r>
              <a:rPr lang="en-US" sz="1600" dirty="0">
                <a:solidFill>
                  <a:schemeClr val="accent5"/>
                </a:solidFill>
              </a:rPr>
              <a:t>etwas, das du weißt</a:t>
            </a:r>
            <a:endParaRPr lang="en-US" sz="1600" dirty="0"/>
          </a:p>
        </p:txBody>
      </p:sp>
      <p:sp>
        <p:nvSpPr>
          <p:cNvPr id="8" name="Text 5"/>
          <p:cNvSpPr txBox="1"/>
          <p:nvPr/>
        </p:nvSpPr>
        <p:spPr>
          <a:xfrm>
            <a:off x="3749040" y="2240280"/>
            <a:ext cx="731520" cy="1005840"/>
          </a:xfrm>
          <a:prstGeom prst="rect">
            <a:avLst/>
          </a:prstGeom>
          <a:noFill/>
          <a:ln/>
        </p:spPr>
        <p:txBody>
          <a:bodyPr wrap="square" lIns="0" tIns="0" rIns="0" bIns="0" rtlCol="0" anchor="ctr"/>
          <a:lstStyle/>
          <a:p>
            <a:pPr algn="ctr" indent="0" marL="0">
              <a:buNone/>
            </a:pPr>
            <a:r>
              <a:rPr lang="en-US" sz="6000" b="1" dirty="0">
                <a:solidFill>
                  <a:schemeClr val="accent1"/>
                </a:solidFill>
              </a:rPr>
              <a:t>+</a:t>
            </a:r>
            <a:endParaRPr lang="en-US" sz="6000" dirty="0"/>
          </a:p>
        </p:txBody>
      </p:sp>
      <p:sp>
        <p:nvSpPr>
          <p:cNvPr id="9" name="phone Kreis"/>
          <p:cNvSpPr/>
          <p:nvPr/>
        </p:nvSpPr>
        <p:spPr>
          <a:xfrm>
            <a:off x="5349240" y="2011680"/>
            <a:ext cx="1463040" cy="1463040"/>
          </a:xfrm>
          <a:prstGeom prst="ellipse">
            <a:avLst/>
          </a:prstGeom>
          <a:solidFill>
            <a:schemeClr val="accent1"/>
          </a:solidFill>
          <a:ln w="12700">
            <a:solidFill>
              <a:schemeClr val="accent1"/>
            </a:solidFill>
            <a:prstDash val="solid"/>
          </a:ln>
        </p:spPr>
      </p:sp>
      <p:pic>
        <p:nvPicPr>
          <p:cNvPr id="10" name="phone Icon" descr="phone">    </p:cNvPr>
          <p:cNvPicPr>
            <a:picLocks noChangeAspect="1"/>
          </p:cNvPicPr>
          <p:nvPr/>
        </p:nvPicPr>
        <p:blipFill>
          <a:blip r:embed="rId2"/>
          <a:stretch>
            <a:fillRect/>
          </a:stretch>
        </p:blipFill>
        <p:spPr>
          <a:xfrm>
            <a:off x="5700370" y="2362810"/>
            <a:ext cx="760781" cy="760781"/>
          </a:xfrm>
          <a:prstGeom prst="rect">
            <a:avLst/>
          </a:prstGeom>
        </p:spPr>
      </p:pic>
      <p:sp>
        <p:nvSpPr>
          <p:cNvPr id="11" name="Text 7"/>
          <p:cNvSpPr txBox="1"/>
          <p:nvPr/>
        </p:nvSpPr>
        <p:spPr>
          <a:xfrm>
            <a:off x="4480560" y="3657600"/>
            <a:ext cx="3200400" cy="457200"/>
          </a:xfrm>
          <a:prstGeom prst="rect">
            <a:avLst/>
          </a:prstGeom>
          <a:noFill/>
          <a:ln/>
        </p:spPr>
        <p:txBody>
          <a:bodyPr wrap="square" lIns="0" tIns="0" rIns="0" bIns="0" rtlCol="0" anchor="t"/>
          <a:lstStyle/>
          <a:p>
            <a:pPr algn="ctr" indent="0" marL="0">
              <a:buNone/>
            </a:pPr>
            <a:r>
              <a:rPr lang="en-US" sz="2400" b="1" dirty="0">
                <a:solidFill>
                  <a:schemeClr val="bg1"/>
                </a:solidFill>
              </a:rPr>
              <a:t>Code vom Handy</a:t>
            </a:r>
            <a:endParaRPr lang="en-US" sz="2400" dirty="0"/>
          </a:p>
        </p:txBody>
      </p:sp>
      <p:sp>
        <p:nvSpPr>
          <p:cNvPr id="12" name="Text 8"/>
          <p:cNvSpPr txBox="1"/>
          <p:nvPr/>
        </p:nvSpPr>
        <p:spPr>
          <a:xfrm>
            <a:off x="4480560" y="4160520"/>
            <a:ext cx="3200400" cy="640080"/>
          </a:xfrm>
          <a:prstGeom prst="rect">
            <a:avLst/>
          </a:prstGeom>
          <a:noFill/>
          <a:ln/>
        </p:spPr>
        <p:txBody>
          <a:bodyPr wrap="square" lIns="0" tIns="0" rIns="0" bIns="0" rtlCol="0" anchor="t"/>
          <a:lstStyle/>
          <a:p>
            <a:pPr algn="ctr" indent="0" marL="0">
              <a:buNone/>
            </a:pPr>
            <a:r>
              <a:rPr lang="en-US" sz="1600" dirty="0">
                <a:solidFill>
                  <a:schemeClr val="accent5"/>
                </a:solidFill>
              </a:rPr>
              <a:t>etwas, das du hast</a:t>
            </a:r>
            <a:endParaRPr lang="en-US" sz="1600" dirty="0"/>
          </a:p>
        </p:txBody>
      </p:sp>
      <p:sp>
        <p:nvSpPr>
          <p:cNvPr id="13" name="Text 9"/>
          <p:cNvSpPr txBox="1"/>
          <p:nvPr/>
        </p:nvSpPr>
        <p:spPr>
          <a:xfrm>
            <a:off x="7680960" y="2240280"/>
            <a:ext cx="731520" cy="1005840"/>
          </a:xfrm>
          <a:prstGeom prst="rect">
            <a:avLst/>
          </a:prstGeom>
          <a:noFill/>
          <a:ln/>
        </p:spPr>
        <p:txBody>
          <a:bodyPr wrap="square" lIns="0" tIns="0" rIns="0" bIns="0" rtlCol="0" anchor="ctr"/>
          <a:lstStyle/>
          <a:p>
            <a:pPr algn="ctr" indent="0" marL="0">
              <a:buNone/>
            </a:pPr>
            <a:r>
              <a:rPr lang="en-US" sz="6000" b="1" dirty="0">
                <a:solidFill>
                  <a:schemeClr val="accent1"/>
                </a:solidFill>
              </a:rPr>
              <a:t>=</a:t>
            </a:r>
            <a:endParaRPr lang="en-US" sz="6000" dirty="0"/>
          </a:p>
        </p:txBody>
      </p:sp>
      <p:sp>
        <p:nvSpPr>
          <p:cNvPr id="14" name="shield Kreis"/>
          <p:cNvSpPr/>
          <p:nvPr/>
        </p:nvSpPr>
        <p:spPr>
          <a:xfrm>
            <a:off x="9281160" y="2011680"/>
            <a:ext cx="1463040" cy="1463040"/>
          </a:xfrm>
          <a:prstGeom prst="ellipse">
            <a:avLst/>
          </a:prstGeom>
          <a:solidFill>
            <a:schemeClr val="accent4"/>
          </a:solidFill>
          <a:ln w="12700">
            <a:solidFill>
              <a:schemeClr val="accent4"/>
            </a:solidFill>
            <a:prstDash val="solid"/>
          </a:ln>
        </p:spPr>
      </p:sp>
      <p:pic>
        <p:nvPicPr>
          <p:cNvPr id="15" name="shield Icon" descr="shield">    </p:cNvPr>
          <p:cNvPicPr>
            <a:picLocks noChangeAspect="1"/>
          </p:cNvPicPr>
          <p:nvPr/>
        </p:nvPicPr>
        <p:blipFill>
          <a:blip r:embed="rId3"/>
          <a:stretch>
            <a:fillRect/>
          </a:stretch>
        </p:blipFill>
        <p:spPr>
          <a:xfrm>
            <a:off x="9632290" y="2362810"/>
            <a:ext cx="760781" cy="760781"/>
          </a:xfrm>
          <a:prstGeom prst="rect">
            <a:avLst/>
          </a:prstGeom>
        </p:spPr>
      </p:pic>
      <p:sp>
        <p:nvSpPr>
          <p:cNvPr id="16" name="Text 11"/>
          <p:cNvSpPr txBox="1"/>
          <p:nvPr/>
        </p:nvSpPr>
        <p:spPr>
          <a:xfrm>
            <a:off x="8412480" y="3657600"/>
            <a:ext cx="3200400" cy="457200"/>
          </a:xfrm>
          <a:prstGeom prst="rect">
            <a:avLst/>
          </a:prstGeom>
          <a:noFill/>
          <a:ln/>
        </p:spPr>
        <p:txBody>
          <a:bodyPr wrap="square" lIns="0" tIns="0" rIns="0" bIns="0" rtlCol="0" anchor="t"/>
          <a:lstStyle/>
          <a:p>
            <a:pPr algn="ctr" indent="0" marL="0">
              <a:buNone/>
            </a:pPr>
            <a:r>
              <a:rPr lang="en-US" sz="2400" b="1" dirty="0">
                <a:solidFill>
                  <a:schemeClr val="bg1"/>
                </a:solidFill>
              </a:rPr>
              <a:t>Konto sicher</a:t>
            </a:r>
            <a:endParaRPr lang="en-US" sz="2400" dirty="0"/>
          </a:p>
        </p:txBody>
      </p:sp>
      <p:sp>
        <p:nvSpPr>
          <p:cNvPr id="17" name="Text 12"/>
          <p:cNvSpPr txBox="1"/>
          <p:nvPr/>
        </p:nvSpPr>
        <p:spPr>
          <a:xfrm>
            <a:off x="8412480" y="4160520"/>
            <a:ext cx="3200400" cy="640080"/>
          </a:xfrm>
          <a:prstGeom prst="rect">
            <a:avLst/>
          </a:prstGeom>
          <a:noFill/>
          <a:ln/>
        </p:spPr>
        <p:txBody>
          <a:bodyPr wrap="square" lIns="0" tIns="0" rIns="0" bIns="0" rtlCol="0" anchor="t"/>
          <a:lstStyle/>
          <a:p>
            <a:pPr algn="ctr" indent="0" marL="0">
              <a:buNone/>
            </a:pPr>
            <a:r>
              <a:rPr lang="en-US" sz="1600" dirty="0">
                <a:solidFill>
                  <a:schemeClr val="accent5"/>
                </a:solidFill>
              </a:rPr>
              <a:t>auch wenn das Passwort geklaut wird</a:t>
            </a:r>
            <a:endParaRPr lang="en-US" sz="1600" dirty="0"/>
          </a:p>
        </p:txBody>
      </p:sp>
      <p:sp>
        <p:nvSpPr>
          <p:cNvPr id="18" name="Vergleich Geldautomat"/>
          <p:cNvSpPr/>
          <p:nvPr/>
        </p:nvSpPr>
        <p:spPr>
          <a:xfrm>
            <a:off x="548640" y="5074920"/>
            <a:ext cx="11064240" cy="868680"/>
          </a:xfrm>
          <a:prstGeom prst="roundRect">
            <a:avLst>
              <a:gd name="adj" fmla="val 12632"/>
            </a:avLst>
          </a:prstGeom>
          <a:solidFill>
            <a:schemeClr val="accent2"/>
          </a:solidFill>
          <a:ln w="12700">
            <a:solidFill>
              <a:schemeClr val="accent2"/>
            </a:solidFill>
            <a:prstDash val="solid"/>
          </a:ln>
        </p:spPr>
      </p:sp>
      <p:sp>
        <p:nvSpPr>
          <p:cNvPr id="19" name="Text 14"/>
          <p:cNvSpPr txBox="1"/>
          <p:nvPr/>
        </p:nvSpPr>
        <p:spPr>
          <a:xfrm>
            <a:off x="822960" y="5074920"/>
            <a:ext cx="10607040" cy="868680"/>
          </a:xfrm>
          <a:prstGeom prst="rect">
            <a:avLst/>
          </a:prstGeom>
          <a:noFill/>
          <a:ln/>
        </p:spPr>
        <p:txBody>
          <a:bodyPr wrap="square" lIns="0" tIns="0" rIns="0" bIns="0" rtlCol="0" anchor="ctr"/>
          <a:lstStyle/>
          <a:p>
            <a:pPr indent="0" marL="0">
              <a:buNone/>
            </a:pPr>
            <a:r>
              <a:rPr lang="en-US" sz="2000" b="1" dirty="0">
                <a:solidFill>
                  <a:schemeClr val="accent1"/>
                </a:solidFill>
              </a:rPr>
              <a:t>Wie am Geldautomaten: </a:t>
            </a:r>
            <a:pPr indent="0" marL="0">
              <a:buNone/>
            </a:pPr>
            <a:r>
              <a:rPr lang="en-US" sz="2000" dirty="0">
                <a:solidFill>
                  <a:schemeClr val="bg1"/>
                </a:solidFill>
              </a:rPr>
              <a:t>Karte und PIN. Wer nur dein Passwort hat, kommt trotzdem nicht rein.</a:t>
            </a:r>
            <a:endParaRPr lang="en-US" sz="2000" dirty="0"/>
          </a:p>
        </p:txBody>
      </p:sp>
      <p:sp>
        <p:nvSpPr>
          <p:cNvPr id="20"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5"/>
                </a:solidFill>
              </a:rPr>
              <a:t>Quellen: </a:t>
            </a:r>
            <a:pPr indent="0" marL="0">
              <a:buNone/>
            </a:pPr>
            <a:r>
              <a:rPr lang="en-US" sz="900" u="sng" dirty="0">
                <a:solidFill>
                  <a:schemeClr val="accent5"/>
                </a:solidFill>
                <a:hlinkClick r:id="rId4" invalidUrl="" action="" tgtFrame="" tooltip="BSI – Passwörter verwalten mit dem Passwort-Manager" history="1" highlightClick="0" endSnd="0">
                  <a:extLst>
                    <a:ext uri="{A12FA001-AC4F-418D-AE19-62706E023703}">
                      <ahyp:hlinkClr xmlns:ahyp="http://schemas.microsoft.com/office/drawing/2018/hyperlinkcolor" val="tx"/>
                    </a:ext>
                  </a:extLst>
                </a:hlinkClick>
              </a:rPr>
              <a:t>[9] BSI Passwort-Manager</a:t>
            </a:r>
            <a:pPr indent="0" marL="0">
              <a:buNone/>
            </a:pPr>
            <a:r>
              <a:rPr lang="en-US" sz="900" dirty="0">
                <a:solidFill>
                  <a:schemeClr val="accent5"/>
                </a:solidFill>
              </a:rPr>
              <a:t> · </a:t>
            </a:r>
            <a:pPr indent="0" marL="0">
              <a:buNone/>
            </a:pPr>
            <a:r>
              <a:rPr lang="en-US" sz="900" u="sng" dirty="0">
                <a:solidFill>
                  <a:schemeClr val="accent5"/>
                </a:solidFill>
                <a:hlinkClick r:id="rId5" invalidUrl="" action="" tgtFrame="" tooltip="BSI – Zwei-Faktor-Authentisierung" history="1" highlightClick="0" endSnd="0">
                  <a:extLst>
                    <a:ext uri="{A12FA001-AC4F-418D-AE19-62706E023703}">
                      <ahyp:hlinkClr xmlns:ahyp="http://schemas.microsoft.com/office/drawing/2018/hyperlinkcolor" val="tx"/>
                    </a:ext>
                  </a:extLst>
                </a:hlinkClick>
              </a:rPr>
              <a:t>[32] BSI Zwei-Faktor</a:t>
            </a:r>
            <a:pPr indent="0" marL="0">
              <a:buNone/>
            </a:pPr>
            <a:r>
              <a:rPr lang="en-US" sz="900" dirty="0">
                <a:solidFill>
                  <a:schemeClr val="accent5"/>
                </a:solidFill>
              </a:rPr>
              <a:t> · </a:t>
            </a:r>
            <a:pPr indent="0" marL="0">
              <a:buNone/>
            </a:pPr>
            <a:r>
              <a:rPr lang="en-US" sz="900" u="sng" dirty="0">
                <a:solidFill>
                  <a:schemeClr val="accent5"/>
                </a:solidFill>
                <a:hlinkClick r:id="rId6" invalidUrl="" action="" tgtFrame="" tooltip="RFC 6238 – TOTP, Abschnitt 5.2 (Zeitschritt 30 Sekunden)" history="1" highlightClick="0" endSnd="0">
                  <a:extLst>
                    <a:ext uri="{A12FA001-AC4F-418D-AE19-62706E023703}">
                      <ahyp:hlinkClr xmlns:ahyp="http://schemas.microsoft.com/office/drawing/2018/hyperlinkcolor" val="tx"/>
                    </a:ext>
                  </a:extLst>
                </a:hlinkClick>
              </a:rPr>
              <a:t>[33] RFC 6238</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Eine freie Authenticator-App wählen</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Für die Codes brauchst du eine App. Google und Microsoft haben eigene – es gibt bessere.</a:t>
            </a:r>
            <a:endParaRPr lang="en-US" sz="1500" dirty="0"/>
          </a:p>
        </p:txBody>
      </p:sp>
      <p:sp>
        <p:nvSpPr>
          <p:cNvPr id="4" name="Warum wechseln"/>
          <p:cNvSpPr/>
          <p:nvPr/>
        </p:nvSpPr>
        <p:spPr>
          <a:xfrm>
            <a:off x="548640" y="1828800"/>
            <a:ext cx="4206240" cy="4114800"/>
          </a:xfrm>
          <a:prstGeom prst="roundRect">
            <a:avLst>
              <a:gd name="adj" fmla="val 2667"/>
            </a:avLst>
          </a:prstGeom>
          <a:solidFill>
            <a:schemeClr val="tx2"/>
          </a:solidFill>
          <a:ln w="12700">
            <a:solidFill>
              <a:schemeClr val="tx2"/>
            </a:solidFill>
            <a:prstDash val="solid"/>
          </a:ln>
        </p:spPr>
      </p:sp>
      <p:sp>
        <p:nvSpPr>
          <p:cNvPr id="5" name="Text 3"/>
          <p:cNvSpPr txBox="1"/>
          <p:nvPr/>
        </p:nvSpPr>
        <p:spPr>
          <a:xfrm>
            <a:off x="822960" y="2057400"/>
            <a:ext cx="3657600" cy="731520"/>
          </a:xfrm>
          <a:prstGeom prst="rect">
            <a:avLst/>
          </a:prstGeom>
          <a:noFill/>
          <a:ln/>
        </p:spPr>
        <p:txBody>
          <a:bodyPr wrap="square" lIns="0" tIns="0" rIns="0" bIns="0" rtlCol="0" anchor="t"/>
          <a:lstStyle/>
          <a:p>
            <a:pPr indent="0" marL="0">
              <a:buNone/>
            </a:pPr>
            <a:r>
              <a:rPr lang="en-US" sz="2000" b="1" dirty="0">
                <a:solidFill>
                  <a:schemeClr val="accent1"/>
                </a:solidFill>
              </a:rPr>
              <a:t>Warum weg von Google und Microsoft?</a:t>
            </a:r>
            <a:endParaRPr lang="en-US" sz="2000" dirty="0"/>
          </a:p>
        </p:txBody>
      </p:sp>
      <p:sp>
        <p:nvSpPr>
          <p:cNvPr id="6" name="cloud Kreis"/>
          <p:cNvSpPr/>
          <p:nvPr/>
        </p:nvSpPr>
        <p:spPr>
          <a:xfrm>
            <a:off x="822960" y="2971800"/>
            <a:ext cx="640080" cy="640080"/>
          </a:xfrm>
          <a:prstGeom prst="ellipse">
            <a:avLst/>
          </a:prstGeom>
          <a:solidFill>
            <a:schemeClr val="accent2"/>
          </a:solidFill>
          <a:ln w="12700">
            <a:solidFill>
              <a:schemeClr val="accent2"/>
            </a:solidFill>
            <a:prstDash val="solid"/>
          </a:ln>
        </p:spPr>
      </p:sp>
      <p:pic>
        <p:nvPicPr>
          <p:cNvPr id="7" name="cloud Icon" descr="cloud">    </p:cNvPr>
          <p:cNvPicPr>
            <a:picLocks noChangeAspect="1"/>
          </p:cNvPicPr>
          <p:nvPr/>
        </p:nvPicPr>
        <p:blipFill>
          <a:blip r:embed="rId1"/>
          <a:stretch>
            <a:fillRect/>
          </a:stretch>
        </p:blipFill>
        <p:spPr>
          <a:xfrm>
            <a:off x="976579" y="3125419"/>
            <a:ext cx="332842" cy="332842"/>
          </a:xfrm>
          <a:prstGeom prst="rect">
            <a:avLst/>
          </a:prstGeom>
        </p:spPr>
      </p:pic>
      <p:sp>
        <p:nvSpPr>
          <p:cNvPr id="8" name="Text 5"/>
          <p:cNvSpPr txBox="1"/>
          <p:nvPr/>
        </p:nvSpPr>
        <p:spPr>
          <a:xfrm>
            <a:off x="1645920" y="2971800"/>
            <a:ext cx="2926080" cy="685800"/>
          </a:xfrm>
          <a:prstGeom prst="rect">
            <a:avLst/>
          </a:prstGeom>
          <a:noFill/>
          <a:ln/>
        </p:spPr>
        <p:txBody>
          <a:bodyPr wrap="square" lIns="0" tIns="0" rIns="0" bIns="0" rtlCol="0" anchor="ctr"/>
          <a:lstStyle/>
          <a:p>
            <a:pPr indent="0" marL="0">
              <a:buNone/>
            </a:pPr>
            <a:r>
              <a:rPr lang="en-US" sz="1600" dirty="0">
                <a:solidFill>
                  <a:schemeClr val="bg1"/>
                </a:solidFill>
              </a:rPr>
              <a:t>Deine Codes liegen in der Cloud der Konzerne.</a:t>
            </a:r>
            <a:endParaRPr lang="en-US" sz="1600" dirty="0"/>
          </a:p>
        </p:txBody>
      </p:sp>
      <p:sp>
        <p:nvSpPr>
          <p:cNvPr id="9" name="link Kreis"/>
          <p:cNvSpPr/>
          <p:nvPr/>
        </p:nvSpPr>
        <p:spPr>
          <a:xfrm>
            <a:off x="822960" y="3931920"/>
            <a:ext cx="640080" cy="640080"/>
          </a:xfrm>
          <a:prstGeom prst="ellipse">
            <a:avLst/>
          </a:prstGeom>
          <a:solidFill>
            <a:schemeClr val="accent2"/>
          </a:solidFill>
          <a:ln w="12700">
            <a:solidFill>
              <a:schemeClr val="accent2"/>
            </a:solidFill>
            <a:prstDash val="solid"/>
          </a:ln>
        </p:spPr>
      </p:sp>
      <p:pic>
        <p:nvPicPr>
          <p:cNvPr id="10" name="link Icon" descr="link">    </p:cNvPr>
          <p:cNvPicPr>
            <a:picLocks noChangeAspect="1"/>
          </p:cNvPicPr>
          <p:nvPr/>
        </p:nvPicPr>
        <p:blipFill>
          <a:blip r:embed="rId2"/>
          <a:stretch>
            <a:fillRect/>
          </a:stretch>
        </p:blipFill>
        <p:spPr>
          <a:xfrm>
            <a:off x="976579" y="4085539"/>
            <a:ext cx="332842" cy="332842"/>
          </a:xfrm>
          <a:prstGeom prst="rect">
            <a:avLst/>
          </a:prstGeom>
        </p:spPr>
      </p:pic>
      <p:sp>
        <p:nvSpPr>
          <p:cNvPr id="11" name="Text 7"/>
          <p:cNvSpPr txBox="1"/>
          <p:nvPr/>
        </p:nvSpPr>
        <p:spPr>
          <a:xfrm>
            <a:off x="1645920" y="3931920"/>
            <a:ext cx="2926080" cy="685800"/>
          </a:xfrm>
          <a:prstGeom prst="rect">
            <a:avLst/>
          </a:prstGeom>
          <a:noFill/>
          <a:ln/>
        </p:spPr>
        <p:txBody>
          <a:bodyPr wrap="square" lIns="0" tIns="0" rIns="0" bIns="0" rtlCol="0" anchor="ctr"/>
          <a:lstStyle/>
          <a:p>
            <a:pPr indent="0" marL="0">
              <a:buNone/>
            </a:pPr>
            <a:r>
              <a:rPr lang="en-US" sz="1600" dirty="0">
                <a:solidFill>
                  <a:schemeClr val="bg1"/>
                </a:solidFill>
              </a:rPr>
              <a:t>Export ist schwer – du sitzt fest.</a:t>
            </a:r>
            <a:endParaRPr lang="en-US" sz="1600" dirty="0"/>
          </a:p>
        </p:txBody>
      </p:sp>
      <p:sp>
        <p:nvSpPr>
          <p:cNvPr id="12" name="Text 8"/>
          <p:cNvSpPr txBox="1"/>
          <p:nvPr/>
        </p:nvSpPr>
        <p:spPr>
          <a:xfrm>
            <a:off x="822960" y="4983480"/>
            <a:ext cx="3657600" cy="822960"/>
          </a:xfrm>
          <a:prstGeom prst="rect">
            <a:avLst/>
          </a:prstGeom>
          <a:noFill/>
          <a:ln/>
        </p:spPr>
        <p:txBody>
          <a:bodyPr wrap="square" lIns="0" tIns="0" rIns="0" bIns="0" rtlCol="0" anchor="t"/>
          <a:lstStyle/>
          <a:p>
            <a:pPr indent="0" marL="0">
              <a:buNone/>
            </a:pPr>
            <a:r>
              <a:rPr lang="en-US" sz="1400" dirty="0">
                <a:solidFill>
                  <a:schemeClr val="accent5"/>
                </a:solidFill>
              </a:rPr>
              <a:t>Firmen-Konto? Wenn der Arbeitgeber es verlangt, den Microsoft Authenticator dafür behalten.</a:t>
            </a:r>
            <a:endParaRPr lang="en-US" sz="1400" dirty="0"/>
          </a:p>
        </p:txBody>
      </p:sp>
      <p:sp>
        <p:nvSpPr>
          <p:cNvPr id="13" name="Authenticator 2FAS"/>
          <p:cNvSpPr/>
          <p:nvPr/>
        </p:nvSpPr>
        <p:spPr>
          <a:xfrm>
            <a:off x="5029200" y="1828800"/>
            <a:ext cx="6583680" cy="612648"/>
          </a:xfrm>
          <a:prstGeom prst="roundRect">
            <a:avLst>
              <a:gd name="adj" fmla="val 17910"/>
            </a:avLst>
          </a:prstGeom>
          <a:solidFill>
            <a:schemeClr val="accent1"/>
          </a:solidFill>
          <a:ln w="12700">
            <a:solidFill>
              <a:schemeClr val="accent1"/>
            </a:solidFill>
            <a:prstDash val="solid"/>
          </a:ln>
        </p:spPr>
      </p:sp>
      <p:sp>
        <p:nvSpPr>
          <p:cNvPr id="14" name="phone Kreis"/>
          <p:cNvSpPr/>
          <p:nvPr/>
        </p:nvSpPr>
        <p:spPr>
          <a:xfrm>
            <a:off x="5166360" y="1901952"/>
            <a:ext cx="466344" cy="466344"/>
          </a:xfrm>
          <a:prstGeom prst="ellipse">
            <a:avLst/>
          </a:prstGeom>
          <a:solidFill>
            <a:schemeClr val="bg1"/>
          </a:solidFill>
          <a:ln w="12700">
            <a:solidFill>
              <a:schemeClr val="bg1"/>
            </a:solidFill>
            <a:prstDash val="solid"/>
          </a:ln>
        </p:spPr>
      </p:sp>
      <p:pic>
        <p:nvPicPr>
          <p:cNvPr id="15" name="phone Icon" descr="phone">    </p:cNvPr>
          <p:cNvPicPr>
            <a:picLocks noChangeAspect="1"/>
          </p:cNvPicPr>
          <p:nvPr/>
        </p:nvPicPr>
        <p:blipFill>
          <a:blip r:embed="rId3"/>
          <a:stretch>
            <a:fillRect/>
          </a:stretch>
        </p:blipFill>
        <p:spPr>
          <a:xfrm>
            <a:off x="5278283" y="2013875"/>
            <a:ext cx="242499" cy="242499"/>
          </a:xfrm>
          <a:prstGeom prst="rect">
            <a:avLst/>
          </a:prstGeom>
        </p:spPr>
      </p:pic>
      <p:sp>
        <p:nvSpPr>
          <p:cNvPr id="16" name="Text 11"/>
          <p:cNvSpPr txBox="1"/>
          <p:nvPr/>
        </p:nvSpPr>
        <p:spPr>
          <a:xfrm>
            <a:off x="5806440" y="1828800"/>
            <a:ext cx="2834640" cy="612648"/>
          </a:xfrm>
          <a:prstGeom prst="rect">
            <a:avLst/>
          </a:prstGeom>
          <a:noFill/>
          <a:ln/>
        </p:spPr>
        <p:txBody>
          <a:bodyPr wrap="square" lIns="0" tIns="0" rIns="0" bIns="0" rtlCol="0" anchor="ctr"/>
          <a:lstStyle/>
          <a:p>
            <a:pPr indent="0" marL="0">
              <a:buNone/>
            </a:pPr>
            <a:r>
              <a:rPr lang="en-US" sz="1700" b="1" dirty="0">
                <a:solidFill>
                  <a:schemeClr val="tx2"/>
                </a:solidFill>
              </a:rPr>
              <a:t>2FAS</a:t>
            </a:r>
            <a:endParaRPr lang="en-US" sz="1700" dirty="0"/>
          </a:p>
        </p:txBody>
      </p:sp>
      <p:sp>
        <p:nvSpPr>
          <p:cNvPr id="17" name="Text 12"/>
          <p:cNvSpPr txBox="1"/>
          <p:nvPr/>
        </p:nvSpPr>
        <p:spPr>
          <a:xfrm>
            <a:off x="8641080" y="1828800"/>
            <a:ext cx="2834640" cy="612648"/>
          </a:xfrm>
          <a:prstGeom prst="rect">
            <a:avLst/>
          </a:prstGeom>
          <a:noFill/>
          <a:ln/>
        </p:spPr>
        <p:txBody>
          <a:bodyPr wrap="square" lIns="0" tIns="0" rIns="0" bIns="0" rtlCol="0" anchor="ctr"/>
          <a:lstStyle/>
          <a:p>
            <a:pPr indent="0" marL="0">
              <a:buNone/>
            </a:pPr>
            <a:r>
              <a:rPr lang="en-US" sz="1400" dirty="0">
                <a:solidFill>
                  <a:schemeClr val="tx1"/>
                </a:solidFill>
              </a:rPr>
              <a:t>iPhone, Android, Browser-Erweiterung</a:t>
            </a:r>
            <a:endParaRPr lang="en-US" sz="1400" dirty="0"/>
          </a:p>
        </p:txBody>
      </p:sp>
      <p:sp>
        <p:nvSpPr>
          <p:cNvPr id="18" name="Authenticator Aegis"/>
          <p:cNvSpPr/>
          <p:nvPr/>
        </p:nvSpPr>
        <p:spPr>
          <a:xfrm>
            <a:off x="5029200" y="2532888"/>
            <a:ext cx="6583680" cy="612648"/>
          </a:xfrm>
          <a:prstGeom prst="roundRect">
            <a:avLst>
              <a:gd name="adj" fmla="val 17910"/>
            </a:avLst>
          </a:prstGeom>
          <a:solidFill>
            <a:schemeClr val="bg2"/>
          </a:solidFill>
          <a:ln w="12700">
            <a:solidFill>
              <a:schemeClr val="bg2"/>
            </a:solidFill>
            <a:prstDash val="solid"/>
          </a:ln>
        </p:spPr>
      </p:sp>
      <p:sp>
        <p:nvSpPr>
          <p:cNvPr id="19" name="aegis Kreis"/>
          <p:cNvSpPr/>
          <p:nvPr/>
        </p:nvSpPr>
        <p:spPr>
          <a:xfrm>
            <a:off x="5166360" y="2606040"/>
            <a:ext cx="466344" cy="466344"/>
          </a:xfrm>
          <a:prstGeom prst="ellipse">
            <a:avLst/>
          </a:prstGeom>
          <a:solidFill>
            <a:schemeClr val="bg1"/>
          </a:solidFill>
          <a:ln w="12700">
            <a:solidFill>
              <a:schemeClr val="bg1"/>
            </a:solidFill>
            <a:prstDash val="solid"/>
          </a:ln>
        </p:spPr>
      </p:sp>
      <p:pic>
        <p:nvPicPr>
          <p:cNvPr id="20" name="aegis Icon" descr="aegis">    </p:cNvPr>
          <p:cNvPicPr>
            <a:picLocks noChangeAspect="1"/>
          </p:cNvPicPr>
          <p:nvPr/>
        </p:nvPicPr>
        <p:blipFill>
          <a:blip r:embed="rId4"/>
          <a:stretch>
            <a:fillRect/>
          </a:stretch>
        </p:blipFill>
        <p:spPr>
          <a:xfrm>
            <a:off x="5278283" y="2717963"/>
            <a:ext cx="242499" cy="242499"/>
          </a:xfrm>
          <a:prstGeom prst="rect">
            <a:avLst/>
          </a:prstGeom>
        </p:spPr>
      </p:pic>
      <p:sp>
        <p:nvSpPr>
          <p:cNvPr id="21" name="Text 15"/>
          <p:cNvSpPr txBox="1"/>
          <p:nvPr/>
        </p:nvSpPr>
        <p:spPr>
          <a:xfrm>
            <a:off x="5806440" y="2532888"/>
            <a:ext cx="2834640" cy="612648"/>
          </a:xfrm>
          <a:prstGeom prst="rect">
            <a:avLst/>
          </a:prstGeom>
          <a:noFill/>
          <a:ln/>
        </p:spPr>
        <p:txBody>
          <a:bodyPr wrap="square" lIns="0" tIns="0" rIns="0" bIns="0" rtlCol="0" anchor="ctr"/>
          <a:lstStyle/>
          <a:p>
            <a:pPr indent="0" marL="0">
              <a:buNone/>
            </a:pPr>
            <a:r>
              <a:rPr lang="en-US" sz="1700" b="1" dirty="0">
                <a:solidFill>
                  <a:schemeClr val="tx2"/>
                </a:solidFill>
              </a:rPr>
              <a:t>Aegis</a:t>
            </a:r>
            <a:endParaRPr lang="en-US" sz="1700" dirty="0"/>
          </a:p>
        </p:txBody>
      </p:sp>
      <p:sp>
        <p:nvSpPr>
          <p:cNvPr id="22" name="Text 16"/>
          <p:cNvSpPr txBox="1"/>
          <p:nvPr/>
        </p:nvSpPr>
        <p:spPr>
          <a:xfrm>
            <a:off x="8641080" y="2532888"/>
            <a:ext cx="2834640" cy="612648"/>
          </a:xfrm>
          <a:prstGeom prst="rect">
            <a:avLst/>
          </a:prstGeom>
          <a:noFill/>
          <a:ln/>
        </p:spPr>
        <p:txBody>
          <a:bodyPr wrap="square" lIns="0" tIns="0" rIns="0" bIns="0" rtlCol="0" anchor="ctr"/>
          <a:lstStyle/>
          <a:p>
            <a:pPr indent="0" marL="0">
              <a:buNone/>
            </a:pPr>
            <a:r>
              <a:rPr lang="en-US" sz="1400" dirty="0">
                <a:solidFill>
                  <a:schemeClr val="tx1"/>
                </a:solidFill>
              </a:rPr>
              <a:t>Android</a:t>
            </a:r>
            <a:endParaRPr lang="en-US" sz="1400" dirty="0"/>
          </a:p>
        </p:txBody>
      </p:sp>
      <p:sp>
        <p:nvSpPr>
          <p:cNvPr id="23" name="Authenticator Ente Auth"/>
          <p:cNvSpPr/>
          <p:nvPr/>
        </p:nvSpPr>
        <p:spPr>
          <a:xfrm>
            <a:off x="5029200" y="3236976"/>
            <a:ext cx="6583680" cy="612648"/>
          </a:xfrm>
          <a:prstGeom prst="roundRect">
            <a:avLst>
              <a:gd name="adj" fmla="val 17910"/>
            </a:avLst>
          </a:prstGeom>
          <a:solidFill>
            <a:schemeClr val="bg2"/>
          </a:solidFill>
          <a:ln w="12700">
            <a:solidFill>
              <a:schemeClr val="bg2"/>
            </a:solidFill>
            <a:prstDash val="solid"/>
          </a:ln>
        </p:spPr>
      </p:sp>
      <p:sp>
        <p:nvSpPr>
          <p:cNvPr id="24" name="ente Kreis"/>
          <p:cNvSpPr/>
          <p:nvPr/>
        </p:nvSpPr>
        <p:spPr>
          <a:xfrm>
            <a:off x="5166360" y="3310128"/>
            <a:ext cx="466344" cy="466344"/>
          </a:xfrm>
          <a:prstGeom prst="ellipse">
            <a:avLst/>
          </a:prstGeom>
          <a:solidFill>
            <a:schemeClr val="bg1"/>
          </a:solidFill>
          <a:ln w="12700">
            <a:solidFill>
              <a:schemeClr val="bg1"/>
            </a:solidFill>
            <a:prstDash val="solid"/>
          </a:ln>
        </p:spPr>
      </p:sp>
      <p:pic>
        <p:nvPicPr>
          <p:cNvPr id="25" name="ente Icon" descr="ente">    </p:cNvPr>
          <p:cNvPicPr>
            <a:picLocks noChangeAspect="1"/>
          </p:cNvPicPr>
          <p:nvPr/>
        </p:nvPicPr>
        <p:blipFill>
          <a:blip r:embed="rId5"/>
          <a:stretch>
            <a:fillRect/>
          </a:stretch>
        </p:blipFill>
        <p:spPr>
          <a:xfrm>
            <a:off x="5278283" y="3422051"/>
            <a:ext cx="242499" cy="242499"/>
          </a:xfrm>
          <a:prstGeom prst="rect">
            <a:avLst/>
          </a:prstGeom>
        </p:spPr>
      </p:pic>
      <p:sp>
        <p:nvSpPr>
          <p:cNvPr id="26" name="Text 19"/>
          <p:cNvSpPr txBox="1"/>
          <p:nvPr/>
        </p:nvSpPr>
        <p:spPr>
          <a:xfrm>
            <a:off x="5806440" y="3236976"/>
            <a:ext cx="2834640" cy="612648"/>
          </a:xfrm>
          <a:prstGeom prst="rect">
            <a:avLst/>
          </a:prstGeom>
          <a:noFill/>
          <a:ln/>
        </p:spPr>
        <p:txBody>
          <a:bodyPr wrap="square" lIns="0" tIns="0" rIns="0" bIns="0" rtlCol="0" anchor="ctr"/>
          <a:lstStyle/>
          <a:p>
            <a:pPr indent="0" marL="0">
              <a:buNone/>
            </a:pPr>
            <a:r>
              <a:rPr lang="en-US" sz="1700" b="1" dirty="0">
                <a:solidFill>
                  <a:schemeClr val="tx2"/>
                </a:solidFill>
              </a:rPr>
              <a:t>Ente Auth</a:t>
            </a:r>
            <a:endParaRPr lang="en-US" sz="1700" dirty="0"/>
          </a:p>
        </p:txBody>
      </p:sp>
      <p:sp>
        <p:nvSpPr>
          <p:cNvPr id="27" name="Text 20"/>
          <p:cNvSpPr txBox="1"/>
          <p:nvPr/>
        </p:nvSpPr>
        <p:spPr>
          <a:xfrm>
            <a:off x="8641080" y="3236976"/>
            <a:ext cx="2834640" cy="612648"/>
          </a:xfrm>
          <a:prstGeom prst="rect">
            <a:avLst/>
          </a:prstGeom>
          <a:noFill/>
          <a:ln/>
        </p:spPr>
        <p:txBody>
          <a:bodyPr wrap="square" lIns="0" tIns="0" rIns="0" bIns="0" rtlCol="0" anchor="ctr"/>
          <a:lstStyle/>
          <a:p>
            <a:pPr indent="0" marL="0">
              <a:buNone/>
            </a:pPr>
            <a:r>
              <a:rPr lang="en-US" sz="1400" dirty="0">
                <a:solidFill>
                  <a:schemeClr val="tx1"/>
                </a:solidFill>
              </a:rPr>
              <a:t>alle Geräte, verschlüsselter Abgleich</a:t>
            </a:r>
            <a:endParaRPr lang="en-US" sz="1400" dirty="0"/>
          </a:p>
        </p:txBody>
      </p:sp>
      <p:sp>
        <p:nvSpPr>
          <p:cNvPr id="28" name="Authenticator Proton Authenticator"/>
          <p:cNvSpPr/>
          <p:nvPr/>
        </p:nvSpPr>
        <p:spPr>
          <a:xfrm>
            <a:off x="5029200" y="3941064"/>
            <a:ext cx="6583680" cy="612648"/>
          </a:xfrm>
          <a:prstGeom prst="roundRect">
            <a:avLst>
              <a:gd name="adj" fmla="val 17910"/>
            </a:avLst>
          </a:prstGeom>
          <a:solidFill>
            <a:schemeClr val="bg2"/>
          </a:solidFill>
          <a:ln w="12700">
            <a:solidFill>
              <a:schemeClr val="bg2"/>
            </a:solidFill>
            <a:prstDash val="solid"/>
          </a:ln>
        </p:spPr>
      </p:sp>
      <p:sp>
        <p:nvSpPr>
          <p:cNvPr id="29" name="proton Kreis"/>
          <p:cNvSpPr/>
          <p:nvPr/>
        </p:nvSpPr>
        <p:spPr>
          <a:xfrm>
            <a:off x="5166360" y="4014216"/>
            <a:ext cx="466344" cy="466344"/>
          </a:xfrm>
          <a:prstGeom prst="ellipse">
            <a:avLst/>
          </a:prstGeom>
          <a:solidFill>
            <a:schemeClr val="bg1"/>
          </a:solidFill>
          <a:ln w="12700">
            <a:solidFill>
              <a:schemeClr val="bg1"/>
            </a:solidFill>
            <a:prstDash val="solid"/>
          </a:ln>
        </p:spPr>
      </p:sp>
      <p:pic>
        <p:nvPicPr>
          <p:cNvPr id="30" name="proton Icon" descr="proton">    </p:cNvPr>
          <p:cNvPicPr>
            <a:picLocks noChangeAspect="1"/>
          </p:cNvPicPr>
          <p:nvPr/>
        </p:nvPicPr>
        <p:blipFill>
          <a:blip r:embed="rId6"/>
          <a:stretch>
            <a:fillRect/>
          </a:stretch>
        </p:blipFill>
        <p:spPr>
          <a:xfrm>
            <a:off x="5278283" y="4126139"/>
            <a:ext cx="242499" cy="242499"/>
          </a:xfrm>
          <a:prstGeom prst="rect">
            <a:avLst/>
          </a:prstGeom>
        </p:spPr>
      </p:pic>
      <p:sp>
        <p:nvSpPr>
          <p:cNvPr id="31" name="Text 23"/>
          <p:cNvSpPr txBox="1"/>
          <p:nvPr/>
        </p:nvSpPr>
        <p:spPr>
          <a:xfrm>
            <a:off x="5806440" y="3941064"/>
            <a:ext cx="2834640" cy="612648"/>
          </a:xfrm>
          <a:prstGeom prst="rect">
            <a:avLst/>
          </a:prstGeom>
          <a:noFill/>
          <a:ln/>
        </p:spPr>
        <p:txBody>
          <a:bodyPr wrap="square" lIns="0" tIns="0" rIns="0" bIns="0" rtlCol="0" anchor="ctr"/>
          <a:lstStyle/>
          <a:p>
            <a:pPr indent="0" marL="0">
              <a:buNone/>
            </a:pPr>
            <a:r>
              <a:rPr lang="en-US" sz="1700" b="1" dirty="0">
                <a:solidFill>
                  <a:schemeClr val="tx2"/>
                </a:solidFill>
              </a:rPr>
              <a:t>Proton Authenticator</a:t>
            </a:r>
            <a:endParaRPr lang="en-US" sz="1700" dirty="0"/>
          </a:p>
        </p:txBody>
      </p:sp>
      <p:sp>
        <p:nvSpPr>
          <p:cNvPr id="32" name="Text 24"/>
          <p:cNvSpPr txBox="1"/>
          <p:nvPr/>
        </p:nvSpPr>
        <p:spPr>
          <a:xfrm>
            <a:off x="8641080" y="3941064"/>
            <a:ext cx="2834640" cy="612648"/>
          </a:xfrm>
          <a:prstGeom prst="rect">
            <a:avLst/>
          </a:prstGeom>
          <a:noFill/>
          <a:ln/>
        </p:spPr>
        <p:txBody>
          <a:bodyPr wrap="square" lIns="0" tIns="0" rIns="0" bIns="0" rtlCol="0" anchor="ctr"/>
          <a:lstStyle/>
          <a:p>
            <a:pPr indent="0" marL="0">
              <a:buNone/>
            </a:pPr>
            <a:r>
              <a:rPr lang="en-US" sz="1400" dirty="0">
                <a:solidFill>
                  <a:schemeClr val="tx1"/>
                </a:solidFill>
              </a:rPr>
              <a:t>alle Geräte, Abgleich optional</a:t>
            </a:r>
            <a:endParaRPr lang="en-US" sz="1400" dirty="0"/>
          </a:p>
        </p:txBody>
      </p:sp>
      <p:sp>
        <p:nvSpPr>
          <p:cNvPr id="33" name="Authenticator FreeOTP"/>
          <p:cNvSpPr/>
          <p:nvPr/>
        </p:nvSpPr>
        <p:spPr>
          <a:xfrm>
            <a:off x="5029200" y="4645152"/>
            <a:ext cx="6583680" cy="612648"/>
          </a:xfrm>
          <a:prstGeom prst="roundRect">
            <a:avLst>
              <a:gd name="adj" fmla="val 17910"/>
            </a:avLst>
          </a:prstGeom>
          <a:solidFill>
            <a:schemeClr val="bg2"/>
          </a:solidFill>
          <a:ln w="12700">
            <a:solidFill>
              <a:schemeClr val="bg2"/>
            </a:solidFill>
            <a:prstDash val="solid"/>
          </a:ln>
        </p:spPr>
      </p:sp>
      <p:sp>
        <p:nvSpPr>
          <p:cNvPr id="34" name="freeotp Kreis"/>
          <p:cNvSpPr/>
          <p:nvPr/>
        </p:nvSpPr>
        <p:spPr>
          <a:xfrm>
            <a:off x="5166360" y="4718304"/>
            <a:ext cx="466344" cy="466344"/>
          </a:xfrm>
          <a:prstGeom prst="ellipse">
            <a:avLst/>
          </a:prstGeom>
          <a:solidFill>
            <a:schemeClr val="bg1"/>
          </a:solidFill>
          <a:ln w="12700">
            <a:solidFill>
              <a:schemeClr val="bg1"/>
            </a:solidFill>
            <a:prstDash val="solid"/>
          </a:ln>
        </p:spPr>
      </p:sp>
      <p:pic>
        <p:nvPicPr>
          <p:cNvPr id="35" name="freeotp Icon" descr="freeotp">    </p:cNvPr>
          <p:cNvPicPr>
            <a:picLocks noChangeAspect="1"/>
          </p:cNvPicPr>
          <p:nvPr/>
        </p:nvPicPr>
        <p:blipFill>
          <a:blip r:embed="rId7"/>
          <a:stretch>
            <a:fillRect/>
          </a:stretch>
        </p:blipFill>
        <p:spPr>
          <a:xfrm>
            <a:off x="5278283" y="4830227"/>
            <a:ext cx="242499" cy="242499"/>
          </a:xfrm>
          <a:prstGeom prst="rect">
            <a:avLst/>
          </a:prstGeom>
        </p:spPr>
      </p:pic>
      <p:sp>
        <p:nvSpPr>
          <p:cNvPr id="36" name="Text 27"/>
          <p:cNvSpPr txBox="1"/>
          <p:nvPr/>
        </p:nvSpPr>
        <p:spPr>
          <a:xfrm>
            <a:off x="5806440" y="4645152"/>
            <a:ext cx="2834640" cy="612648"/>
          </a:xfrm>
          <a:prstGeom prst="rect">
            <a:avLst/>
          </a:prstGeom>
          <a:noFill/>
          <a:ln/>
        </p:spPr>
        <p:txBody>
          <a:bodyPr wrap="square" lIns="0" tIns="0" rIns="0" bIns="0" rtlCol="0" anchor="ctr"/>
          <a:lstStyle/>
          <a:p>
            <a:pPr indent="0" marL="0">
              <a:buNone/>
            </a:pPr>
            <a:r>
              <a:rPr lang="en-US" sz="1700" b="1" dirty="0">
                <a:solidFill>
                  <a:schemeClr val="tx2"/>
                </a:solidFill>
              </a:rPr>
              <a:t>FreeOTP</a:t>
            </a:r>
            <a:endParaRPr lang="en-US" sz="1700" dirty="0"/>
          </a:p>
        </p:txBody>
      </p:sp>
      <p:sp>
        <p:nvSpPr>
          <p:cNvPr id="37" name="Text 28"/>
          <p:cNvSpPr txBox="1"/>
          <p:nvPr/>
        </p:nvSpPr>
        <p:spPr>
          <a:xfrm>
            <a:off x="8641080" y="4645152"/>
            <a:ext cx="2834640" cy="612648"/>
          </a:xfrm>
          <a:prstGeom prst="rect">
            <a:avLst/>
          </a:prstGeom>
          <a:noFill/>
          <a:ln/>
        </p:spPr>
        <p:txBody>
          <a:bodyPr wrap="square" lIns="0" tIns="0" rIns="0" bIns="0" rtlCol="0" anchor="ctr"/>
          <a:lstStyle/>
          <a:p>
            <a:pPr indent="0" marL="0">
              <a:buNone/>
            </a:pPr>
            <a:r>
              <a:rPr lang="en-US" sz="1400" dirty="0">
                <a:solidFill>
                  <a:schemeClr val="tx1"/>
                </a:solidFill>
              </a:rPr>
              <a:t>iPhone, Android – von Red Hat</a:t>
            </a:r>
            <a:endParaRPr lang="en-US" sz="1400" dirty="0"/>
          </a:p>
        </p:txBody>
      </p:sp>
      <p:sp>
        <p:nvSpPr>
          <p:cNvPr id="38" name="Authenticator Bitwarden Authenticator"/>
          <p:cNvSpPr/>
          <p:nvPr/>
        </p:nvSpPr>
        <p:spPr>
          <a:xfrm>
            <a:off x="5029200" y="5349240"/>
            <a:ext cx="6583680" cy="612648"/>
          </a:xfrm>
          <a:prstGeom prst="roundRect">
            <a:avLst>
              <a:gd name="adj" fmla="val 17910"/>
            </a:avLst>
          </a:prstGeom>
          <a:solidFill>
            <a:schemeClr val="bg2"/>
          </a:solidFill>
          <a:ln w="12700">
            <a:solidFill>
              <a:schemeClr val="bg2"/>
            </a:solidFill>
            <a:prstDash val="solid"/>
          </a:ln>
        </p:spPr>
      </p:sp>
      <p:sp>
        <p:nvSpPr>
          <p:cNvPr id="39" name="bitwarden Kreis"/>
          <p:cNvSpPr/>
          <p:nvPr/>
        </p:nvSpPr>
        <p:spPr>
          <a:xfrm>
            <a:off x="5166360" y="5422392"/>
            <a:ext cx="466344" cy="466344"/>
          </a:xfrm>
          <a:prstGeom prst="ellipse">
            <a:avLst/>
          </a:prstGeom>
          <a:solidFill>
            <a:schemeClr val="bg1"/>
          </a:solidFill>
          <a:ln w="12700">
            <a:solidFill>
              <a:schemeClr val="bg1"/>
            </a:solidFill>
            <a:prstDash val="solid"/>
          </a:ln>
        </p:spPr>
      </p:sp>
      <p:pic>
        <p:nvPicPr>
          <p:cNvPr id="40" name="bitwarden Icon" descr="bitwarden">    </p:cNvPr>
          <p:cNvPicPr>
            <a:picLocks noChangeAspect="1"/>
          </p:cNvPicPr>
          <p:nvPr/>
        </p:nvPicPr>
        <p:blipFill>
          <a:blip r:embed="rId8"/>
          <a:stretch>
            <a:fillRect/>
          </a:stretch>
        </p:blipFill>
        <p:spPr>
          <a:xfrm>
            <a:off x="5278283" y="5534315"/>
            <a:ext cx="242499" cy="242499"/>
          </a:xfrm>
          <a:prstGeom prst="rect">
            <a:avLst/>
          </a:prstGeom>
        </p:spPr>
      </p:pic>
      <p:sp>
        <p:nvSpPr>
          <p:cNvPr id="41" name="Text 31"/>
          <p:cNvSpPr txBox="1"/>
          <p:nvPr/>
        </p:nvSpPr>
        <p:spPr>
          <a:xfrm>
            <a:off x="5806440" y="5349240"/>
            <a:ext cx="2834640" cy="612648"/>
          </a:xfrm>
          <a:prstGeom prst="rect">
            <a:avLst/>
          </a:prstGeom>
          <a:noFill/>
          <a:ln/>
        </p:spPr>
        <p:txBody>
          <a:bodyPr wrap="square" lIns="0" tIns="0" rIns="0" bIns="0" rtlCol="0" anchor="ctr"/>
          <a:lstStyle/>
          <a:p>
            <a:pPr indent="0" marL="0">
              <a:buNone/>
            </a:pPr>
            <a:r>
              <a:rPr lang="en-US" sz="1700" b="1" dirty="0">
                <a:solidFill>
                  <a:schemeClr val="tx2"/>
                </a:solidFill>
              </a:rPr>
              <a:t>Bitwarden Authenticator</a:t>
            </a:r>
            <a:endParaRPr lang="en-US" sz="1700" dirty="0"/>
          </a:p>
        </p:txBody>
      </p:sp>
      <p:sp>
        <p:nvSpPr>
          <p:cNvPr id="42" name="Text 32"/>
          <p:cNvSpPr txBox="1"/>
          <p:nvPr/>
        </p:nvSpPr>
        <p:spPr>
          <a:xfrm>
            <a:off x="8641080" y="5349240"/>
            <a:ext cx="2834640" cy="612648"/>
          </a:xfrm>
          <a:prstGeom prst="rect">
            <a:avLst/>
          </a:prstGeom>
          <a:noFill/>
          <a:ln/>
        </p:spPr>
        <p:txBody>
          <a:bodyPr wrap="square" lIns="0" tIns="0" rIns="0" bIns="0" rtlCol="0" anchor="ctr"/>
          <a:lstStyle/>
          <a:p>
            <a:pPr indent="0" marL="0">
              <a:buNone/>
            </a:pPr>
            <a:r>
              <a:rPr lang="en-US" sz="1400" dirty="0">
                <a:solidFill>
                  <a:schemeClr val="tx1"/>
                </a:solidFill>
              </a:rPr>
              <a:t>iPhone, Android</a:t>
            </a:r>
            <a:endParaRPr lang="en-US" sz="1400" dirty="0"/>
          </a:p>
        </p:txBody>
      </p:sp>
      <p:sp>
        <p:nvSpPr>
          <p:cNvPr id="43"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9" invalidUrl="" action="" tgtFrame="" tooltip="di.day – Wechselrezept „Authenticator“" history="1" highlightClick="0" endSnd="0">
                  <a:extLst>
                    <a:ext uri="{A12FA001-AC4F-418D-AE19-62706E023703}">
                      <ahyp:hlinkClr xmlns:ahyp="http://schemas.microsoft.com/office/drawing/2018/hyperlinkcolor" val="tx"/>
                    </a:ext>
                  </a:extLst>
                </a:hlinkClick>
              </a:rPr>
              <a:t>[2] di.day Authenticator</a:t>
            </a:r>
            <a:pPr indent="0" marL="0">
              <a:buNone/>
            </a:pPr>
            <a:r>
              <a:rPr lang="en-US" sz="900" dirty="0">
                <a:solidFill>
                  <a:schemeClr val="accent6"/>
                </a:solidFill>
              </a:rPr>
              <a:t> · </a:t>
            </a:r>
            <a:pPr indent="0" marL="0">
              <a:buNone/>
            </a:pPr>
            <a:r>
              <a:rPr lang="en-US" sz="900" u="sng" dirty="0">
                <a:solidFill>
                  <a:schemeClr val="accent6"/>
                </a:solidFill>
                <a:hlinkClick r:id="rId10" invalidUrl="" action="" tgtFrame="" tooltip="2FAS Auth – Produktseite" history="1" highlightClick="0" endSnd="0">
                  <a:extLst>
                    <a:ext uri="{A12FA001-AC4F-418D-AE19-62706E023703}">
                      <ahyp:hlinkClr xmlns:ahyp="http://schemas.microsoft.com/office/drawing/2018/hyperlinkcolor" val="tx"/>
                    </a:ext>
                  </a:extLst>
                </a:hlinkClick>
              </a:rPr>
              <a:t>[34] 2FAS Auth</a:t>
            </a:r>
            <a:pPr indent="0" marL="0">
              <a:buNone/>
            </a:pPr>
            <a:r>
              <a:rPr lang="en-US" sz="900" dirty="0">
                <a:solidFill>
                  <a:schemeClr val="accent6"/>
                </a:solidFill>
              </a:rPr>
              <a:t> · </a:t>
            </a:r>
            <a:pPr indent="0" marL="0">
              <a:buNone/>
            </a:pPr>
            <a:r>
              <a:rPr lang="en-US" sz="900" u="sng" dirty="0">
                <a:solidFill>
                  <a:schemeClr val="accent6"/>
                </a:solidFill>
                <a:hlinkClick r:id="rId11" invalidUrl="" action="" tgtFrame="" tooltip="Aegis Authenticator – Startseite" history="1" highlightClick="0" endSnd="0">
                  <a:extLst>
                    <a:ext uri="{A12FA001-AC4F-418D-AE19-62706E023703}">
                      <ahyp:hlinkClr xmlns:ahyp="http://schemas.microsoft.com/office/drawing/2018/hyperlinkcolor" val="tx"/>
                    </a:ext>
                  </a:extLst>
                </a:hlinkClick>
              </a:rPr>
              <a:t>[35] Aegis</a:t>
            </a:r>
            <a:pPr indent="0" marL="0">
              <a:buNone/>
            </a:pPr>
            <a:r>
              <a:rPr lang="en-US" sz="900" dirty="0">
                <a:solidFill>
                  <a:schemeClr val="accent6"/>
                </a:solidFill>
              </a:rPr>
              <a:t> · </a:t>
            </a:r>
            <a:pPr indent="0" marL="0">
              <a:buNone/>
            </a:pPr>
            <a:r>
              <a:rPr lang="en-US" sz="900" u="sng" dirty="0">
                <a:solidFill>
                  <a:schemeClr val="accent6"/>
                </a:solidFill>
                <a:hlinkClick r:id="rId12" invalidUrl="" action="" tgtFrame="" tooltip="Ente Auth – Startseite" history="1" highlightClick="0" endSnd="0">
                  <a:extLst>
                    <a:ext uri="{A12FA001-AC4F-418D-AE19-62706E023703}">
                      <ahyp:hlinkClr xmlns:ahyp="http://schemas.microsoft.com/office/drawing/2018/hyperlinkcolor" val="tx"/>
                    </a:ext>
                  </a:extLst>
                </a:hlinkClick>
              </a:rPr>
              <a:t>[36] Ente Auth</a:t>
            </a:r>
            <a:pPr indent="0" marL="0">
              <a:buNone/>
            </a:pPr>
            <a:r>
              <a:rPr lang="en-US" sz="900" dirty="0">
                <a:solidFill>
                  <a:schemeClr val="accent6"/>
                </a:solidFill>
              </a:rPr>
              <a:t> · </a:t>
            </a:r>
            <a:pPr indent="0" marL="0">
              <a:buNone/>
            </a:pPr>
            <a:r>
              <a:rPr lang="en-US" sz="900" u="sng" dirty="0">
                <a:solidFill>
                  <a:schemeClr val="accent6"/>
                </a:solidFill>
                <a:hlinkClick r:id="rId13" invalidUrl="" action="" tgtFrame="" tooltip="Proton Authenticator – Startseite" history="1" highlightClick="0" endSnd="0">
                  <a:extLst>
                    <a:ext uri="{A12FA001-AC4F-418D-AE19-62706E023703}">
                      <ahyp:hlinkClr xmlns:ahyp="http://schemas.microsoft.com/office/drawing/2018/hyperlinkcolor" val="tx"/>
                    </a:ext>
                  </a:extLst>
                </a:hlinkClick>
              </a:rPr>
              <a:t>[37] Proton Authenticator</a:t>
            </a:r>
            <a:pPr indent="0" marL="0">
              <a:buNone/>
            </a:pPr>
            <a:r>
              <a:rPr lang="en-US" sz="900" dirty="0">
                <a:solidFill>
                  <a:schemeClr val="accent6"/>
                </a:solidFill>
              </a:rPr>
              <a:t> · </a:t>
            </a:r>
            <a:pPr indent="0" marL="0">
              <a:buNone/>
            </a:pPr>
            <a:r>
              <a:rPr lang="en-US" sz="900" u="sng" dirty="0">
                <a:solidFill>
                  <a:schemeClr val="accent6"/>
                </a:solidFill>
                <a:hlinkClick r:id="rId14" invalidUrl="" action="" tgtFrame="" tooltip="FreeOTP – Startseite" history="1" highlightClick="0" endSnd="0">
                  <a:extLst>
                    <a:ext uri="{A12FA001-AC4F-418D-AE19-62706E023703}">
                      <ahyp:hlinkClr xmlns:ahyp="http://schemas.microsoft.com/office/drawing/2018/hyperlinkcolor" val="tx"/>
                    </a:ext>
                  </a:extLst>
                </a:hlinkClick>
              </a:rPr>
              <a:t>[38] FreeOTP</a:t>
            </a:r>
            <a:pPr indent="0" marL="0">
              <a:buNone/>
            </a:pPr>
            <a:r>
              <a:rPr lang="en-US" sz="900" dirty="0">
                <a:solidFill>
                  <a:schemeClr val="accent6"/>
                </a:solidFill>
              </a:rPr>
              <a:t> · </a:t>
            </a:r>
            <a:pPr indent="0" marL="0">
              <a:buNone/>
            </a:pPr>
            <a:r>
              <a:rPr lang="en-US" sz="900" u="sng" dirty="0">
                <a:solidFill>
                  <a:schemeClr val="accent6"/>
                </a:solidFill>
                <a:hlinkClick r:id="rId15" invalidUrl="" action="" tgtFrame="" tooltip="Bitwarden Authenticator – Produktseite" history="1" highlightClick="0" endSnd="0">
                  <a:extLst>
                    <a:ext uri="{A12FA001-AC4F-418D-AE19-62706E023703}">
                      <ahyp:hlinkClr xmlns:ahyp="http://schemas.microsoft.com/office/drawing/2018/hyperlinkcolor" val="tx"/>
                    </a:ext>
                  </a:extLst>
                </a:hlinkClick>
              </a:rPr>
              <a:t>[39] Bitwarden Authenticator</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Beispiel: 2FAS</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Die App, die ich selbst nutze – kostenlos, auf mehreren Geräten, mit Backup.</a:t>
            </a:r>
            <a:endParaRPr lang="en-US" sz="1500" dirty="0"/>
          </a:p>
        </p:txBody>
      </p:sp>
      <p:sp>
        <p:nvSpPr>
          <p:cNvPr id="4" name="Handy Gehäuse"/>
          <p:cNvSpPr/>
          <p:nvPr/>
        </p:nvSpPr>
        <p:spPr>
          <a:xfrm>
            <a:off x="914400" y="1737360"/>
            <a:ext cx="2743200" cy="4343400"/>
          </a:xfrm>
          <a:prstGeom prst="roundRect">
            <a:avLst>
              <a:gd name="adj" fmla="val 11667"/>
            </a:avLst>
          </a:prstGeom>
          <a:solidFill>
            <a:schemeClr val="tx2"/>
          </a:solidFill>
          <a:ln w="12700">
            <a:solidFill>
              <a:schemeClr val="tx2"/>
            </a:solidFill>
            <a:prstDash val="solid"/>
          </a:ln>
        </p:spPr>
      </p:sp>
      <p:sp>
        <p:nvSpPr>
          <p:cNvPr id="5" name="Handy Bildschirm"/>
          <p:cNvSpPr/>
          <p:nvPr/>
        </p:nvSpPr>
        <p:spPr>
          <a:xfrm>
            <a:off x="1051560" y="1920240"/>
            <a:ext cx="2468880" cy="3977640"/>
          </a:xfrm>
          <a:prstGeom prst="roundRect">
            <a:avLst>
              <a:gd name="adj" fmla="val 7407"/>
            </a:avLst>
          </a:prstGeom>
          <a:solidFill>
            <a:schemeClr val="bg1"/>
          </a:solidFill>
          <a:ln w="12700">
            <a:solidFill>
              <a:schemeClr val="bg1"/>
            </a:solidFill>
            <a:prstDash val="solid"/>
          </a:ln>
        </p:spPr>
      </p:sp>
      <p:sp>
        <p:nvSpPr>
          <p:cNvPr id="6" name="Text 4"/>
          <p:cNvSpPr txBox="1"/>
          <p:nvPr/>
        </p:nvSpPr>
        <p:spPr>
          <a:xfrm>
            <a:off x="1234440" y="2057400"/>
            <a:ext cx="2103120" cy="365760"/>
          </a:xfrm>
          <a:prstGeom prst="rect">
            <a:avLst/>
          </a:prstGeom>
          <a:noFill/>
          <a:ln/>
        </p:spPr>
        <p:txBody>
          <a:bodyPr wrap="square" lIns="0" tIns="0" rIns="0" bIns="0" rtlCol="0" anchor="t"/>
          <a:lstStyle/>
          <a:p>
            <a:pPr indent="0" marL="0">
              <a:buNone/>
            </a:pPr>
            <a:r>
              <a:rPr lang="en-US" sz="1600" b="1" dirty="0">
                <a:solidFill>
                  <a:schemeClr val="tx2"/>
                </a:solidFill>
              </a:rPr>
              <a:t>2FAS</a:t>
            </a:r>
            <a:endParaRPr lang="en-US" sz="1600" dirty="0"/>
          </a:p>
        </p:txBody>
      </p:sp>
      <p:sp>
        <p:nvSpPr>
          <p:cNvPr id="7" name="Code E-Mail"/>
          <p:cNvSpPr/>
          <p:nvPr/>
        </p:nvSpPr>
        <p:spPr>
          <a:xfrm>
            <a:off x="1188720" y="2560320"/>
            <a:ext cx="2194560" cy="914400"/>
          </a:xfrm>
          <a:prstGeom prst="roundRect">
            <a:avLst>
              <a:gd name="adj" fmla="val 12000"/>
            </a:avLst>
          </a:prstGeom>
          <a:solidFill>
            <a:schemeClr val="bg2"/>
          </a:solidFill>
          <a:ln w="12700">
            <a:solidFill>
              <a:schemeClr val="bg2"/>
            </a:solidFill>
            <a:prstDash val="solid"/>
          </a:ln>
        </p:spPr>
      </p:sp>
      <p:sp>
        <p:nvSpPr>
          <p:cNvPr id="8" name="Text 6"/>
          <p:cNvSpPr txBox="1"/>
          <p:nvPr/>
        </p:nvSpPr>
        <p:spPr>
          <a:xfrm>
            <a:off x="1325880" y="2651760"/>
            <a:ext cx="1463040" cy="274320"/>
          </a:xfrm>
          <a:prstGeom prst="rect">
            <a:avLst/>
          </a:prstGeom>
          <a:noFill/>
          <a:ln/>
        </p:spPr>
        <p:txBody>
          <a:bodyPr wrap="square" lIns="0" tIns="0" rIns="0" bIns="0" rtlCol="0" anchor="t"/>
          <a:lstStyle/>
          <a:p>
            <a:pPr indent="0" marL="0">
              <a:buNone/>
            </a:pPr>
            <a:r>
              <a:rPr lang="en-US" sz="1200" dirty="0">
                <a:solidFill>
                  <a:schemeClr val="accent6"/>
                </a:solidFill>
              </a:rPr>
              <a:t>E-Mail</a:t>
            </a:r>
            <a:endParaRPr lang="en-US" sz="1200" dirty="0"/>
          </a:p>
        </p:txBody>
      </p:sp>
      <p:sp>
        <p:nvSpPr>
          <p:cNvPr id="9" name="Text 7"/>
          <p:cNvSpPr txBox="1"/>
          <p:nvPr/>
        </p:nvSpPr>
        <p:spPr>
          <a:xfrm>
            <a:off x="1325880" y="2944368"/>
            <a:ext cx="1920240" cy="411480"/>
          </a:xfrm>
          <a:prstGeom prst="rect">
            <a:avLst/>
          </a:prstGeom>
          <a:noFill/>
          <a:ln/>
        </p:spPr>
        <p:txBody>
          <a:bodyPr wrap="square" lIns="0" tIns="0" rIns="0" bIns="0" rtlCol="0" anchor="t"/>
          <a:lstStyle/>
          <a:p>
            <a:pPr indent="0" marL="0">
              <a:buNone/>
            </a:pPr>
            <a:r>
              <a:rPr lang="en-US" sz="2200" b="1" dirty="0">
                <a:solidFill>
                  <a:schemeClr val="tx2"/>
                </a:solidFill>
                <a:latin typeface="Courier New" pitchFamily="34" charset="0"/>
                <a:ea typeface="Courier New" pitchFamily="34" charset="-122"/>
                <a:cs typeface="Courier New" pitchFamily="34" charset="-120"/>
              </a:rPr>
              <a:t>482 913</a:t>
            </a:r>
            <a:endParaRPr lang="en-US" sz="2200" dirty="0"/>
          </a:p>
        </p:txBody>
      </p:sp>
      <p:sp>
        <p:nvSpPr>
          <p:cNvPr id="10" name="Zeitkreis E-Mail"/>
          <p:cNvSpPr/>
          <p:nvPr/>
        </p:nvSpPr>
        <p:spPr>
          <a:xfrm>
            <a:off x="2971800" y="2670048"/>
            <a:ext cx="292608" cy="292608"/>
          </a:xfrm>
          <a:prstGeom prst="ellipse">
            <a:avLst/>
          </a:prstGeom>
          <a:solidFill>
            <a:schemeClr val="accent1"/>
          </a:solidFill>
          <a:ln w="12700">
            <a:solidFill>
              <a:schemeClr val="accent1"/>
            </a:solidFill>
            <a:prstDash val="solid"/>
          </a:ln>
        </p:spPr>
      </p:sp>
      <p:sp>
        <p:nvSpPr>
          <p:cNvPr id="11" name="Code Bank"/>
          <p:cNvSpPr/>
          <p:nvPr/>
        </p:nvSpPr>
        <p:spPr>
          <a:xfrm>
            <a:off x="1188720" y="3611880"/>
            <a:ext cx="2194560" cy="914400"/>
          </a:xfrm>
          <a:prstGeom prst="roundRect">
            <a:avLst>
              <a:gd name="adj" fmla="val 12000"/>
            </a:avLst>
          </a:prstGeom>
          <a:solidFill>
            <a:schemeClr val="bg2"/>
          </a:solidFill>
          <a:ln w="12700">
            <a:solidFill>
              <a:schemeClr val="bg2"/>
            </a:solidFill>
            <a:prstDash val="solid"/>
          </a:ln>
        </p:spPr>
      </p:sp>
      <p:sp>
        <p:nvSpPr>
          <p:cNvPr id="12" name="Text 10"/>
          <p:cNvSpPr txBox="1"/>
          <p:nvPr/>
        </p:nvSpPr>
        <p:spPr>
          <a:xfrm>
            <a:off x="1325880" y="3703320"/>
            <a:ext cx="1463040" cy="274320"/>
          </a:xfrm>
          <a:prstGeom prst="rect">
            <a:avLst/>
          </a:prstGeom>
          <a:noFill/>
          <a:ln/>
        </p:spPr>
        <p:txBody>
          <a:bodyPr wrap="square" lIns="0" tIns="0" rIns="0" bIns="0" rtlCol="0" anchor="t"/>
          <a:lstStyle/>
          <a:p>
            <a:pPr indent="0" marL="0">
              <a:buNone/>
            </a:pPr>
            <a:r>
              <a:rPr lang="en-US" sz="1200" dirty="0">
                <a:solidFill>
                  <a:schemeClr val="accent6"/>
                </a:solidFill>
              </a:rPr>
              <a:t>Bank</a:t>
            </a:r>
            <a:endParaRPr lang="en-US" sz="1200" dirty="0"/>
          </a:p>
        </p:txBody>
      </p:sp>
      <p:sp>
        <p:nvSpPr>
          <p:cNvPr id="13" name="Text 11"/>
          <p:cNvSpPr txBox="1"/>
          <p:nvPr/>
        </p:nvSpPr>
        <p:spPr>
          <a:xfrm>
            <a:off x="1325880" y="3995928"/>
            <a:ext cx="1920240" cy="411480"/>
          </a:xfrm>
          <a:prstGeom prst="rect">
            <a:avLst/>
          </a:prstGeom>
          <a:noFill/>
          <a:ln/>
        </p:spPr>
        <p:txBody>
          <a:bodyPr wrap="square" lIns="0" tIns="0" rIns="0" bIns="0" rtlCol="0" anchor="t"/>
          <a:lstStyle/>
          <a:p>
            <a:pPr indent="0" marL="0">
              <a:buNone/>
            </a:pPr>
            <a:r>
              <a:rPr lang="en-US" sz="2200" b="1" dirty="0">
                <a:solidFill>
                  <a:schemeClr val="tx2"/>
                </a:solidFill>
                <a:latin typeface="Courier New" pitchFamily="34" charset="0"/>
                <a:ea typeface="Courier New" pitchFamily="34" charset="-122"/>
                <a:cs typeface="Courier New" pitchFamily="34" charset="-120"/>
              </a:rPr>
              <a:t>107 554</a:t>
            </a:r>
            <a:endParaRPr lang="en-US" sz="2200" dirty="0"/>
          </a:p>
        </p:txBody>
      </p:sp>
      <p:sp>
        <p:nvSpPr>
          <p:cNvPr id="14" name="Zeitkreis Bank"/>
          <p:cNvSpPr/>
          <p:nvPr/>
        </p:nvSpPr>
        <p:spPr>
          <a:xfrm>
            <a:off x="2971800" y="3721608"/>
            <a:ext cx="292608" cy="292608"/>
          </a:xfrm>
          <a:prstGeom prst="ellipse">
            <a:avLst/>
          </a:prstGeom>
          <a:solidFill>
            <a:schemeClr val="accent1"/>
          </a:solidFill>
          <a:ln w="12700">
            <a:solidFill>
              <a:schemeClr val="accent1"/>
            </a:solidFill>
            <a:prstDash val="solid"/>
          </a:ln>
        </p:spPr>
      </p:sp>
      <p:sp>
        <p:nvSpPr>
          <p:cNvPr id="15" name="Code Shop"/>
          <p:cNvSpPr/>
          <p:nvPr/>
        </p:nvSpPr>
        <p:spPr>
          <a:xfrm>
            <a:off x="1188720" y="4663440"/>
            <a:ext cx="2194560" cy="914400"/>
          </a:xfrm>
          <a:prstGeom prst="roundRect">
            <a:avLst>
              <a:gd name="adj" fmla="val 12000"/>
            </a:avLst>
          </a:prstGeom>
          <a:solidFill>
            <a:schemeClr val="bg2"/>
          </a:solidFill>
          <a:ln w="12700">
            <a:solidFill>
              <a:schemeClr val="bg2"/>
            </a:solidFill>
            <a:prstDash val="solid"/>
          </a:ln>
        </p:spPr>
      </p:sp>
      <p:sp>
        <p:nvSpPr>
          <p:cNvPr id="16" name="Text 14"/>
          <p:cNvSpPr txBox="1"/>
          <p:nvPr/>
        </p:nvSpPr>
        <p:spPr>
          <a:xfrm>
            <a:off x="1325880" y="4754880"/>
            <a:ext cx="1463040" cy="274320"/>
          </a:xfrm>
          <a:prstGeom prst="rect">
            <a:avLst/>
          </a:prstGeom>
          <a:noFill/>
          <a:ln/>
        </p:spPr>
        <p:txBody>
          <a:bodyPr wrap="square" lIns="0" tIns="0" rIns="0" bIns="0" rtlCol="0" anchor="t"/>
          <a:lstStyle/>
          <a:p>
            <a:pPr indent="0" marL="0">
              <a:buNone/>
            </a:pPr>
            <a:r>
              <a:rPr lang="en-US" sz="1200" dirty="0">
                <a:solidFill>
                  <a:schemeClr val="accent6"/>
                </a:solidFill>
              </a:rPr>
              <a:t>Shop</a:t>
            </a:r>
            <a:endParaRPr lang="en-US" sz="1200" dirty="0"/>
          </a:p>
        </p:txBody>
      </p:sp>
      <p:sp>
        <p:nvSpPr>
          <p:cNvPr id="17" name="Text 15"/>
          <p:cNvSpPr txBox="1"/>
          <p:nvPr/>
        </p:nvSpPr>
        <p:spPr>
          <a:xfrm>
            <a:off x="1325880" y="5047488"/>
            <a:ext cx="1920240" cy="411480"/>
          </a:xfrm>
          <a:prstGeom prst="rect">
            <a:avLst/>
          </a:prstGeom>
          <a:noFill/>
          <a:ln/>
        </p:spPr>
        <p:txBody>
          <a:bodyPr wrap="square" lIns="0" tIns="0" rIns="0" bIns="0" rtlCol="0" anchor="t"/>
          <a:lstStyle/>
          <a:p>
            <a:pPr indent="0" marL="0">
              <a:buNone/>
            </a:pPr>
            <a:r>
              <a:rPr lang="en-US" sz="2200" b="1" dirty="0">
                <a:solidFill>
                  <a:schemeClr val="tx2"/>
                </a:solidFill>
                <a:latin typeface="Courier New" pitchFamily="34" charset="0"/>
                <a:ea typeface="Courier New" pitchFamily="34" charset="-122"/>
                <a:cs typeface="Courier New" pitchFamily="34" charset="-120"/>
              </a:rPr>
              <a:t>930 216</a:t>
            </a:r>
            <a:endParaRPr lang="en-US" sz="2200" dirty="0"/>
          </a:p>
        </p:txBody>
      </p:sp>
      <p:sp>
        <p:nvSpPr>
          <p:cNvPr id="18" name="Zeitkreis Shop"/>
          <p:cNvSpPr/>
          <p:nvPr/>
        </p:nvSpPr>
        <p:spPr>
          <a:xfrm>
            <a:off x="2971800" y="4773168"/>
            <a:ext cx="292608" cy="292608"/>
          </a:xfrm>
          <a:prstGeom prst="ellipse">
            <a:avLst/>
          </a:prstGeom>
          <a:solidFill>
            <a:schemeClr val="accent1"/>
          </a:solidFill>
          <a:ln w="12700">
            <a:solidFill>
              <a:schemeClr val="accent1"/>
            </a:solidFill>
            <a:prstDash val="solid"/>
          </a:ln>
        </p:spPr>
      </p:sp>
      <p:sp>
        <p:nvSpPr>
          <p:cNvPr id="19" name="checkDark Kreis"/>
          <p:cNvSpPr/>
          <p:nvPr/>
        </p:nvSpPr>
        <p:spPr>
          <a:xfrm>
            <a:off x="4480560" y="1856232"/>
            <a:ext cx="502920" cy="502920"/>
          </a:xfrm>
          <a:prstGeom prst="ellipse">
            <a:avLst/>
          </a:prstGeom>
          <a:solidFill>
            <a:schemeClr val="accent4"/>
          </a:solidFill>
          <a:ln w="12700">
            <a:solidFill>
              <a:schemeClr val="accent4"/>
            </a:solidFill>
            <a:prstDash val="solid"/>
          </a:ln>
        </p:spPr>
      </p:sp>
      <p:pic>
        <p:nvPicPr>
          <p:cNvPr id="20" name="checkDark Icon" descr="checkDark">    </p:cNvPr>
          <p:cNvPicPr>
            <a:picLocks noChangeAspect="1"/>
          </p:cNvPicPr>
          <p:nvPr/>
        </p:nvPicPr>
        <p:blipFill>
          <a:blip r:embed="rId1"/>
          <a:stretch>
            <a:fillRect/>
          </a:stretch>
        </p:blipFill>
        <p:spPr>
          <a:xfrm>
            <a:off x="4601261" y="1976933"/>
            <a:ext cx="261518" cy="261518"/>
          </a:xfrm>
          <a:prstGeom prst="rect">
            <a:avLst/>
          </a:prstGeom>
        </p:spPr>
      </p:pic>
      <p:sp>
        <p:nvSpPr>
          <p:cNvPr id="21" name="Text 18"/>
          <p:cNvSpPr txBox="1"/>
          <p:nvPr/>
        </p:nvSpPr>
        <p:spPr>
          <a:xfrm>
            <a:off x="5212080" y="1783080"/>
            <a:ext cx="6400800" cy="365760"/>
          </a:xfrm>
          <a:prstGeom prst="rect">
            <a:avLst/>
          </a:prstGeom>
          <a:noFill/>
          <a:ln/>
        </p:spPr>
        <p:txBody>
          <a:bodyPr wrap="square" lIns="0" tIns="0" rIns="0" bIns="0" rtlCol="0" anchor="t"/>
          <a:lstStyle/>
          <a:p>
            <a:pPr indent="0" marL="0">
              <a:buNone/>
            </a:pPr>
            <a:r>
              <a:rPr lang="en-US" sz="1900" b="1" dirty="0">
                <a:solidFill>
                  <a:schemeClr val="tx2"/>
                </a:solidFill>
              </a:rPr>
              <a:t>100 % kostenlos</a:t>
            </a:r>
            <a:endParaRPr lang="en-US" sz="1900" dirty="0"/>
          </a:p>
        </p:txBody>
      </p:sp>
      <p:sp>
        <p:nvSpPr>
          <p:cNvPr id="22" name="Text 19"/>
          <p:cNvSpPr txBox="1"/>
          <p:nvPr/>
        </p:nvSpPr>
        <p:spPr>
          <a:xfrm>
            <a:off x="5212080" y="2148840"/>
            <a:ext cx="6400800" cy="457200"/>
          </a:xfrm>
          <a:prstGeom prst="rect">
            <a:avLst/>
          </a:prstGeom>
          <a:noFill/>
          <a:ln/>
        </p:spPr>
        <p:txBody>
          <a:bodyPr wrap="square" lIns="0" tIns="0" rIns="0" bIns="0" rtlCol="0" anchor="t"/>
          <a:lstStyle/>
          <a:p>
            <a:pPr indent="0" marL="0">
              <a:buNone/>
            </a:pPr>
            <a:r>
              <a:rPr lang="en-US" sz="1500" dirty="0">
                <a:solidFill>
                  <a:schemeClr val="tx1"/>
                </a:solidFill>
              </a:rPr>
              <a:t>Funktioniert auch offline.</a:t>
            </a:r>
            <a:endParaRPr lang="en-US" sz="1500" dirty="0"/>
          </a:p>
        </p:txBody>
      </p:sp>
      <p:sp>
        <p:nvSpPr>
          <p:cNvPr id="23" name="checkDark Kreis"/>
          <p:cNvSpPr/>
          <p:nvPr/>
        </p:nvSpPr>
        <p:spPr>
          <a:xfrm>
            <a:off x="4480560" y="2697480"/>
            <a:ext cx="502920" cy="502920"/>
          </a:xfrm>
          <a:prstGeom prst="ellipse">
            <a:avLst/>
          </a:prstGeom>
          <a:solidFill>
            <a:schemeClr val="accent4"/>
          </a:solidFill>
          <a:ln w="12700">
            <a:solidFill>
              <a:schemeClr val="accent4"/>
            </a:solidFill>
            <a:prstDash val="solid"/>
          </a:ln>
        </p:spPr>
      </p:sp>
      <p:pic>
        <p:nvPicPr>
          <p:cNvPr id="24" name="checkDark Icon" descr="checkDark">    </p:cNvPr>
          <p:cNvPicPr>
            <a:picLocks noChangeAspect="1"/>
          </p:cNvPicPr>
          <p:nvPr/>
        </p:nvPicPr>
        <p:blipFill>
          <a:blip r:embed="rId2"/>
          <a:stretch>
            <a:fillRect/>
          </a:stretch>
        </p:blipFill>
        <p:spPr>
          <a:xfrm>
            <a:off x="4601261" y="2818181"/>
            <a:ext cx="261518" cy="261518"/>
          </a:xfrm>
          <a:prstGeom prst="rect">
            <a:avLst/>
          </a:prstGeom>
        </p:spPr>
      </p:pic>
      <p:sp>
        <p:nvSpPr>
          <p:cNvPr id="25" name="Text 21"/>
          <p:cNvSpPr txBox="1"/>
          <p:nvPr/>
        </p:nvSpPr>
        <p:spPr>
          <a:xfrm>
            <a:off x="5212080" y="2624328"/>
            <a:ext cx="6400800" cy="365760"/>
          </a:xfrm>
          <a:prstGeom prst="rect">
            <a:avLst/>
          </a:prstGeom>
          <a:noFill/>
          <a:ln/>
        </p:spPr>
        <p:txBody>
          <a:bodyPr wrap="square" lIns="0" tIns="0" rIns="0" bIns="0" rtlCol="0" anchor="t"/>
          <a:lstStyle/>
          <a:p>
            <a:pPr indent="0" marL="0">
              <a:buNone/>
            </a:pPr>
            <a:r>
              <a:rPr lang="en-US" sz="1900" b="1" dirty="0">
                <a:solidFill>
                  <a:schemeClr val="tx2"/>
                </a:solidFill>
              </a:rPr>
              <a:t>Kein Konto nötig</a:t>
            </a:r>
            <a:endParaRPr lang="en-US" sz="1900" dirty="0"/>
          </a:p>
        </p:txBody>
      </p:sp>
      <p:sp>
        <p:nvSpPr>
          <p:cNvPr id="26" name="Text 22"/>
          <p:cNvSpPr txBox="1"/>
          <p:nvPr/>
        </p:nvSpPr>
        <p:spPr>
          <a:xfrm>
            <a:off x="5212080" y="2990088"/>
            <a:ext cx="6400800" cy="457200"/>
          </a:xfrm>
          <a:prstGeom prst="rect">
            <a:avLst/>
          </a:prstGeom>
          <a:noFill/>
          <a:ln/>
        </p:spPr>
        <p:txBody>
          <a:bodyPr wrap="square" lIns="0" tIns="0" rIns="0" bIns="0" rtlCol="0" anchor="t"/>
          <a:lstStyle/>
          <a:p>
            <a:pPr indent="0" marL="0">
              <a:buNone/>
            </a:pPr>
            <a:r>
              <a:rPr lang="en-US" sz="1500" dirty="0">
                <a:solidFill>
                  <a:schemeClr val="tx1"/>
                </a:solidFill>
              </a:rPr>
              <a:t>Anonym nutzbar – ohne Anmeldung.</a:t>
            </a:r>
            <a:endParaRPr lang="en-US" sz="1500" dirty="0"/>
          </a:p>
        </p:txBody>
      </p:sp>
      <p:sp>
        <p:nvSpPr>
          <p:cNvPr id="27" name="checkDark Kreis"/>
          <p:cNvSpPr/>
          <p:nvPr/>
        </p:nvSpPr>
        <p:spPr>
          <a:xfrm>
            <a:off x="4480560" y="3538728"/>
            <a:ext cx="502920" cy="502920"/>
          </a:xfrm>
          <a:prstGeom prst="ellipse">
            <a:avLst/>
          </a:prstGeom>
          <a:solidFill>
            <a:schemeClr val="accent4"/>
          </a:solidFill>
          <a:ln w="12700">
            <a:solidFill>
              <a:schemeClr val="accent4"/>
            </a:solidFill>
            <a:prstDash val="solid"/>
          </a:ln>
        </p:spPr>
      </p:sp>
      <p:pic>
        <p:nvPicPr>
          <p:cNvPr id="28" name="checkDark Icon" descr="checkDark">    </p:cNvPr>
          <p:cNvPicPr>
            <a:picLocks noChangeAspect="1"/>
          </p:cNvPicPr>
          <p:nvPr/>
        </p:nvPicPr>
        <p:blipFill>
          <a:blip r:embed="rId3"/>
          <a:stretch>
            <a:fillRect/>
          </a:stretch>
        </p:blipFill>
        <p:spPr>
          <a:xfrm>
            <a:off x="4601261" y="3659429"/>
            <a:ext cx="261518" cy="261518"/>
          </a:xfrm>
          <a:prstGeom prst="rect">
            <a:avLst/>
          </a:prstGeom>
        </p:spPr>
      </p:pic>
      <p:sp>
        <p:nvSpPr>
          <p:cNvPr id="29" name="Text 24"/>
          <p:cNvSpPr txBox="1"/>
          <p:nvPr/>
        </p:nvSpPr>
        <p:spPr>
          <a:xfrm>
            <a:off x="5212080" y="3465576"/>
            <a:ext cx="6400800" cy="365760"/>
          </a:xfrm>
          <a:prstGeom prst="rect">
            <a:avLst/>
          </a:prstGeom>
          <a:noFill/>
          <a:ln/>
        </p:spPr>
        <p:txBody>
          <a:bodyPr wrap="square" lIns="0" tIns="0" rIns="0" bIns="0" rtlCol="0" anchor="t"/>
          <a:lstStyle/>
          <a:p>
            <a:pPr indent="0" marL="0">
              <a:buNone/>
            </a:pPr>
            <a:r>
              <a:rPr lang="en-US" sz="1900" b="1" dirty="0">
                <a:solidFill>
                  <a:schemeClr val="tx2"/>
                </a:solidFill>
              </a:rPr>
              <a:t>Offener Quellcode</a:t>
            </a:r>
            <a:endParaRPr lang="en-US" sz="1900" dirty="0"/>
          </a:p>
        </p:txBody>
      </p:sp>
      <p:sp>
        <p:nvSpPr>
          <p:cNvPr id="30" name="Text 25"/>
          <p:cNvSpPr txBox="1"/>
          <p:nvPr/>
        </p:nvSpPr>
        <p:spPr>
          <a:xfrm>
            <a:off x="5212080" y="3831336"/>
            <a:ext cx="6400800" cy="457200"/>
          </a:xfrm>
          <a:prstGeom prst="rect">
            <a:avLst/>
          </a:prstGeom>
          <a:noFill/>
          <a:ln/>
        </p:spPr>
        <p:txBody>
          <a:bodyPr wrap="square" lIns="0" tIns="0" rIns="0" bIns="0" rtlCol="0" anchor="t"/>
          <a:lstStyle/>
          <a:p>
            <a:pPr indent="0" marL="0">
              <a:buNone/>
            </a:pPr>
            <a:r>
              <a:rPr lang="en-US" sz="1500" dirty="0">
                <a:solidFill>
                  <a:schemeClr val="tx1"/>
                </a:solidFill>
              </a:rPr>
              <a:t>Open Source (GPL-3.0), einsehbar auf GitHub.</a:t>
            </a:r>
            <a:endParaRPr lang="en-US" sz="1500" dirty="0"/>
          </a:p>
        </p:txBody>
      </p:sp>
      <p:sp>
        <p:nvSpPr>
          <p:cNvPr id="31" name="checkDark Kreis"/>
          <p:cNvSpPr/>
          <p:nvPr/>
        </p:nvSpPr>
        <p:spPr>
          <a:xfrm>
            <a:off x="4480560" y="4379976"/>
            <a:ext cx="502920" cy="502920"/>
          </a:xfrm>
          <a:prstGeom prst="ellipse">
            <a:avLst/>
          </a:prstGeom>
          <a:solidFill>
            <a:schemeClr val="accent4"/>
          </a:solidFill>
          <a:ln w="12700">
            <a:solidFill>
              <a:schemeClr val="accent4"/>
            </a:solidFill>
            <a:prstDash val="solid"/>
          </a:ln>
        </p:spPr>
      </p:sp>
      <p:pic>
        <p:nvPicPr>
          <p:cNvPr id="32" name="checkDark Icon" descr="checkDark">    </p:cNvPr>
          <p:cNvPicPr>
            <a:picLocks noChangeAspect="1"/>
          </p:cNvPicPr>
          <p:nvPr/>
        </p:nvPicPr>
        <p:blipFill>
          <a:blip r:embed="rId4"/>
          <a:stretch>
            <a:fillRect/>
          </a:stretch>
        </p:blipFill>
        <p:spPr>
          <a:xfrm>
            <a:off x="4601261" y="4500677"/>
            <a:ext cx="261518" cy="261518"/>
          </a:xfrm>
          <a:prstGeom prst="rect">
            <a:avLst/>
          </a:prstGeom>
        </p:spPr>
      </p:pic>
      <p:sp>
        <p:nvSpPr>
          <p:cNvPr id="33" name="Text 27"/>
          <p:cNvSpPr txBox="1"/>
          <p:nvPr/>
        </p:nvSpPr>
        <p:spPr>
          <a:xfrm>
            <a:off x="5212080" y="4306824"/>
            <a:ext cx="6400800" cy="365760"/>
          </a:xfrm>
          <a:prstGeom prst="rect">
            <a:avLst/>
          </a:prstGeom>
          <a:noFill/>
          <a:ln/>
        </p:spPr>
        <p:txBody>
          <a:bodyPr wrap="square" lIns="0" tIns="0" rIns="0" bIns="0" rtlCol="0" anchor="t"/>
          <a:lstStyle/>
          <a:p>
            <a:pPr indent="0" marL="0">
              <a:buNone/>
            </a:pPr>
            <a:r>
              <a:rPr lang="en-US" sz="1900" b="1" dirty="0">
                <a:solidFill>
                  <a:schemeClr val="tx2"/>
                </a:solidFill>
              </a:rPr>
              <a:t>Auf mehreren Geräten</a:t>
            </a:r>
            <a:endParaRPr lang="en-US" sz="1900" dirty="0"/>
          </a:p>
        </p:txBody>
      </p:sp>
      <p:sp>
        <p:nvSpPr>
          <p:cNvPr id="34" name="Text 28"/>
          <p:cNvSpPr txBox="1"/>
          <p:nvPr/>
        </p:nvSpPr>
        <p:spPr>
          <a:xfrm>
            <a:off x="5212080" y="4672584"/>
            <a:ext cx="6400800" cy="457200"/>
          </a:xfrm>
          <a:prstGeom prst="rect">
            <a:avLst/>
          </a:prstGeom>
          <a:noFill/>
          <a:ln/>
        </p:spPr>
        <p:txBody>
          <a:bodyPr wrap="square" lIns="0" tIns="0" rIns="0" bIns="0" rtlCol="0" anchor="t"/>
          <a:lstStyle/>
          <a:p>
            <a:pPr indent="0" marL="0">
              <a:buNone/>
            </a:pPr>
            <a:r>
              <a:rPr lang="en-US" sz="1500" dirty="0">
                <a:solidFill>
                  <a:schemeClr val="tx1"/>
                </a:solidFill>
              </a:rPr>
              <a:t>iPhone, Android und Browser – mit Abgleich zwischen Geräten.</a:t>
            </a:r>
            <a:endParaRPr lang="en-US" sz="1500" dirty="0"/>
          </a:p>
        </p:txBody>
      </p:sp>
      <p:sp>
        <p:nvSpPr>
          <p:cNvPr id="35" name="checkDark Kreis"/>
          <p:cNvSpPr/>
          <p:nvPr/>
        </p:nvSpPr>
        <p:spPr>
          <a:xfrm>
            <a:off x="4480560" y="5221224"/>
            <a:ext cx="502920" cy="502920"/>
          </a:xfrm>
          <a:prstGeom prst="ellipse">
            <a:avLst/>
          </a:prstGeom>
          <a:solidFill>
            <a:schemeClr val="accent4"/>
          </a:solidFill>
          <a:ln w="12700">
            <a:solidFill>
              <a:schemeClr val="accent4"/>
            </a:solidFill>
            <a:prstDash val="solid"/>
          </a:ln>
        </p:spPr>
      </p:sp>
      <p:pic>
        <p:nvPicPr>
          <p:cNvPr id="36" name="checkDark Icon" descr="checkDark">    </p:cNvPr>
          <p:cNvPicPr>
            <a:picLocks noChangeAspect="1"/>
          </p:cNvPicPr>
          <p:nvPr/>
        </p:nvPicPr>
        <p:blipFill>
          <a:blip r:embed="rId5"/>
          <a:stretch>
            <a:fillRect/>
          </a:stretch>
        </p:blipFill>
        <p:spPr>
          <a:xfrm>
            <a:off x="4601261" y="5341925"/>
            <a:ext cx="261518" cy="261518"/>
          </a:xfrm>
          <a:prstGeom prst="rect">
            <a:avLst/>
          </a:prstGeom>
        </p:spPr>
      </p:pic>
      <p:sp>
        <p:nvSpPr>
          <p:cNvPr id="37" name="Text 30"/>
          <p:cNvSpPr txBox="1"/>
          <p:nvPr/>
        </p:nvSpPr>
        <p:spPr>
          <a:xfrm>
            <a:off x="5212080" y="5148072"/>
            <a:ext cx="6400800" cy="365760"/>
          </a:xfrm>
          <a:prstGeom prst="rect">
            <a:avLst/>
          </a:prstGeom>
          <a:noFill/>
          <a:ln/>
        </p:spPr>
        <p:txBody>
          <a:bodyPr wrap="square" lIns="0" tIns="0" rIns="0" bIns="0" rtlCol="0" anchor="t"/>
          <a:lstStyle/>
          <a:p>
            <a:pPr indent="0" marL="0">
              <a:buNone/>
            </a:pPr>
            <a:r>
              <a:rPr lang="en-US" sz="1900" b="1" dirty="0">
                <a:solidFill>
                  <a:schemeClr val="tx2"/>
                </a:solidFill>
              </a:rPr>
              <a:t>Backup direkt in der App</a:t>
            </a:r>
            <a:endParaRPr lang="en-US" sz="1900" dirty="0"/>
          </a:p>
        </p:txBody>
      </p:sp>
      <p:sp>
        <p:nvSpPr>
          <p:cNvPr id="38" name="Text 31"/>
          <p:cNvSpPr txBox="1"/>
          <p:nvPr/>
        </p:nvSpPr>
        <p:spPr>
          <a:xfrm>
            <a:off x="5212080" y="5513832"/>
            <a:ext cx="6400800" cy="457200"/>
          </a:xfrm>
          <a:prstGeom prst="rect">
            <a:avLst/>
          </a:prstGeom>
          <a:noFill/>
          <a:ln/>
        </p:spPr>
        <p:txBody>
          <a:bodyPr wrap="square" lIns="0" tIns="0" rIns="0" bIns="0" rtlCol="0" anchor="t"/>
          <a:lstStyle/>
          <a:p>
            <a:pPr indent="0" marL="0">
              <a:buNone/>
            </a:pPr>
            <a:r>
              <a:rPr lang="en-US" sz="1500" dirty="0">
                <a:solidFill>
                  <a:schemeClr val="tx1"/>
                </a:solidFill>
              </a:rPr>
              <a:t>iCloud, Google Drive oder Datei – verschlüsselt, dazu ein eigenes Backup-Passwort.</a:t>
            </a:r>
            <a:endParaRPr lang="en-US" sz="1500" dirty="0"/>
          </a:p>
        </p:txBody>
      </p:sp>
      <p:sp>
        <p:nvSpPr>
          <p:cNvPr id="39"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6" invalidUrl="" action="" tgtFrame="" tooltip="2FAS Auth – Produktseite" history="1" highlightClick="0" endSnd="0">
                  <a:extLst>
                    <a:ext uri="{A12FA001-AC4F-418D-AE19-62706E023703}">
                      <ahyp:hlinkClr xmlns:ahyp="http://schemas.microsoft.com/office/drawing/2018/hyperlinkcolor" val="tx"/>
                    </a:ext>
                  </a:extLst>
                </a:hlinkClick>
              </a:rPr>
              <a:t>[34] 2FAS Auth</a:t>
            </a:r>
            <a:pPr indent="0" marL="0">
              <a:buNone/>
            </a:pPr>
            <a:r>
              <a:rPr lang="en-US" sz="900" dirty="0">
                <a:solidFill>
                  <a:schemeClr val="accent6"/>
                </a:solidFill>
              </a:rPr>
              <a:t> · </a:t>
            </a:r>
            <a:pPr indent="0" marL="0">
              <a:buNone/>
            </a:pPr>
            <a:r>
              <a:rPr lang="en-US" sz="900" u="sng" dirty="0">
                <a:solidFill>
                  <a:schemeClr val="accent6"/>
                </a:solidFill>
                <a:hlinkClick r:id="rId7" invalidUrl="" action="" tgtFrame="" tooltip="2FAS – Download" history="1" highlightClick="0" endSnd="0">
                  <a:extLst>
                    <a:ext uri="{A12FA001-AC4F-418D-AE19-62706E023703}">
                      <ahyp:hlinkClr xmlns:ahyp="http://schemas.microsoft.com/office/drawing/2018/hyperlinkcolor" val="tx"/>
                    </a:ext>
                  </a:extLst>
                </a:hlinkClick>
              </a:rPr>
              <a:t>[40] 2FAS Download</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2FAS Support – Is 2FAS Auth Backup safe?" history="1" highlightClick="0" endSnd="0">
                  <a:extLst>
                    <a:ext uri="{A12FA001-AC4F-418D-AE19-62706E023703}">
                      <ahyp:hlinkClr xmlns:ahyp="http://schemas.microsoft.com/office/drawing/2018/hyperlinkcolor" val="tx"/>
                    </a:ext>
                  </a:extLst>
                </a:hlinkClick>
              </a:rPr>
              <a:t>[41] 2FAS Backup</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2FAS – Quellcode auf GitHub" history="1" highlightClick="0" endSnd="0">
                  <a:extLst>
                    <a:ext uri="{A12FA001-AC4F-418D-AE19-62706E023703}">
                      <ahyp:hlinkClr xmlns:ahyp="http://schemas.microsoft.com/office/drawing/2018/hyperlinkcolor" val="tx"/>
                    </a:ext>
                  </a:extLst>
                </a:hlinkClick>
              </a:rPr>
              <a:t>[42] 2FAS GitHub</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Authenticator wechseln in fünf Schritten</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Ruhig angehen: Die alte App erst löschen, wenn alles in der neuen läuft.</a:t>
            </a:r>
            <a:endParaRPr lang="en-US" sz="1500" dirty="0"/>
          </a:p>
        </p:txBody>
      </p:sp>
      <p:sp>
        <p:nvSpPr>
          <p:cNvPr id="4" name="Verbindung Zeitleiste"/>
          <p:cNvSpPr/>
          <p:nvPr/>
        </p:nvSpPr>
        <p:spPr>
          <a:xfrm>
            <a:off x="822960" y="2103120"/>
            <a:ext cx="0" cy="3364992"/>
          </a:xfrm>
          <a:prstGeom prst="line">
            <a:avLst/>
          </a:prstGeom>
          <a:noFill/>
          <a:ln w="38100">
            <a:solidFill>
              <a:schemeClr val="accent5"/>
            </a:solidFill>
            <a:prstDash val="solid"/>
          </a:ln>
        </p:spPr>
      </p:sp>
      <p:sp>
        <p:nvSpPr>
          <p:cNvPr id="5" name="Wechsel 1 Kreis"/>
          <p:cNvSpPr/>
          <p:nvPr/>
        </p:nvSpPr>
        <p:spPr>
          <a:xfrm>
            <a:off x="548640" y="1828800"/>
            <a:ext cx="548640" cy="548640"/>
          </a:xfrm>
          <a:prstGeom prst="ellipse">
            <a:avLst/>
          </a:prstGeom>
          <a:solidFill>
            <a:schemeClr val="tx2"/>
          </a:solidFill>
          <a:ln w="12700">
            <a:solidFill>
              <a:schemeClr val="tx2"/>
            </a:solidFill>
            <a:prstDash val="solid"/>
          </a:ln>
        </p:spPr>
      </p:sp>
      <p:sp>
        <p:nvSpPr>
          <p:cNvPr id="6" name="Text 4"/>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Wechsel 1 Karte"/>
          <p:cNvSpPr/>
          <p:nvPr/>
        </p:nvSpPr>
        <p:spPr>
          <a:xfrm>
            <a:off x="1371600" y="1773936"/>
            <a:ext cx="10241280" cy="694944"/>
          </a:xfrm>
          <a:prstGeom prst="roundRect">
            <a:avLst>
              <a:gd name="adj" fmla="val 15789"/>
            </a:avLst>
          </a:prstGeom>
          <a:solidFill>
            <a:schemeClr val="bg2"/>
          </a:solidFill>
          <a:ln w="12700">
            <a:solidFill>
              <a:schemeClr val="bg2"/>
            </a:solidFill>
            <a:prstDash val="solid"/>
          </a:ln>
        </p:spPr>
      </p:sp>
      <p:sp>
        <p:nvSpPr>
          <p:cNvPr id="8" name="Text 6"/>
          <p:cNvSpPr txBox="1"/>
          <p:nvPr/>
        </p:nvSpPr>
        <p:spPr>
          <a:xfrm>
            <a:off x="1600200" y="1773936"/>
            <a:ext cx="3291840" cy="694944"/>
          </a:xfrm>
          <a:prstGeom prst="rect">
            <a:avLst/>
          </a:prstGeom>
          <a:noFill/>
          <a:ln/>
        </p:spPr>
        <p:txBody>
          <a:bodyPr wrap="square" lIns="0" tIns="0" rIns="0" bIns="0" rtlCol="0" anchor="ctr"/>
          <a:lstStyle/>
          <a:p>
            <a:pPr indent="0" marL="0">
              <a:buNone/>
            </a:pPr>
            <a:r>
              <a:rPr lang="en-US" sz="1900" b="1" dirty="0">
                <a:solidFill>
                  <a:schemeClr val="tx2"/>
                </a:solidFill>
              </a:rPr>
              <a:t>Liste machen</a:t>
            </a:r>
            <a:endParaRPr lang="en-US" sz="1900" dirty="0"/>
          </a:p>
        </p:txBody>
      </p:sp>
      <p:sp>
        <p:nvSpPr>
          <p:cNvPr id="9" name="Text 7"/>
          <p:cNvSpPr txBox="1"/>
          <p:nvPr/>
        </p:nvSpPr>
        <p:spPr>
          <a:xfrm>
            <a:off x="4937760" y="1773936"/>
            <a:ext cx="6492240" cy="694944"/>
          </a:xfrm>
          <a:prstGeom prst="rect">
            <a:avLst/>
          </a:prstGeom>
          <a:noFill/>
          <a:ln/>
        </p:spPr>
        <p:txBody>
          <a:bodyPr wrap="square" lIns="0" tIns="0" rIns="0" bIns="0" rtlCol="0" anchor="ctr"/>
          <a:lstStyle/>
          <a:p>
            <a:pPr indent="0" marL="0">
              <a:buNone/>
            </a:pPr>
            <a:r>
              <a:rPr lang="en-US" sz="1500" dirty="0">
                <a:solidFill>
                  <a:schemeClr val="tx1"/>
                </a:solidFill>
              </a:rPr>
              <a:t>Welche Konten nutzen 2FA? E-Mail, Bank, Shops, Cloud, Social Media.</a:t>
            </a:r>
            <a:endParaRPr lang="en-US" sz="1500" dirty="0"/>
          </a:p>
        </p:txBody>
      </p:sp>
      <p:sp>
        <p:nvSpPr>
          <p:cNvPr id="10" name="Wechsel 2 Kreis"/>
          <p:cNvSpPr/>
          <p:nvPr/>
        </p:nvSpPr>
        <p:spPr>
          <a:xfrm>
            <a:off x="548640" y="2670048"/>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548640" y="2670048"/>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2" name="Wechsel 2 Karte"/>
          <p:cNvSpPr/>
          <p:nvPr/>
        </p:nvSpPr>
        <p:spPr>
          <a:xfrm>
            <a:off x="1371600" y="2615184"/>
            <a:ext cx="10241280" cy="694944"/>
          </a:xfrm>
          <a:prstGeom prst="roundRect">
            <a:avLst>
              <a:gd name="adj" fmla="val 15789"/>
            </a:avLst>
          </a:prstGeom>
          <a:solidFill>
            <a:schemeClr val="accent1"/>
          </a:solidFill>
          <a:ln w="12700">
            <a:solidFill>
              <a:schemeClr val="accent1"/>
            </a:solidFill>
            <a:prstDash val="solid"/>
          </a:ln>
        </p:spPr>
      </p:sp>
      <p:sp>
        <p:nvSpPr>
          <p:cNvPr id="13" name="Text 11"/>
          <p:cNvSpPr txBox="1"/>
          <p:nvPr/>
        </p:nvSpPr>
        <p:spPr>
          <a:xfrm>
            <a:off x="1600200" y="2615184"/>
            <a:ext cx="3291840" cy="694944"/>
          </a:xfrm>
          <a:prstGeom prst="rect">
            <a:avLst/>
          </a:prstGeom>
          <a:noFill/>
          <a:ln/>
        </p:spPr>
        <p:txBody>
          <a:bodyPr wrap="square" lIns="0" tIns="0" rIns="0" bIns="0" rtlCol="0" anchor="ctr"/>
          <a:lstStyle/>
          <a:p>
            <a:pPr indent="0" marL="0">
              <a:buNone/>
            </a:pPr>
            <a:r>
              <a:rPr lang="en-US" sz="1900" b="1" dirty="0">
                <a:solidFill>
                  <a:schemeClr val="tx2"/>
                </a:solidFill>
              </a:rPr>
              <a:t>Notfall-Codes sichern</a:t>
            </a:r>
            <a:endParaRPr lang="en-US" sz="1900" dirty="0"/>
          </a:p>
        </p:txBody>
      </p:sp>
      <p:sp>
        <p:nvSpPr>
          <p:cNvPr id="14" name="Text 12"/>
          <p:cNvSpPr txBox="1"/>
          <p:nvPr/>
        </p:nvSpPr>
        <p:spPr>
          <a:xfrm>
            <a:off x="4937760" y="2615184"/>
            <a:ext cx="6492240" cy="694944"/>
          </a:xfrm>
          <a:prstGeom prst="rect">
            <a:avLst/>
          </a:prstGeom>
          <a:noFill/>
          <a:ln/>
        </p:spPr>
        <p:txBody>
          <a:bodyPr wrap="square" lIns="0" tIns="0" rIns="0" bIns="0" rtlCol="0" anchor="ctr"/>
          <a:lstStyle/>
          <a:p>
            <a:pPr indent="0" marL="0">
              <a:buNone/>
            </a:pPr>
            <a:r>
              <a:rPr lang="en-US" sz="1500" dirty="0">
                <a:solidFill>
                  <a:schemeClr val="tx1"/>
                </a:solidFill>
              </a:rPr>
              <a:t>Die Wiederherstellungscodes jedes Dienstes ausdrucken oder im Passwortmanager speichern.</a:t>
            </a:r>
            <a:endParaRPr lang="en-US" sz="1500" dirty="0"/>
          </a:p>
        </p:txBody>
      </p:sp>
      <p:sp>
        <p:nvSpPr>
          <p:cNvPr id="15" name="Wechsel 3 Kreis"/>
          <p:cNvSpPr/>
          <p:nvPr/>
        </p:nvSpPr>
        <p:spPr>
          <a:xfrm>
            <a:off x="548640" y="3511296"/>
            <a:ext cx="548640" cy="548640"/>
          </a:xfrm>
          <a:prstGeom prst="ellipse">
            <a:avLst/>
          </a:prstGeom>
          <a:solidFill>
            <a:schemeClr val="tx2"/>
          </a:solidFill>
          <a:ln w="12700">
            <a:solidFill>
              <a:schemeClr val="tx2"/>
            </a:solidFill>
            <a:prstDash val="solid"/>
          </a:ln>
        </p:spPr>
      </p:sp>
      <p:sp>
        <p:nvSpPr>
          <p:cNvPr id="16" name="Text 14"/>
          <p:cNvSpPr txBox="1"/>
          <p:nvPr/>
        </p:nvSpPr>
        <p:spPr>
          <a:xfrm>
            <a:off x="548640" y="351129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Wechsel 3 Karte"/>
          <p:cNvSpPr/>
          <p:nvPr/>
        </p:nvSpPr>
        <p:spPr>
          <a:xfrm>
            <a:off x="1371600" y="3456432"/>
            <a:ext cx="10241280" cy="694944"/>
          </a:xfrm>
          <a:prstGeom prst="roundRect">
            <a:avLst>
              <a:gd name="adj" fmla="val 15789"/>
            </a:avLst>
          </a:prstGeom>
          <a:solidFill>
            <a:schemeClr val="bg2"/>
          </a:solidFill>
          <a:ln w="12700">
            <a:solidFill>
              <a:schemeClr val="bg2"/>
            </a:solidFill>
            <a:prstDash val="solid"/>
          </a:ln>
        </p:spPr>
      </p:sp>
      <p:sp>
        <p:nvSpPr>
          <p:cNvPr id="18" name="Text 16"/>
          <p:cNvSpPr txBox="1"/>
          <p:nvPr/>
        </p:nvSpPr>
        <p:spPr>
          <a:xfrm>
            <a:off x="1600200" y="3456432"/>
            <a:ext cx="3291840" cy="694944"/>
          </a:xfrm>
          <a:prstGeom prst="rect">
            <a:avLst/>
          </a:prstGeom>
          <a:noFill/>
          <a:ln/>
        </p:spPr>
        <p:txBody>
          <a:bodyPr wrap="square" lIns="0" tIns="0" rIns="0" bIns="0" rtlCol="0" anchor="ctr"/>
          <a:lstStyle/>
          <a:p>
            <a:pPr indent="0" marL="0">
              <a:buNone/>
            </a:pPr>
            <a:r>
              <a:rPr lang="en-US" sz="1900" b="1" dirty="0">
                <a:solidFill>
                  <a:schemeClr val="tx2"/>
                </a:solidFill>
              </a:rPr>
              <a:t>Neue App einrichten</a:t>
            </a:r>
            <a:endParaRPr lang="en-US" sz="1900" dirty="0"/>
          </a:p>
        </p:txBody>
      </p:sp>
      <p:sp>
        <p:nvSpPr>
          <p:cNvPr id="19" name="Text 17"/>
          <p:cNvSpPr txBox="1"/>
          <p:nvPr/>
        </p:nvSpPr>
        <p:spPr>
          <a:xfrm>
            <a:off x="4937760" y="3456432"/>
            <a:ext cx="6492240" cy="694944"/>
          </a:xfrm>
          <a:prstGeom prst="rect">
            <a:avLst/>
          </a:prstGeom>
          <a:noFill/>
          <a:ln/>
        </p:spPr>
        <p:txBody>
          <a:bodyPr wrap="square" lIns="0" tIns="0" rIns="0" bIns="0" rtlCol="0" anchor="ctr"/>
          <a:lstStyle/>
          <a:p>
            <a:pPr indent="0" marL="0">
              <a:buNone/>
            </a:pPr>
            <a:r>
              <a:rPr lang="en-US" sz="1500" dirty="0">
                <a:solidFill>
                  <a:schemeClr val="tx1"/>
                </a:solidFill>
              </a:rPr>
              <a:t>Zum Beispiel 2FAS installieren und mit PIN oder Face ID sperren.</a:t>
            </a:r>
            <a:endParaRPr lang="en-US" sz="1500" dirty="0"/>
          </a:p>
        </p:txBody>
      </p:sp>
      <p:sp>
        <p:nvSpPr>
          <p:cNvPr id="20" name="Wechsel 4 Kreis"/>
          <p:cNvSpPr/>
          <p:nvPr/>
        </p:nvSpPr>
        <p:spPr>
          <a:xfrm>
            <a:off x="548640" y="4352544"/>
            <a:ext cx="548640" cy="548640"/>
          </a:xfrm>
          <a:prstGeom prst="ellipse">
            <a:avLst/>
          </a:prstGeom>
          <a:solidFill>
            <a:schemeClr val="tx2"/>
          </a:solidFill>
          <a:ln w="12700">
            <a:solidFill>
              <a:schemeClr val="tx2"/>
            </a:solidFill>
            <a:prstDash val="solid"/>
          </a:ln>
        </p:spPr>
      </p:sp>
      <p:sp>
        <p:nvSpPr>
          <p:cNvPr id="21" name="Text 19"/>
          <p:cNvSpPr txBox="1"/>
          <p:nvPr/>
        </p:nvSpPr>
        <p:spPr>
          <a:xfrm>
            <a:off x="548640" y="435254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Wechsel 4 Karte"/>
          <p:cNvSpPr/>
          <p:nvPr/>
        </p:nvSpPr>
        <p:spPr>
          <a:xfrm>
            <a:off x="1371600" y="4297680"/>
            <a:ext cx="10241280" cy="694944"/>
          </a:xfrm>
          <a:prstGeom prst="roundRect">
            <a:avLst>
              <a:gd name="adj" fmla="val 15789"/>
            </a:avLst>
          </a:prstGeom>
          <a:solidFill>
            <a:schemeClr val="bg2"/>
          </a:solidFill>
          <a:ln w="12700">
            <a:solidFill>
              <a:schemeClr val="bg2"/>
            </a:solidFill>
            <a:prstDash val="solid"/>
          </a:ln>
        </p:spPr>
      </p:sp>
      <p:sp>
        <p:nvSpPr>
          <p:cNvPr id="23" name="Text 21"/>
          <p:cNvSpPr txBox="1"/>
          <p:nvPr/>
        </p:nvSpPr>
        <p:spPr>
          <a:xfrm>
            <a:off x="1600200" y="4297680"/>
            <a:ext cx="3291840" cy="694944"/>
          </a:xfrm>
          <a:prstGeom prst="rect">
            <a:avLst/>
          </a:prstGeom>
          <a:noFill/>
          <a:ln/>
        </p:spPr>
        <p:txBody>
          <a:bodyPr wrap="square" lIns="0" tIns="0" rIns="0" bIns="0" rtlCol="0" anchor="ctr"/>
          <a:lstStyle/>
          <a:p>
            <a:pPr indent="0" marL="0">
              <a:buNone/>
            </a:pPr>
            <a:r>
              <a:rPr lang="en-US" sz="1900" b="1" dirty="0">
                <a:solidFill>
                  <a:schemeClr val="tx2"/>
                </a:solidFill>
              </a:rPr>
              <a:t>Konten übertragen</a:t>
            </a:r>
            <a:endParaRPr lang="en-US" sz="1900" dirty="0"/>
          </a:p>
        </p:txBody>
      </p:sp>
      <p:sp>
        <p:nvSpPr>
          <p:cNvPr id="24" name="Text 22"/>
          <p:cNvSpPr txBox="1"/>
          <p:nvPr/>
        </p:nvSpPr>
        <p:spPr>
          <a:xfrm>
            <a:off x="4937760" y="4297680"/>
            <a:ext cx="6492240" cy="694944"/>
          </a:xfrm>
          <a:prstGeom prst="rect">
            <a:avLst/>
          </a:prstGeom>
          <a:noFill/>
          <a:ln/>
        </p:spPr>
        <p:txBody>
          <a:bodyPr wrap="square" lIns="0" tIns="0" rIns="0" bIns="0" rtlCol="0" anchor="ctr"/>
          <a:lstStyle/>
          <a:p>
            <a:pPr indent="0" marL="0">
              <a:buNone/>
            </a:pPr>
            <a:r>
              <a:rPr lang="en-US" sz="1500" dirty="0">
                <a:solidFill>
                  <a:schemeClr val="tx1"/>
                </a:solidFill>
              </a:rPr>
              <a:t>Google: Export per QR-Code. Microsoft: 2FA bei jedem Dienst neu einrichten. Jeden Code testen!</a:t>
            </a:r>
            <a:endParaRPr lang="en-US" sz="1500" dirty="0"/>
          </a:p>
        </p:txBody>
      </p:sp>
      <p:sp>
        <p:nvSpPr>
          <p:cNvPr id="25" name="Wechsel 5 Kreis"/>
          <p:cNvSpPr/>
          <p:nvPr/>
        </p:nvSpPr>
        <p:spPr>
          <a:xfrm>
            <a:off x="548640" y="5193792"/>
            <a:ext cx="548640" cy="548640"/>
          </a:xfrm>
          <a:prstGeom prst="ellipse">
            <a:avLst/>
          </a:prstGeom>
          <a:solidFill>
            <a:schemeClr val="tx2"/>
          </a:solidFill>
          <a:ln w="12700">
            <a:solidFill>
              <a:schemeClr val="tx2"/>
            </a:solidFill>
            <a:prstDash val="solid"/>
          </a:ln>
        </p:spPr>
      </p:sp>
      <p:sp>
        <p:nvSpPr>
          <p:cNvPr id="26" name="Text 24"/>
          <p:cNvSpPr txBox="1"/>
          <p:nvPr/>
        </p:nvSpPr>
        <p:spPr>
          <a:xfrm>
            <a:off x="548640" y="519379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Wechsel 5 Karte"/>
          <p:cNvSpPr/>
          <p:nvPr/>
        </p:nvSpPr>
        <p:spPr>
          <a:xfrm>
            <a:off x="1371600" y="5138928"/>
            <a:ext cx="10241280" cy="694944"/>
          </a:xfrm>
          <a:prstGeom prst="roundRect">
            <a:avLst>
              <a:gd name="adj" fmla="val 15789"/>
            </a:avLst>
          </a:prstGeom>
          <a:solidFill>
            <a:schemeClr val="bg2"/>
          </a:solidFill>
          <a:ln w="12700">
            <a:solidFill>
              <a:schemeClr val="bg2"/>
            </a:solidFill>
            <a:prstDash val="solid"/>
          </a:ln>
        </p:spPr>
      </p:sp>
      <p:sp>
        <p:nvSpPr>
          <p:cNvPr id="28" name="Text 26"/>
          <p:cNvSpPr txBox="1"/>
          <p:nvPr/>
        </p:nvSpPr>
        <p:spPr>
          <a:xfrm>
            <a:off x="1600200" y="5138928"/>
            <a:ext cx="3291840" cy="694944"/>
          </a:xfrm>
          <a:prstGeom prst="rect">
            <a:avLst/>
          </a:prstGeom>
          <a:noFill/>
          <a:ln/>
        </p:spPr>
        <p:txBody>
          <a:bodyPr wrap="square" lIns="0" tIns="0" rIns="0" bIns="0" rtlCol="0" anchor="ctr"/>
          <a:lstStyle/>
          <a:p>
            <a:pPr indent="0" marL="0">
              <a:buNone/>
            </a:pPr>
            <a:r>
              <a:rPr lang="en-US" sz="1900" b="1" dirty="0">
                <a:solidFill>
                  <a:schemeClr val="tx2"/>
                </a:solidFill>
              </a:rPr>
              <a:t>Backup einschalten</a:t>
            </a:r>
            <a:endParaRPr lang="en-US" sz="1900" dirty="0"/>
          </a:p>
        </p:txBody>
      </p:sp>
      <p:sp>
        <p:nvSpPr>
          <p:cNvPr id="29" name="Text 27"/>
          <p:cNvSpPr txBox="1"/>
          <p:nvPr/>
        </p:nvSpPr>
        <p:spPr>
          <a:xfrm>
            <a:off x="4937760" y="5138928"/>
            <a:ext cx="6492240" cy="694944"/>
          </a:xfrm>
          <a:prstGeom prst="rect">
            <a:avLst/>
          </a:prstGeom>
          <a:noFill/>
          <a:ln/>
        </p:spPr>
        <p:txBody>
          <a:bodyPr wrap="square" lIns="0" tIns="0" rIns="0" bIns="0" rtlCol="0" anchor="ctr"/>
          <a:lstStyle/>
          <a:p>
            <a:pPr indent="0" marL="0">
              <a:buNone/>
            </a:pPr>
            <a:r>
              <a:rPr lang="en-US" sz="1500" dirty="0">
                <a:solidFill>
                  <a:schemeClr val="tx1"/>
                </a:solidFill>
              </a:rPr>
              <a:t>Verschlüsselt und mit starkem Backup-Passwort. Erst dann die alte App löschen.</a:t>
            </a:r>
            <a:endParaRPr lang="en-US" sz="1500" dirty="0"/>
          </a:p>
        </p:txBody>
      </p:sp>
      <p:sp>
        <p:nvSpPr>
          <p:cNvPr id="30"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1" invalidUrl="" action="" tgtFrame="" tooltip="di.day – Wechselrezept „Authenticator“" history="1" highlightClick="0" endSnd="0">
                  <a:extLst>
                    <a:ext uri="{A12FA001-AC4F-418D-AE19-62706E023703}">
                      <ahyp:hlinkClr xmlns:ahyp="http://schemas.microsoft.com/office/drawing/2018/hyperlinkcolor" val="tx"/>
                    </a:ext>
                  </a:extLst>
                </a:hlinkClick>
              </a:rPr>
              <a:t>[2] di.day Authenticator</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Ausblick: Passkeys</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Der nächste Schritt – Anmelden ganz ohne Passwort.</a:t>
            </a:r>
            <a:endParaRPr lang="en-US" sz="1500" dirty="0"/>
          </a:p>
        </p:txBody>
      </p:sp>
      <p:sp>
        <p:nvSpPr>
          <p:cNvPr id="4" name="Fingerabdruck Kreis"/>
          <p:cNvSpPr/>
          <p:nvPr/>
        </p:nvSpPr>
        <p:spPr>
          <a:xfrm>
            <a:off x="822960" y="2011680"/>
            <a:ext cx="2926080" cy="2926080"/>
          </a:xfrm>
          <a:prstGeom prst="ellipse">
            <a:avLst/>
          </a:prstGeom>
          <a:solidFill>
            <a:schemeClr val="accent1"/>
          </a:solidFill>
          <a:ln w="12700">
            <a:solidFill>
              <a:schemeClr val="accent1"/>
            </a:solidFill>
            <a:prstDash val="solid"/>
          </a:ln>
        </p:spPr>
      </p:sp>
      <p:pic>
        <p:nvPicPr>
          <p:cNvPr id="5" name="Fingerabdruck Icon" descr="Fingerabdruck">    </p:cNvPr>
          <p:cNvPicPr>
            <a:picLocks noChangeAspect="1"/>
          </p:cNvPicPr>
          <p:nvPr/>
        </p:nvPicPr>
        <p:blipFill>
          <a:blip r:embed="rId1"/>
          <a:stretch>
            <a:fillRect/>
          </a:stretch>
        </p:blipFill>
        <p:spPr>
          <a:xfrm>
            <a:off x="1463040" y="2651760"/>
            <a:ext cx="1645920" cy="1645920"/>
          </a:xfrm>
          <a:prstGeom prst="rect">
            <a:avLst/>
          </a:prstGeom>
        </p:spPr>
      </p:pic>
      <p:sp>
        <p:nvSpPr>
          <p:cNvPr id="6" name="Text 3"/>
          <p:cNvSpPr txBox="1"/>
          <p:nvPr/>
        </p:nvSpPr>
        <p:spPr>
          <a:xfrm>
            <a:off x="4480560" y="1828800"/>
            <a:ext cx="7132320" cy="868680"/>
          </a:xfrm>
          <a:prstGeom prst="rect">
            <a:avLst/>
          </a:prstGeom>
          <a:noFill/>
          <a:ln/>
        </p:spPr>
        <p:txBody>
          <a:bodyPr wrap="square" lIns="0" tIns="0" rIns="0" bIns="0" rtlCol="0" anchor="t"/>
          <a:lstStyle/>
          <a:p>
            <a:pPr indent="0" marL="0">
              <a:buNone/>
            </a:pPr>
            <a:r>
              <a:rPr lang="en-US" sz="2000" b="1" dirty="0">
                <a:solidFill>
                  <a:schemeClr val="tx2"/>
                </a:solidFill>
              </a:rPr>
              <a:t>Statt ein Passwort einzutippen, bestätigst du mit Fingerabdruck, Gesicht oder PIN – fertig.</a:t>
            </a:r>
            <a:endParaRPr lang="en-US" sz="2000" dirty="0"/>
          </a:p>
        </p:txBody>
      </p:sp>
      <p:sp>
        <p:nvSpPr>
          <p:cNvPr id="7" name="checkDark Kreis"/>
          <p:cNvSpPr/>
          <p:nvPr/>
        </p:nvSpPr>
        <p:spPr>
          <a:xfrm>
            <a:off x="4480560" y="2971800"/>
            <a:ext cx="457200" cy="457200"/>
          </a:xfrm>
          <a:prstGeom prst="ellipse">
            <a:avLst/>
          </a:prstGeom>
          <a:solidFill>
            <a:schemeClr val="accent4"/>
          </a:solidFill>
          <a:ln w="12700">
            <a:solidFill>
              <a:schemeClr val="accent4"/>
            </a:solidFill>
            <a:prstDash val="solid"/>
          </a:ln>
        </p:spPr>
      </p:sp>
      <p:pic>
        <p:nvPicPr>
          <p:cNvPr id="8" name="checkDark Icon" descr="checkDark">    </p:cNvPr>
          <p:cNvPicPr>
            <a:picLocks noChangeAspect="1"/>
          </p:cNvPicPr>
          <p:nvPr/>
        </p:nvPicPr>
        <p:blipFill>
          <a:blip r:embed="rId2"/>
          <a:stretch>
            <a:fillRect/>
          </a:stretch>
        </p:blipFill>
        <p:spPr>
          <a:xfrm>
            <a:off x="4590288" y="3081528"/>
            <a:ext cx="237744" cy="237744"/>
          </a:xfrm>
          <a:prstGeom prst="rect">
            <a:avLst/>
          </a:prstGeom>
        </p:spPr>
      </p:pic>
      <p:sp>
        <p:nvSpPr>
          <p:cNvPr id="9" name="Text 5"/>
          <p:cNvSpPr txBox="1"/>
          <p:nvPr/>
        </p:nvSpPr>
        <p:spPr>
          <a:xfrm>
            <a:off x="5166360" y="2926080"/>
            <a:ext cx="6446520" cy="548640"/>
          </a:xfrm>
          <a:prstGeom prst="rect">
            <a:avLst/>
          </a:prstGeom>
          <a:noFill/>
          <a:ln/>
        </p:spPr>
        <p:txBody>
          <a:bodyPr wrap="square" lIns="0" tIns="0" rIns="0" bIns="0" rtlCol="0" anchor="ctr"/>
          <a:lstStyle/>
          <a:p>
            <a:pPr indent="0" marL="0">
              <a:buNone/>
            </a:pPr>
            <a:r>
              <a:rPr lang="en-US" sz="1700" dirty="0">
                <a:solidFill>
                  <a:schemeClr val="tx1"/>
                </a:solidFill>
              </a:rPr>
              <a:t>Kann nicht abgefischt werden – Schutz vor gefälschten Webseiten (Phishing)</a:t>
            </a:r>
            <a:endParaRPr lang="en-US" sz="1700" dirty="0"/>
          </a:p>
        </p:txBody>
      </p:sp>
      <p:sp>
        <p:nvSpPr>
          <p:cNvPr id="10" name="checkDark Kreis"/>
          <p:cNvSpPr/>
          <p:nvPr/>
        </p:nvSpPr>
        <p:spPr>
          <a:xfrm>
            <a:off x="4480560" y="3703320"/>
            <a:ext cx="457200" cy="457200"/>
          </a:xfrm>
          <a:prstGeom prst="ellipse">
            <a:avLst/>
          </a:prstGeom>
          <a:solidFill>
            <a:schemeClr val="accent4"/>
          </a:solidFill>
          <a:ln w="12700">
            <a:solidFill>
              <a:schemeClr val="accent4"/>
            </a:solidFill>
            <a:prstDash val="solid"/>
          </a:ln>
        </p:spPr>
      </p:sp>
      <p:pic>
        <p:nvPicPr>
          <p:cNvPr id="11" name="checkDark Icon" descr="checkDark">    </p:cNvPr>
          <p:cNvPicPr>
            <a:picLocks noChangeAspect="1"/>
          </p:cNvPicPr>
          <p:nvPr/>
        </p:nvPicPr>
        <p:blipFill>
          <a:blip r:embed="rId3"/>
          <a:stretch>
            <a:fillRect/>
          </a:stretch>
        </p:blipFill>
        <p:spPr>
          <a:xfrm>
            <a:off x="4590288" y="3813048"/>
            <a:ext cx="237744" cy="237744"/>
          </a:xfrm>
          <a:prstGeom prst="rect">
            <a:avLst/>
          </a:prstGeom>
        </p:spPr>
      </p:pic>
      <p:sp>
        <p:nvSpPr>
          <p:cNvPr id="12" name="Text 7"/>
          <p:cNvSpPr txBox="1"/>
          <p:nvPr/>
        </p:nvSpPr>
        <p:spPr>
          <a:xfrm>
            <a:off x="5166360" y="3657600"/>
            <a:ext cx="6446520" cy="548640"/>
          </a:xfrm>
          <a:prstGeom prst="rect">
            <a:avLst/>
          </a:prstGeom>
          <a:noFill/>
          <a:ln/>
        </p:spPr>
        <p:txBody>
          <a:bodyPr wrap="square" lIns="0" tIns="0" rIns="0" bIns="0" rtlCol="0" anchor="ctr"/>
          <a:lstStyle/>
          <a:p>
            <a:pPr indent="0" marL="0">
              <a:buNone/>
            </a:pPr>
            <a:r>
              <a:rPr lang="en-US" sz="1700" dirty="0">
                <a:solidFill>
                  <a:schemeClr val="tx1"/>
                </a:solidFill>
              </a:rPr>
              <a:t>Nichts zu merken, nichts abzutippen</a:t>
            </a:r>
            <a:endParaRPr lang="en-US" sz="1700" dirty="0"/>
          </a:p>
        </p:txBody>
      </p:sp>
      <p:sp>
        <p:nvSpPr>
          <p:cNvPr id="13" name="checkDark Kreis"/>
          <p:cNvSpPr/>
          <p:nvPr/>
        </p:nvSpPr>
        <p:spPr>
          <a:xfrm>
            <a:off x="4480560" y="4434840"/>
            <a:ext cx="457200" cy="457200"/>
          </a:xfrm>
          <a:prstGeom prst="ellipse">
            <a:avLst/>
          </a:prstGeom>
          <a:solidFill>
            <a:schemeClr val="accent4"/>
          </a:solidFill>
          <a:ln w="12700">
            <a:solidFill>
              <a:schemeClr val="accent4"/>
            </a:solidFill>
            <a:prstDash val="solid"/>
          </a:ln>
        </p:spPr>
      </p:sp>
      <p:pic>
        <p:nvPicPr>
          <p:cNvPr id="14" name="checkDark Icon" descr="checkDark">    </p:cNvPr>
          <p:cNvPicPr>
            <a:picLocks noChangeAspect="1"/>
          </p:cNvPicPr>
          <p:nvPr/>
        </p:nvPicPr>
        <p:blipFill>
          <a:blip r:embed="rId4"/>
          <a:stretch>
            <a:fillRect/>
          </a:stretch>
        </p:blipFill>
        <p:spPr>
          <a:xfrm>
            <a:off x="4590288" y="4544568"/>
            <a:ext cx="237744" cy="237744"/>
          </a:xfrm>
          <a:prstGeom prst="rect">
            <a:avLst/>
          </a:prstGeom>
        </p:spPr>
      </p:pic>
      <p:sp>
        <p:nvSpPr>
          <p:cNvPr id="15" name="Text 9"/>
          <p:cNvSpPr txBox="1"/>
          <p:nvPr/>
        </p:nvSpPr>
        <p:spPr>
          <a:xfrm>
            <a:off x="5166360" y="4389120"/>
            <a:ext cx="6446520" cy="548640"/>
          </a:xfrm>
          <a:prstGeom prst="rect">
            <a:avLst/>
          </a:prstGeom>
          <a:noFill/>
          <a:ln/>
        </p:spPr>
        <p:txBody>
          <a:bodyPr wrap="square" lIns="0" tIns="0" rIns="0" bIns="0" rtlCol="0" anchor="ctr"/>
          <a:lstStyle/>
          <a:p>
            <a:pPr indent="0" marL="0">
              <a:buNone/>
            </a:pPr>
            <a:r>
              <a:rPr lang="en-US" sz="1700" dirty="0">
                <a:solidFill>
                  <a:schemeClr val="tx1"/>
                </a:solidFill>
              </a:rPr>
              <a:t>Wird in iCloud-Schlüsselbund, Google, Bitwarden und Co. gespeichert</a:t>
            </a:r>
            <a:endParaRPr lang="en-US" sz="1700" dirty="0"/>
          </a:p>
        </p:txBody>
      </p:sp>
      <p:sp>
        <p:nvSpPr>
          <p:cNvPr id="16" name="Passkeys ausprobieren"/>
          <p:cNvSpPr/>
          <p:nvPr/>
        </p:nvSpPr>
        <p:spPr>
          <a:xfrm>
            <a:off x="4480560" y="5212080"/>
            <a:ext cx="7132320" cy="731520"/>
          </a:xfrm>
          <a:prstGeom prst="roundRect">
            <a:avLst>
              <a:gd name="adj" fmla="val 15000"/>
            </a:avLst>
          </a:prstGeom>
          <a:solidFill>
            <a:schemeClr val="tx2"/>
          </a:solidFill>
          <a:ln w="12700">
            <a:solidFill>
              <a:schemeClr val="tx2"/>
            </a:solidFill>
            <a:prstDash val="solid"/>
          </a:ln>
        </p:spPr>
      </p:sp>
      <p:sp>
        <p:nvSpPr>
          <p:cNvPr id="17" name="Text 11"/>
          <p:cNvSpPr txBox="1"/>
          <p:nvPr/>
        </p:nvSpPr>
        <p:spPr>
          <a:xfrm>
            <a:off x="4754880" y="5212080"/>
            <a:ext cx="6675120" cy="731520"/>
          </a:xfrm>
          <a:prstGeom prst="rect">
            <a:avLst/>
          </a:prstGeom>
          <a:noFill/>
          <a:ln/>
        </p:spPr>
        <p:txBody>
          <a:bodyPr wrap="square" lIns="0" tIns="0" rIns="0" bIns="0" rtlCol="0" anchor="ctr"/>
          <a:lstStyle/>
          <a:p>
            <a:pPr indent="0" marL="0">
              <a:buNone/>
            </a:pPr>
            <a:r>
              <a:rPr lang="en-US" sz="2000" dirty="0">
                <a:solidFill>
                  <a:schemeClr val="bg1"/>
                </a:solidFill>
              </a:rPr>
              <a:t>Bietet eine Seite Passkeys an? </a:t>
            </a:r>
            <a:pPr indent="0" marL="0">
              <a:buNone/>
            </a:pPr>
            <a:r>
              <a:rPr lang="en-US" sz="2000" b="1" dirty="0">
                <a:solidFill>
                  <a:schemeClr val="accent1"/>
                </a:solidFill>
              </a:rPr>
              <a:t>Ausprobieren!</a:t>
            </a:r>
            <a:endParaRPr lang="en-US" sz="2000" dirty="0"/>
          </a:p>
        </p:txBody>
      </p:sp>
      <p:sp>
        <p:nvSpPr>
          <p:cNvPr id="18"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Quellen: </a:t>
            </a:r>
            <a:pPr indent="0" marL="0">
              <a:buNone/>
            </a:pPr>
            <a:r>
              <a:rPr lang="en-US" sz="900" u="sng" dirty="0">
                <a:solidFill>
                  <a:schemeClr val="accent6"/>
                </a:solidFill>
                <a:hlinkClick r:id="rId5" invalidUrl="" action="" tgtFrame="" tooltip="di.day – Wechselrezept „Authenticator“" history="1" highlightClick="0" endSnd="0">
                  <a:extLst>
                    <a:ext uri="{A12FA001-AC4F-418D-AE19-62706E023703}">
                      <ahyp:hlinkClr xmlns:ahyp="http://schemas.microsoft.com/office/drawing/2018/hyperlinkcolor" val="tx"/>
                    </a:ext>
                  </a:extLst>
                </a:hlinkClick>
              </a:rPr>
              <a:t>[2] di.day Authenticator</a:t>
            </a:r>
            <a:pPr indent="0" marL="0">
              <a:buNone/>
            </a:pPr>
            <a:r>
              <a:rPr lang="en-US" sz="900" dirty="0">
                <a:solidFill>
                  <a:schemeClr val="accent6"/>
                </a:solidFill>
              </a:rPr>
              <a:t> · </a:t>
            </a:r>
            <a:pPr indent="0" marL="0">
              <a:buNone/>
            </a:pPr>
            <a:r>
              <a:rPr lang="en-US" sz="900" u="sng" dirty="0">
                <a:solidFill>
                  <a:schemeClr val="accent6"/>
                </a:solidFill>
                <a:hlinkClick r:id="rId6" invalidUrl="" action="" tgtFrame="" tooltip="Apple Support – Die App „Passwörter“" history="1" highlightClick="0" endSnd="0">
                  <a:extLst>
                    <a:ext uri="{A12FA001-AC4F-418D-AE19-62706E023703}">
                      <ahyp:hlinkClr xmlns:ahyp="http://schemas.microsoft.com/office/drawing/2018/hyperlinkcolor" val="tx"/>
                    </a:ext>
                  </a:extLst>
                </a:hlinkClick>
              </a:rPr>
              <a:t>[13] Apple Passwörter</a:t>
            </a:r>
            <a:pPr indent="0" marL="0">
              <a:buNone/>
            </a:pPr>
            <a:r>
              <a:rPr lang="en-US" sz="900" dirty="0">
                <a:solidFill>
                  <a:schemeClr val="accent6"/>
                </a:solidFill>
              </a:rPr>
              <a:t> · </a:t>
            </a:r>
            <a:pPr indent="0" marL="0">
              <a:buNone/>
            </a:pPr>
            <a:r>
              <a:rPr lang="en-US" sz="900" u="sng" dirty="0">
                <a:solidFill>
                  <a:schemeClr val="accent6"/>
                </a:solidFill>
                <a:hlinkClick r:id="rId7" invalidUrl="" action="" tgtFrame="" tooltip="BSI – Passkeys: Anmelden ohne Passwort" history="1" highlightClick="0" endSnd="0">
                  <a:extLst>
                    <a:ext uri="{A12FA001-AC4F-418D-AE19-62706E023703}">
                      <ahyp:hlinkClr xmlns:ahyp="http://schemas.microsoft.com/office/drawing/2018/hyperlinkcolor" val="tx"/>
                    </a:ext>
                  </a:extLst>
                </a:hlinkClick>
              </a:rPr>
              <a:t>[43] BSI Passkeys</a:t>
            </a:r>
            <a:pPr indent="0" marL="0">
              <a:buNone/>
            </a:pPr>
            <a:r>
              <a:rPr lang="en-US" sz="900" dirty="0">
                <a:solidFill>
                  <a:schemeClr val="accent6"/>
                </a:solidFill>
              </a:rPr>
              <a:t> · </a:t>
            </a:r>
            <a:pPr indent="0" marL="0">
              <a:buNone/>
            </a:pPr>
            <a:r>
              <a:rPr lang="en-US" sz="900" u="sng" dirty="0">
                <a:solidFill>
                  <a:schemeClr val="accent6"/>
                </a:solidFill>
                <a:hlinkClick r:id="rId8" invalidUrl="" action="" tgtFrame="" tooltip="FIDO Alliance – Passkeys" history="1" highlightClick="0" endSnd="0">
                  <a:extLst>
                    <a:ext uri="{A12FA001-AC4F-418D-AE19-62706E023703}">
                      <ahyp:hlinkClr xmlns:ahyp="http://schemas.microsoft.com/office/drawing/2018/hyperlinkcolor" val="tx"/>
                    </a:ext>
                  </a:extLst>
                </a:hlinkClick>
              </a:rPr>
              <a:t>[44] FIDO Alliance</a:t>
            </a:r>
            <a:pPr indent="0" marL="0">
              <a:buNone/>
            </a:pPr>
            <a:r>
              <a:rPr lang="en-US" sz="900" dirty="0">
                <a:solidFill>
                  <a:schemeClr val="accent6"/>
                </a:solidFill>
              </a:rPr>
              <a:t> · </a:t>
            </a:r>
            <a:pPr indent="0" marL="0">
              <a:buNone/>
            </a:pPr>
            <a:r>
              <a:rPr lang="en-US" sz="900" u="sng" dirty="0">
                <a:solidFill>
                  <a:schemeClr val="accent6"/>
                </a:solidFill>
                <a:hlinkClick r:id="rId9" invalidUrl="" action="" tgtFrame="" tooltip="Google Chrome-Hilfe – Passkeys in Chrome verwalten" history="1" highlightClick="0" endSnd="0">
                  <a:extLst>
                    <a:ext uri="{A12FA001-AC4F-418D-AE19-62706E023703}">
                      <ahyp:hlinkClr xmlns:ahyp="http://schemas.microsoft.com/office/drawing/2018/hyperlinkcolor" val="tx"/>
                    </a:ext>
                  </a:extLst>
                </a:hlinkClick>
              </a:rPr>
              <a:t>[45] Google Passkeys</a:t>
            </a:r>
            <a:pPr indent="0" marL="0">
              <a:buNone/>
            </a:pPr>
            <a:r>
              <a:rPr lang="en-US" sz="900" dirty="0">
                <a:solidFill>
                  <a:schemeClr val="accent6"/>
                </a:solidFill>
              </a:rPr>
              <a:t> · </a:t>
            </a:r>
            <a:pPr indent="0" marL="0">
              <a:buNone/>
            </a:pPr>
            <a:r>
              <a:rPr lang="en-US" sz="900" u="sng" dirty="0">
                <a:solidFill>
                  <a:schemeClr val="accent6"/>
                </a:solidFill>
                <a:hlinkClick r:id="rId10" invalidUrl="" action="" tgtFrame="" tooltip="Bitwarden-Hilfe – Passkeys speichern" history="1" highlightClick="0" endSnd="0">
                  <a:extLst>
                    <a:ext uri="{A12FA001-AC4F-418D-AE19-62706E023703}">
                      <ahyp:hlinkClr xmlns:ahyp="http://schemas.microsoft.com/office/drawing/2018/hyperlinkcolor" val="tx"/>
                    </a:ext>
                  </a:extLst>
                </a:hlinkClick>
              </a:rPr>
              <a:t>[46] Bitwarden Passkeys</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Deine Hausaufgabe</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Drei kleine Schritte – mehr braucht es nicht.</a:t>
            </a:r>
            <a:endParaRPr lang="en-US" sz="1500" dirty="0"/>
          </a:p>
        </p:txBody>
      </p:sp>
      <p:sp>
        <p:nvSpPr>
          <p:cNvPr id="4" name="Aufgabe Heute"/>
          <p:cNvSpPr/>
          <p:nvPr/>
        </p:nvSpPr>
        <p:spPr>
          <a:xfrm>
            <a:off x="548640" y="1828800"/>
            <a:ext cx="3505200" cy="2468880"/>
          </a:xfrm>
          <a:prstGeom prst="roundRect">
            <a:avLst>
              <a:gd name="adj" fmla="val 4444"/>
            </a:avLst>
          </a:prstGeom>
          <a:solidFill>
            <a:schemeClr val="accent2"/>
          </a:solidFill>
          <a:ln w="12700">
            <a:solidFill>
              <a:schemeClr val="accent2"/>
            </a:solidFill>
            <a:prstDash val="solid"/>
          </a:ln>
        </p:spPr>
      </p:sp>
      <p:sp>
        <p:nvSpPr>
          <p:cNvPr id="5" name="Text 3"/>
          <p:cNvSpPr txBox="1"/>
          <p:nvPr/>
        </p:nvSpPr>
        <p:spPr>
          <a:xfrm>
            <a:off x="822960" y="2057400"/>
            <a:ext cx="2956560" cy="365760"/>
          </a:xfrm>
          <a:prstGeom prst="rect">
            <a:avLst/>
          </a:prstGeom>
          <a:noFill/>
          <a:ln/>
        </p:spPr>
        <p:txBody>
          <a:bodyPr wrap="square" lIns="0" tIns="0" rIns="0" bIns="0" rtlCol="0" anchor="t"/>
          <a:lstStyle/>
          <a:p>
            <a:pPr indent="0" marL="0">
              <a:buNone/>
            </a:pPr>
            <a:r>
              <a:rPr lang="en-US" sz="1600" b="1" dirty="0">
                <a:solidFill>
                  <a:schemeClr val="accent1"/>
                </a:solidFill>
              </a:rPr>
              <a:t>Heute</a:t>
            </a:r>
            <a:endParaRPr lang="en-US" sz="1600" dirty="0"/>
          </a:p>
        </p:txBody>
      </p:sp>
      <p:sp>
        <p:nvSpPr>
          <p:cNvPr id="6" name="Text 4"/>
          <p:cNvSpPr txBox="1"/>
          <p:nvPr/>
        </p:nvSpPr>
        <p:spPr>
          <a:xfrm>
            <a:off x="822960" y="2468880"/>
            <a:ext cx="2956560" cy="822960"/>
          </a:xfrm>
          <a:prstGeom prst="rect">
            <a:avLst/>
          </a:prstGeom>
          <a:noFill/>
          <a:ln/>
        </p:spPr>
        <p:txBody>
          <a:bodyPr wrap="square" lIns="0" tIns="0" rIns="0" bIns="0" rtlCol="0" anchor="t"/>
          <a:lstStyle/>
          <a:p>
            <a:pPr indent="0" marL="0">
              <a:buNone/>
            </a:pPr>
            <a:r>
              <a:rPr lang="en-US" sz="2200" b="1" dirty="0">
                <a:solidFill>
                  <a:schemeClr val="bg1"/>
                </a:solidFill>
              </a:rPr>
              <a:t>Passwortmanager einschalten</a:t>
            </a:r>
            <a:endParaRPr lang="en-US" sz="2200" dirty="0"/>
          </a:p>
        </p:txBody>
      </p:sp>
      <p:sp>
        <p:nvSpPr>
          <p:cNvPr id="7" name="Text 5"/>
          <p:cNvSpPr txBox="1"/>
          <p:nvPr/>
        </p:nvSpPr>
        <p:spPr>
          <a:xfrm>
            <a:off x="822960" y="3337560"/>
            <a:ext cx="2956560" cy="822960"/>
          </a:xfrm>
          <a:prstGeom prst="rect">
            <a:avLst/>
          </a:prstGeom>
          <a:noFill/>
          <a:ln/>
        </p:spPr>
        <p:txBody>
          <a:bodyPr wrap="square" lIns="0" tIns="0" rIns="0" bIns="0" rtlCol="0" anchor="t"/>
          <a:lstStyle/>
          <a:p>
            <a:pPr indent="0" marL="0">
              <a:buNone/>
            </a:pPr>
            <a:r>
              <a:rPr lang="en-US" sz="1500" dirty="0">
                <a:solidFill>
                  <a:schemeClr val="bg1"/>
                </a:solidFill>
              </a:rPr>
              <a:t>Egal welchen: Browser, Handy oder eigene App.</a:t>
            </a:r>
            <a:endParaRPr lang="en-US" sz="1500" dirty="0"/>
          </a:p>
        </p:txBody>
      </p:sp>
      <p:sp>
        <p:nvSpPr>
          <p:cNvPr id="8" name="Aufgabe Diese Woche"/>
          <p:cNvSpPr/>
          <p:nvPr/>
        </p:nvSpPr>
        <p:spPr>
          <a:xfrm>
            <a:off x="4328160" y="1828800"/>
            <a:ext cx="3505200" cy="2468880"/>
          </a:xfrm>
          <a:prstGeom prst="roundRect">
            <a:avLst>
              <a:gd name="adj" fmla="val 4444"/>
            </a:avLst>
          </a:prstGeom>
          <a:solidFill>
            <a:schemeClr val="accent2"/>
          </a:solidFill>
          <a:ln w="12700">
            <a:solidFill>
              <a:schemeClr val="accent2"/>
            </a:solidFill>
            <a:prstDash val="solid"/>
          </a:ln>
        </p:spPr>
      </p:sp>
      <p:sp>
        <p:nvSpPr>
          <p:cNvPr id="9" name="Text 7"/>
          <p:cNvSpPr txBox="1"/>
          <p:nvPr/>
        </p:nvSpPr>
        <p:spPr>
          <a:xfrm>
            <a:off x="4602480" y="2057400"/>
            <a:ext cx="2956560" cy="365760"/>
          </a:xfrm>
          <a:prstGeom prst="rect">
            <a:avLst/>
          </a:prstGeom>
          <a:noFill/>
          <a:ln/>
        </p:spPr>
        <p:txBody>
          <a:bodyPr wrap="square" lIns="0" tIns="0" rIns="0" bIns="0" rtlCol="0" anchor="t"/>
          <a:lstStyle/>
          <a:p>
            <a:pPr indent="0" marL="0">
              <a:buNone/>
            </a:pPr>
            <a:r>
              <a:rPr lang="en-US" sz="1600" b="1" dirty="0">
                <a:solidFill>
                  <a:schemeClr val="accent1"/>
                </a:solidFill>
              </a:rPr>
              <a:t>Diese Woche</a:t>
            </a:r>
            <a:endParaRPr lang="en-US" sz="1600" dirty="0"/>
          </a:p>
        </p:txBody>
      </p:sp>
      <p:sp>
        <p:nvSpPr>
          <p:cNvPr id="10" name="Text 8"/>
          <p:cNvSpPr txBox="1"/>
          <p:nvPr/>
        </p:nvSpPr>
        <p:spPr>
          <a:xfrm>
            <a:off x="4602480" y="2468880"/>
            <a:ext cx="2956560" cy="822960"/>
          </a:xfrm>
          <a:prstGeom prst="rect">
            <a:avLst/>
          </a:prstGeom>
          <a:noFill/>
          <a:ln/>
        </p:spPr>
        <p:txBody>
          <a:bodyPr wrap="square" lIns="0" tIns="0" rIns="0" bIns="0" rtlCol="0" anchor="t"/>
          <a:lstStyle/>
          <a:p>
            <a:pPr indent="0" marL="0">
              <a:buNone/>
            </a:pPr>
            <a:r>
              <a:rPr lang="en-US" sz="2200" b="1" dirty="0">
                <a:solidFill>
                  <a:schemeClr val="bg1"/>
                </a:solidFill>
              </a:rPr>
              <a:t>E-Mail mit 2FA schützen</a:t>
            </a:r>
            <a:endParaRPr lang="en-US" sz="2200" dirty="0"/>
          </a:p>
        </p:txBody>
      </p:sp>
      <p:sp>
        <p:nvSpPr>
          <p:cNvPr id="11" name="Text 9"/>
          <p:cNvSpPr txBox="1"/>
          <p:nvPr/>
        </p:nvSpPr>
        <p:spPr>
          <a:xfrm>
            <a:off x="4602480" y="3337560"/>
            <a:ext cx="2956560" cy="822960"/>
          </a:xfrm>
          <a:prstGeom prst="rect">
            <a:avLst/>
          </a:prstGeom>
          <a:noFill/>
          <a:ln/>
        </p:spPr>
        <p:txBody>
          <a:bodyPr wrap="square" lIns="0" tIns="0" rIns="0" bIns="0" rtlCol="0" anchor="t"/>
          <a:lstStyle/>
          <a:p>
            <a:pPr indent="0" marL="0">
              <a:buNone/>
            </a:pPr>
            <a:r>
              <a:rPr lang="en-US" sz="1500" dirty="0">
                <a:solidFill>
                  <a:schemeClr val="bg1"/>
                </a:solidFill>
              </a:rPr>
              <a:t>Das BSI rät besonders beim E-Mail-Konto zum zweiten Faktor.</a:t>
            </a:r>
            <a:endParaRPr lang="en-US" sz="1500" dirty="0"/>
          </a:p>
        </p:txBody>
      </p:sp>
      <p:sp>
        <p:nvSpPr>
          <p:cNvPr id="12" name="Aufgabe Danach"/>
          <p:cNvSpPr/>
          <p:nvPr/>
        </p:nvSpPr>
        <p:spPr>
          <a:xfrm>
            <a:off x="8107680" y="1828800"/>
            <a:ext cx="3505200" cy="2468880"/>
          </a:xfrm>
          <a:prstGeom prst="roundRect">
            <a:avLst>
              <a:gd name="adj" fmla="val 4444"/>
            </a:avLst>
          </a:prstGeom>
          <a:solidFill>
            <a:schemeClr val="accent2"/>
          </a:solidFill>
          <a:ln w="12700">
            <a:solidFill>
              <a:schemeClr val="accent2"/>
            </a:solidFill>
            <a:prstDash val="solid"/>
          </a:ln>
        </p:spPr>
      </p:sp>
      <p:sp>
        <p:nvSpPr>
          <p:cNvPr id="13" name="Text 11"/>
          <p:cNvSpPr txBox="1"/>
          <p:nvPr/>
        </p:nvSpPr>
        <p:spPr>
          <a:xfrm>
            <a:off x="8382000" y="2057400"/>
            <a:ext cx="2956560" cy="365760"/>
          </a:xfrm>
          <a:prstGeom prst="rect">
            <a:avLst/>
          </a:prstGeom>
          <a:noFill/>
          <a:ln/>
        </p:spPr>
        <p:txBody>
          <a:bodyPr wrap="square" lIns="0" tIns="0" rIns="0" bIns="0" rtlCol="0" anchor="t"/>
          <a:lstStyle/>
          <a:p>
            <a:pPr indent="0" marL="0">
              <a:buNone/>
            </a:pPr>
            <a:r>
              <a:rPr lang="en-US" sz="1600" b="1" dirty="0">
                <a:solidFill>
                  <a:schemeClr val="accent1"/>
                </a:solidFill>
              </a:rPr>
              <a:t>Danach</a:t>
            </a:r>
            <a:endParaRPr lang="en-US" sz="1600" dirty="0"/>
          </a:p>
        </p:txBody>
      </p:sp>
      <p:sp>
        <p:nvSpPr>
          <p:cNvPr id="14" name="Text 12"/>
          <p:cNvSpPr txBox="1"/>
          <p:nvPr/>
        </p:nvSpPr>
        <p:spPr>
          <a:xfrm>
            <a:off x="8382000" y="2468880"/>
            <a:ext cx="2956560" cy="822960"/>
          </a:xfrm>
          <a:prstGeom prst="rect">
            <a:avLst/>
          </a:prstGeom>
          <a:noFill/>
          <a:ln/>
        </p:spPr>
        <p:txBody>
          <a:bodyPr wrap="square" lIns="0" tIns="0" rIns="0" bIns="0" rtlCol="0" anchor="t"/>
          <a:lstStyle/>
          <a:p>
            <a:pPr indent="0" marL="0">
              <a:buNone/>
            </a:pPr>
            <a:r>
              <a:rPr lang="en-US" sz="2200" b="1" dirty="0">
                <a:solidFill>
                  <a:schemeClr val="bg1"/>
                </a:solidFill>
              </a:rPr>
              <a:t>Schritt für Schritt wechseln</a:t>
            </a:r>
            <a:endParaRPr lang="en-US" sz="2200" dirty="0"/>
          </a:p>
        </p:txBody>
      </p:sp>
      <p:sp>
        <p:nvSpPr>
          <p:cNvPr id="15" name="Text 13"/>
          <p:cNvSpPr txBox="1"/>
          <p:nvPr/>
        </p:nvSpPr>
        <p:spPr>
          <a:xfrm>
            <a:off x="8382000" y="3337560"/>
            <a:ext cx="2956560" cy="822960"/>
          </a:xfrm>
          <a:prstGeom prst="rect">
            <a:avLst/>
          </a:prstGeom>
          <a:noFill/>
          <a:ln/>
        </p:spPr>
        <p:txBody>
          <a:bodyPr wrap="square" lIns="0" tIns="0" rIns="0" bIns="0" rtlCol="0" anchor="t"/>
          <a:lstStyle/>
          <a:p>
            <a:pPr indent="0" marL="0">
              <a:buNone/>
            </a:pPr>
            <a:r>
              <a:rPr lang="en-US" sz="1500" dirty="0">
                <a:solidFill>
                  <a:schemeClr val="bg1"/>
                </a:solidFill>
              </a:rPr>
              <a:t>Mit den Wechselrezepten von di.day.</a:t>
            </a:r>
            <a:endParaRPr lang="en-US" sz="1500" dirty="0"/>
          </a:p>
        </p:txBody>
      </p:sp>
      <p:sp>
        <p:nvSpPr>
          <p:cNvPr id="16" name="QR-Code Hintergrund"/>
          <p:cNvSpPr/>
          <p:nvPr/>
        </p:nvSpPr>
        <p:spPr>
          <a:xfrm>
            <a:off x="548640" y="4526280"/>
            <a:ext cx="1463040" cy="1463040"/>
          </a:xfrm>
          <a:prstGeom prst="roundRect">
            <a:avLst>
              <a:gd name="adj" fmla="val 7500"/>
            </a:avLst>
          </a:prstGeom>
          <a:solidFill>
            <a:schemeClr val="bg1"/>
          </a:solidFill>
          <a:ln w="12700">
            <a:solidFill>
              <a:schemeClr val="bg1"/>
            </a:solidFill>
            <a:prstDash val="solid"/>
          </a:ln>
        </p:spPr>
      </p:sp>
      <p:pic>
        <p:nvPicPr>
          <p:cNvPr id="17" name="QR-Code Vortragsseite" descr="QR-Code: https://bmmmm.github.io/talks/did-passwordmanagers-2026/">    </p:cNvPr>
          <p:cNvPicPr>
            <a:picLocks noChangeAspect="1"/>
          </p:cNvPicPr>
          <p:nvPr/>
        </p:nvPicPr>
        <p:blipFill>
          <a:blip r:embed="rId1"/>
          <a:stretch>
            <a:fillRect/>
          </a:stretch>
        </p:blipFill>
        <p:spPr>
          <a:xfrm>
            <a:off x="621792" y="4599432"/>
            <a:ext cx="1316736" cy="1316736"/>
          </a:xfrm>
          <a:prstGeom prst="rect">
            <a:avLst/>
          </a:prstGeom>
        </p:spPr>
      </p:pic>
      <p:sp>
        <p:nvSpPr>
          <p:cNvPr id="18" name="Text 15"/>
          <p:cNvSpPr txBox="1"/>
          <p:nvPr/>
        </p:nvSpPr>
        <p:spPr>
          <a:xfrm>
            <a:off x="2240280" y="4572000"/>
            <a:ext cx="4846320" cy="365760"/>
          </a:xfrm>
          <a:prstGeom prst="rect">
            <a:avLst/>
          </a:prstGeom>
          <a:noFill/>
          <a:ln/>
        </p:spPr>
        <p:txBody>
          <a:bodyPr wrap="square" lIns="0" tIns="0" rIns="0" bIns="0" rtlCol="0" anchor="t"/>
          <a:lstStyle/>
          <a:p>
            <a:pPr indent="0" marL="0">
              <a:buNone/>
            </a:pPr>
            <a:r>
              <a:rPr lang="en-US" sz="1600" b="1" dirty="0">
                <a:solidFill>
                  <a:schemeClr val="accent5"/>
                </a:solidFill>
              </a:rPr>
              <a:t>Folien, PDF und alle Quellen</a:t>
            </a:r>
            <a:endParaRPr lang="en-US" sz="1600" dirty="0"/>
          </a:p>
        </p:txBody>
      </p:sp>
      <p:sp>
        <p:nvSpPr>
          <p:cNvPr id="19" name="Text 16"/>
          <p:cNvSpPr txBox="1"/>
          <p:nvPr/>
        </p:nvSpPr>
        <p:spPr>
          <a:xfrm>
            <a:off x="2240280" y="4956048"/>
            <a:ext cx="4846320" cy="548640"/>
          </a:xfrm>
          <a:prstGeom prst="rect">
            <a:avLst/>
          </a:prstGeom>
          <a:noFill/>
          <a:ln/>
        </p:spPr>
        <p:txBody>
          <a:bodyPr wrap="square" lIns="0" tIns="0" rIns="0" bIns="0" rtlCol="0" anchor="t"/>
          <a:lstStyle/>
          <a:p>
            <a:pPr indent="0" marL="0">
              <a:buNone/>
            </a:pPr>
            <a:r>
              <a:rPr lang="en-US" sz="1600" u="sng" dirty="0">
                <a:solidFill>
                  <a:schemeClr val="accent1"/>
                </a:solidFill>
                <a:hlinkClick r:id="rId2" invalidUrl="" action="" tgtFrame="" tooltip="https://bmmmm.github.io/talks/did-passwordmanagers-2026/" history="1" highlightClick="0" endSnd="0">
                  <a:extLst>
                    <a:ext uri="{A12FA001-AC4F-418D-AE19-62706E023703}">
                      <ahyp:hlinkClr xmlns:ahyp="http://schemas.microsoft.com/office/drawing/2018/hyperlinkcolor" val="tx"/>
                    </a:ext>
                  </a:extLst>
                </a:hlinkClick>
              </a:rPr>
              <a:t>bmmmm.github.io/talks/</a:t>
            </a:r>
            <a:endParaRPr lang="en-US" sz="1600" dirty="0"/>
          </a:p>
          <a:p>
            <a:pPr indent="0" marL="0">
              <a:buNone/>
            </a:pPr>
            <a:r>
              <a:rPr lang="en-US" sz="1600" u="sng" dirty="0">
                <a:solidFill>
                  <a:schemeClr val="accent1"/>
                </a:solidFill>
                <a:hlinkClick r:id="rId3" invalidUrl="" action="" tgtFrame="" tooltip="https://bmmmm.github.io/talks/did-passwordmanagers-2026/" history="1" highlightClick="0" endSnd="0">
                  <a:extLst>
                    <a:ext uri="{A12FA001-AC4F-418D-AE19-62706E023703}">
                      <ahyp:hlinkClr xmlns:ahyp="http://schemas.microsoft.com/office/drawing/2018/hyperlinkcolor" val="tx"/>
                    </a:ext>
                  </a:extLst>
                </a:hlinkClick>
              </a:rPr>
              <a:t>did-passwordmanagers-2026</a:t>
            </a:r>
            <a:endParaRPr lang="en-US" sz="1600" dirty="0"/>
          </a:p>
        </p:txBody>
      </p:sp>
      <p:sp>
        <p:nvSpPr>
          <p:cNvPr id="20" name="Text 17"/>
          <p:cNvSpPr txBox="1"/>
          <p:nvPr/>
        </p:nvSpPr>
        <p:spPr>
          <a:xfrm>
            <a:off x="2240280" y="5577840"/>
            <a:ext cx="4846320" cy="365760"/>
          </a:xfrm>
          <a:prstGeom prst="rect">
            <a:avLst/>
          </a:prstGeom>
          <a:noFill/>
          <a:ln/>
        </p:spPr>
        <p:txBody>
          <a:bodyPr wrap="square" lIns="0" tIns="0" rIns="0" bIns="0" rtlCol="0" anchor="t"/>
          <a:lstStyle/>
          <a:p>
            <a:pPr indent="0" marL="0">
              <a:buNone/>
            </a:pPr>
            <a:r>
              <a:rPr lang="en-US" sz="1400" dirty="0">
                <a:solidFill>
                  <a:schemeClr val="accent5"/>
                </a:solidFill>
              </a:rPr>
              <a:t>Wechselrezepte: </a:t>
            </a:r>
            <a:pPr indent="0" marL="0">
              <a:buNone/>
            </a:pPr>
            <a:r>
              <a:rPr lang="en-US" sz="1400" u="sng" dirty="0">
                <a:solidFill>
                  <a:schemeClr val="accent5"/>
                </a:solidFill>
                <a:hlinkClick r:id="rId4" invalidUrl="" action="" tgtFrame="" tooltip="https://di.day/de/wechselrezepte" history="1" highlightClick="0" endSnd="0">
                  <a:extLst>
                    <a:ext uri="{A12FA001-AC4F-418D-AE19-62706E023703}">
                      <ahyp:hlinkClr xmlns:ahyp="http://schemas.microsoft.com/office/drawing/2018/hyperlinkcolor" val="tx"/>
                    </a:ext>
                  </a:extLst>
                </a:hlinkClick>
              </a:rPr>
              <a:t>di.day/de/wechselrezepte</a:t>
            </a:r>
            <a:endParaRPr lang="en-US" sz="1400" dirty="0"/>
          </a:p>
        </p:txBody>
      </p:sp>
      <p:sp>
        <p:nvSpPr>
          <p:cNvPr id="21" name="Text 18"/>
          <p:cNvSpPr txBox="1"/>
          <p:nvPr/>
        </p:nvSpPr>
        <p:spPr>
          <a:xfrm>
            <a:off x="7223760" y="4572000"/>
            <a:ext cx="4389120" cy="1371600"/>
          </a:xfrm>
          <a:prstGeom prst="rect">
            <a:avLst/>
          </a:prstGeom>
          <a:noFill/>
          <a:ln/>
        </p:spPr>
        <p:txBody>
          <a:bodyPr wrap="square" lIns="0" tIns="0" rIns="0" bIns="0" rtlCol="0" anchor="ctr"/>
          <a:lstStyle/>
          <a:p>
            <a:pPr algn="r" indent="0" marL="0">
              <a:buNone/>
            </a:pPr>
            <a:r>
              <a:rPr lang="en-US" sz="4000" b="1" dirty="0">
                <a:solidFill>
                  <a:schemeClr val="bg1"/>
                </a:solidFill>
              </a:rPr>
              <a:t>Danke! Fragen?</a:t>
            </a:r>
            <a:endParaRPr lang="en-US" sz="4000" dirty="0"/>
          </a:p>
        </p:txBody>
      </p:sp>
      <p:sp>
        <p:nvSpPr>
          <p:cNvPr id="22"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5"/>
                </a:solidFill>
              </a:rPr>
              <a:t>Quellen: </a:t>
            </a:r>
            <a:pPr indent="0" marL="0">
              <a:buNone/>
            </a:pPr>
            <a:r>
              <a:rPr lang="en-US" sz="900" u="sng" dirty="0">
                <a:solidFill>
                  <a:schemeClr val="accent5"/>
                </a:solidFill>
                <a:hlinkClick r:id="rId5" invalidUrl="" action="" tgtFrame="" tooltip="di.day – Wechselrezept „Passwörter in Deiner Hand“" history="1" highlightClick="0" endSnd="0">
                  <a:extLst>
                    <a:ext uri="{A12FA001-AC4F-418D-AE19-62706E023703}">
                      <ahyp:hlinkClr xmlns:ahyp="http://schemas.microsoft.com/office/drawing/2018/hyperlinkcolor" val="tx"/>
                    </a:ext>
                  </a:extLst>
                </a:hlinkClick>
              </a:rPr>
              <a:t>[1] di.day Passwörter</a:t>
            </a:r>
            <a:pPr indent="0" marL="0">
              <a:buNone/>
            </a:pPr>
            <a:r>
              <a:rPr lang="en-US" sz="900" dirty="0">
                <a:solidFill>
                  <a:schemeClr val="accent5"/>
                </a:solidFill>
              </a:rPr>
              <a:t> · </a:t>
            </a:r>
            <a:pPr indent="0" marL="0">
              <a:buNone/>
            </a:pPr>
            <a:r>
              <a:rPr lang="en-US" sz="900" u="sng" dirty="0">
                <a:solidFill>
                  <a:schemeClr val="accent5"/>
                </a:solidFill>
                <a:hlinkClick r:id="rId6" invalidUrl="" action="" tgtFrame="" tooltip="di.day – Wechselrezept „Authenticator“" history="1" highlightClick="0" endSnd="0">
                  <a:extLst>
                    <a:ext uri="{A12FA001-AC4F-418D-AE19-62706E023703}">
                      <ahyp:hlinkClr xmlns:ahyp="http://schemas.microsoft.com/office/drawing/2018/hyperlinkcolor" val="tx"/>
                    </a:ext>
                  </a:extLst>
                </a:hlinkClick>
              </a:rPr>
              <a:t>[2] di.day Authenticator</a:t>
            </a:r>
            <a:pPr indent="0" marL="0">
              <a:buNone/>
            </a:pPr>
            <a:r>
              <a:rPr lang="en-US" sz="900" dirty="0">
                <a:solidFill>
                  <a:schemeClr val="accent5"/>
                </a:solidFill>
              </a:rPr>
              <a:t> · </a:t>
            </a:r>
            <a:pPr indent="0" marL="0">
              <a:buNone/>
            </a:pPr>
            <a:r>
              <a:rPr lang="en-US" sz="900" u="sng" dirty="0">
                <a:solidFill>
                  <a:schemeClr val="accent5"/>
                </a:solidFill>
                <a:hlinkClick r:id="rId7" invalidUrl="" action="" tgtFrame="" tooltip="BSI – Passwörter verwalten mit dem Passwort-Manager" history="1" highlightClick="0" endSnd="0">
                  <a:extLst>
                    <a:ext uri="{A12FA001-AC4F-418D-AE19-62706E023703}">
                      <ahyp:hlinkClr xmlns:ahyp="http://schemas.microsoft.com/office/drawing/2018/hyperlinkcolor" val="tx"/>
                    </a:ext>
                  </a:extLst>
                </a:hlinkClick>
              </a:rPr>
              <a:t>[9] BSI Passwort-Manager</a:t>
            </a:r>
            <a:pPr indent="0" marL="0">
              <a:buNone/>
            </a:pPr>
            <a:r>
              <a:rPr lang="en-US" sz="900" dirty="0">
                <a:solidFill>
                  <a:schemeClr val="accent5"/>
                </a:solidFill>
              </a:rPr>
              <a:t> · </a:t>
            </a:r>
            <a:pPr indent="0" marL="0">
              <a:buNone/>
            </a:pPr>
            <a:r>
              <a:rPr lang="en-US" sz="900" u="sng" dirty="0">
                <a:solidFill>
                  <a:schemeClr val="accent5"/>
                </a:solidFill>
                <a:hlinkClick r:id="rId8" invalidUrl="" action="" tgtFrame="" tooltip="BSI – Zwei-Faktor-Authentisierung" history="1" highlightClick="0" endSnd="0">
                  <a:extLst>
                    <a:ext uri="{A12FA001-AC4F-418D-AE19-62706E023703}">
                      <ahyp:hlinkClr xmlns:ahyp="http://schemas.microsoft.com/office/drawing/2018/hyperlinkcolor" val="tx"/>
                    </a:ext>
                  </a:extLst>
                </a:hlinkClick>
              </a:rPr>
              <a:t>[32] BSI Zwei-Faktor</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Quellen (1/2)</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Alle Seiten abgerufen am 27.10.2026 – ein Klick auf einen Eintrag öffnet die Seite.</a:t>
            </a:r>
            <a:endParaRPr lang="en-US" sz="1500" dirty="0"/>
          </a:p>
        </p:txBody>
      </p:sp>
      <p:sp>
        <p:nvSpPr>
          <p:cNvPr id="4" name="Text 2"/>
          <p:cNvSpPr txBox="1"/>
          <p:nvPr/>
        </p:nvSpPr>
        <p:spPr>
          <a:xfrm>
            <a:off x="548640" y="1691640"/>
            <a:ext cx="5440680" cy="443484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[1] </a:t>
            </a:r>
            <a:pPr indent="0" marL="0">
              <a:spcAft>
                <a:spcPts val="400"/>
              </a:spcAft>
              <a:buNone/>
            </a:pPr>
            <a:r>
              <a:rPr lang="en-US" sz="1100" u="sng" dirty="0">
                <a:solidFill>
                  <a:schemeClr val="tx1"/>
                </a:solidFill>
                <a:hlinkClick r:id="rId1" invalidUrl="" action="" tgtFrame="" tooltip="https://di.day/de/wechselrezepte/passwords" history="1" highlightClick="0" endSnd="0">
                  <a:extLst>
                    <a:ext uri="{A12FA001-AC4F-418D-AE19-62706E023703}">
                      <ahyp:hlinkClr xmlns:ahyp="http://schemas.microsoft.com/office/drawing/2018/hyperlinkcolor" val="tx"/>
                    </a:ext>
                  </a:extLst>
                </a:hlinkClick>
              </a:rPr>
              <a:t>di.day – Wechselrezept „Passwörter in Deiner Hand“</a:t>
            </a:r>
            <a:pPr indent="0" marL="0">
              <a:spcAft>
                <a:spcPts val="400"/>
              </a:spcAft>
              <a:buNone/>
            </a:pPr>
            <a:r>
              <a:rPr lang="en-US" sz="1100" dirty="0">
                <a:solidFill>
                  <a:schemeClr val="accent6"/>
                </a:solidFill>
              </a:rPr>
              <a:t> · di.day</a:t>
            </a:r>
            <a:endParaRPr lang="en-US" sz="1100" dirty="0"/>
          </a:p>
          <a:p>
            <a:pPr indent="0" marL="0">
              <a:spcAft>
                <a:spcPts val="400"/>
              </a:spcAft>
              <a:buNone/>
            </a:pPr>
            <a:r>
              <a:rPr lang="en-US" sz="1100" b="1" dirty="0">
                <a:solidFill>
                  <a:schemeClr val="tx2"/>
                </a:solidFill>
              </a:rPr>
              <a:t>[2] </a:t>
            </a:r>
            <a:pPr indent="0" marL="0">
              <a:spcAft>
                <a:spcPts val="400"/>
              </a:spcAft>
              <a:buNone/>
            </a:pPr>
            <a:r>
              <a:rPr lang="en-US" sz="1100" u="sng" dirty="0">
                <a:solidFill>
                  <a:schemeClr val="tx1"/>
                </a:solidFill>
                <a:hlinkClick r:id="rId2" invalidUrl="" action="" tgtFrame="" tooltip="https://di.day/de/wechselrezepte/authenticator" history="1" highlightClick="0" endSnd="0">
                  <a:extLst>
                    <a:ext uri="{A12FA001-AC4F-418D-AE19-62706E023703}">
                      <ahyp:hlinkClr xmlns:ahyp="http://schemas.microsoft.com/office/drawing/2018/hyperlinkcolor" val="tx"/>
                    </a:ext>
                  </a:extLst>
                </a:hlinkClick>
              </a:rPr>
              <a:t>di.day – Wechselrezept „Authenticator“</a:t>
            </a:r>
            <a:pPr indent="0" marL="0">
              <a:spcAft>
                <a:spcPts val="400"/>
              </a:spcAft>
              <a:buNone/>
            </a:pPr>
            <a:r>
              <a:rPr lang="en-US" sz="1100" dirty="0">
                <a:solidFill>
                  <a:schemeClr val="accent6"/>
                </a:solidFill>
              </a:rPr>
              <a:t> · di.day</a:t>
            </a:r>
            <a:endParaRPr lang="en-US" sz="1100" dirty="0"/>
          </a:p>
          <a:p>
            <a:pPr indent="0" marL="0">
              <a:spcAft>
                <a:spcPts val="400"/>
              </a:spcAft>
              <a:buNone/>
            </a:pPr>
            <a:r>
              <a:rPr lang="en-US" sz="1100" b="1" dirty="0">
                <a:solidFill>
                  <a:schemeClr val="tx2"/>
                </a:solidFill>
              </a:rPr>
              <a:t>[3] </a:t>
            </a:r>
            <a:pPr indent="0" marL="0">
              <a:spcAft>
                <a:spcPts val="400"/>
              </a:spcAft>
              <a:buNone/>
            </a:pPr>
            <a:r>
              <a:rPr lang="en-US" sz="1100" u="sng" dirty="0">
                <a:solidFill>
                  <a:schemeClr val="tx1"/>
                </a:solidFill>
                <a:hlinkClick r:id="rId3" invalidUrl="" action="" tgtFrame="" tooltip="https://bitcircus101.de" history="1" highlightClick="0" endSnd="0">
                  <a:extLst>
                    <a:ext uri="{A12FA001-AC4F-418D-AE19-62706E023703}">
                      <ahyp:hlinkClr xmlns:ahyp="http://schemas.microsoft.com/office/drawing/2018/hyperlinkcolor" val="tx"/>
                    </a:ext>
                  </a:extLst>
                </a:hlinkClick>
              </a:rPr>
              <a:t>bitcircus101 – offener Hackspace in Bonn</a:t>
            </a:r>
            <a:pPr indent="0" marL="0">
              <a:spcAft>
                <a:spcPts val="400"/>
              </a:spcAft>
              <a:buNone/>
            </a:pPr>
            <a:r>
              <a:rPr lang="en-US" sz="1100" dirty="0">
                <a:solidFill>
                  <a:schemeClr val="accent6"/>
                </a:solidFill>
              </a:rPr>
              <a:t> · bitcircus101.de</a:t>
            </a:r>
            <a:endParaRPr lang="en-US" sz="1100" dirty="0"/>
          </a:p>
          <a:p>
            <a:pPr indent="0" marL="0">
              <a:spcAft>
                <a:spcPts val="400"/>
              </a:spcAft>
              <a:buNone/>
            </a:pPr>
            <a:r>
              <a:rPr lang="en-US" sz="1100" b="1" dirty="0">
                <a:solidFill>
                  <a:schemeClr val="tx2"/>
                </a:solidFill>
              </a:rPr>
              <a:t>[4] </a:t>
            </a:r>
            <a:pPr indent="0" marL="0">
              <a:spcAft>
                <a:spcPts val="400"/>
              </a:spcAft>
              <a:buNone/>
            </a:pPr>
            <a:r>
              <a:rPr lang="en-US" sz="1100" u="sng" dirty="0">
                <a:solidFill>
                  <a:schemeClr val="tx1"/>
                </a:solidFill>
                <a:hlinkClick r:id="rId4" invalidUrl="" action="" tgtFrame="" tooltip="https://datenburg.org" history="1" highlightClick="0" endSnd="0">
                  <a:extLst>
                    <a:ext uri="{A12FA001-AC4F-418D-AE19-62706E023703}">
                      <ahyp:hlinkClr xmlns:ahyp="http://schemas.microsoft.com/office/drawing/2018/hyperlinkcolor" val="tx"/>
                    </a:ext>
                  </a:extLst>
                </a:hlinkClick>
              </a:rPr>
              <a:t>Datenburg e.V. – Bonner Chaostreff und Hackspace</a:t>
            </a:r>
            <a:pPr indent="0" marL="0">
              <a:spcAft>
                <a:spcPts val="400"/>
              </a:spcAft>
              <a:buNone/>
            </a:pPr>
            <a:r>
              <a:rPr lang="en-US" sz="1100" dirty="0">
                <a:solidFill>
                  <a:schemeClr val="accent6"/>
                </a:solidFill>
              </a:rPr>
              <a:t> · datenburg.org</a:t>
            </a:r>
            <a:endParaRPr lang="en-US" sz="1100" dirty="0"/>
          </a:p>
          <a:p>
            <a:pPr indent="0" marL="0">
              <a:spcAft>
                <a:spcPts val="400"/>
              </a:spcAft>
              <a:buNone/>
            </a:pPr>
            <a:r>
              <a:rPr lang="en-US" sz="1100" b="1" dirty="0">
                <a:solidFill>
                  <a:schemeClr val="tx2"/>
                </a:solidFill>
              </a:rPr>
              <a:t>[5] </a:t>
            </a:r>
            <a:pPr indent="0" marL="0">
              <a:spcAft>
                <a:spcPts val="400"/>
              </a:spcAft>
              <a:buNone/>
            </a:pPr>
            <a:r>
              <a:rPr lang="en-US" sz="1100" u="sng" dirty="0">
                <a:solidFill>
                  <a:schemeClr val="tx1"/>
                </a:solidFill>
                <a:hlinkClick r:id="rId5" invalidUrl="" action="" tgtFrame="" tooltip="https://www.bsi.bund.de/DE/Themen/Verbraucherinnen-und-Verbraucher/Informationen-und-Empfehlungen/Cyber-Sicherheitsempfehlungen/Accountschutz/Sichere-Passwoerter-erstellen/sichere-passwoerter-erstellen_node.html" history="1" highlightClick="0" endSnd="0">
                  <a:extLst>
                    <a:ext uri="{A12FA001-AC4F-418D-AE19-62706E023703}">
                      <ahyp:hlinkClr xmlns:ahyp="http://schemas.microsoft.com/office/drawing/2018/hyperlinkcolor" val="tx"/>
                    </a:ext>
                  </a:extLst>
                </a:hlinkClick>
              </a:rPr>
              <a:t>BSI – Sichere Passwörter erstellen</a:t>
            </a:r>
            <a:pPr indent="0" marL="0">
              <a:spcAft>
                <a:spcPts val="400"/>
              </a:spcAft>
              <a:buNone/>
            </a:pPr>
            <a:r>
              <a:rPr lang="en-US" sz="1100" dirty="0">
                <a:solidFill>
                  <a:schemeClr val="accent6"/>
                </a:solidFill>
              </a:rPr>
              <a:t> · bsi.bund.de</a:t>
            </a:r>
            <a:endParaRPr lang="en-US" sz="1100" dirty="0"/>
          </a:p>
          <a:p>
            <a:pPr indent="0" marL="0">
              <a:spcAft>
                <a:spcPts val="400"/>
              </a:spcAft>
              <a:buNone/>
            </a:pPr>
            <a:r>
              <a:rPr lang="en-US" sz="1100" b="1" dirty="0">
                <a:solidFill>
                  <a:schemeClr val="tx2"/>
                </a:solidFill>
              </a:rPr>
              <a:t>[6] </a:t>
            </a:r>
            <a:pPr indent="0" marL="0">
              <a:spcAft>
                <a:spcPts val="400"/>
              </a:spcAft>
              <a:buNone/>
            </a:pPr>
            <a:r>
              <a:rPr lang="en-US" sz="1100" u="sng" dirty="0">
                <a:solidFill>
                  <a:schemeClr val="tx1"/>
                </a:solidFill>
                <a:hlinkClick r:id="rId6" invalidUrl="" action="" tgtFrame="" tooltip="https://community.owasp.org/attacks/Credential_stuffing" history="1" highlightClick="0" endSnd="0">
                  <a:extLst>
                    <a:ext uri="{A12FA001-AC4F-418D-AE19-62706E023703}">
                      <ahyp:hlinkClr xmlns:ahyp="http://schemas.microsoft.com/office/drawing/2018/hyperlinkcolor" val="tx"/>
                    </a:ext>
                  </a:extLst>
                </a:hlinkClick>
              </a:rPr>
              <a:t>OWASP – Credential Stuffing</a:t>
            </a:r>
            <a:pPr indent="0" marL="0">
              <a:spcAft>
                <a:spcPts val="400"/>
              </a:spcAft>
              <a:buNone/>
            </a:pPr>
            <a:r>
              <a:rPr lang="en-US" sz="1100" dirty="0">
                <a:solidFill>
                  <a:schemeClr val="accent6"/>
                </a:solidFill>
              </a:rPr>
              <a:t> · community.owasp.org</a:t>
            </a:r>
            <a:endParaRPr lang="en-US" sz="1100" dirty="0"/>
          </a:p>
          <a:p>
            <a:pPr indent="0" marL="0">
              <a:spcAft>
                <a:spcPts val="400"/>
              </a:spcAft>
              <a:buNone/>
            </a:pPr>
            <a:r>
              <a:rPr lang="en-US" sz="1100" b="1" dirty="0">
                <a:solidFill>
                  <a:schemeClr val="tx2"/>
                </a:solidFill>
              </a:rPr>
              <a:t>[7] </a:t>
            </a:r>
            <a:pPr indent="0" marL="0">
              <a:spcAft>
                <a:spcPts val="400"/>
              </a:spcAft>
              <a:buNone/>
            </a:pPr>
            <a:r>
              <a:rPr lang="en-US" sz="1100" u="sng" dirty="0">
                <a:solidFill>
                  <a:schemeClr val="tx1"/>
                </a:solidFill>
                <a:hlinkClick r:id="rId7" invalidUrl="" action="" tgtFrame="" tooltip="https://haveibeenpwned.com/Passwords" history="1" highlightClick="0" endSnd="0">
                  <a:extLst>
                    <a:ext uri="{A12FA001-AC4F-418D-AE19-62706E023703}">
                      <ahyp:hlinkClr xmlns:ahyp="http://schemas.microsoft.com/office/drawing/2018/hyperlinkcolor" val="tx"/>
                    </a:ext>
                  </a:extLst>
                </a:hlinkClick>
              </a:rPr>
              <a:t>Have I Been Pwned – Pwned Passwords (Abfrage am 27.10.2026)</a:t>
            </a:r>
            <a:pPr indent="0" marL="0">
              <a:spcAft>
                <a:spcPts val="400"/>
              </a:spcAft>
              <a:buNone/>
            </a:pPr>
            <a:r>
              <a:rPr lang="en-US" sz="1100" dirty="0">
                <a:solidFill>
                  <a:schemeClr val="accent6"/>
                </a:solidFill>
              </a:rPr>
              <a:t> · haveibeenpwned.com</a:t>
            </a:r>
            <a:endParaRPr lang="en-US" sz="1100" dirty="0"/>
          </a:p>
          <a:p>
            <a:pPr indent="0" marL="0">
              <a:spcAft>
                <a:spcPts val="400"/>
              </a:spcAft>
              <a:buNone/>
            </a:pPr>
            <a:r>
              <a:rPr lang="en-US" sz="1100" b="1" dirty="0">
                <a:solidFill>
                  <a:schemeClr val="tx2"/>
                </a:solidFill>
              </a:rPr>
              <a:t>[8] </a:t>
            </a:r>
            <a:pPr indent="0" marL="0">
              <a:spcAft>
                <a:spcPts val="400"/>
              </a:spcAft>
              <a:buNone/>
            </a:pPr>
            <a:r>
              <a:rPr lang="en-US" sz="1100" u="sng" dirty="0">
                <a:solidFill>
                  <a:schemeClr val="tx1"/>
                </a:solidFill>
                <a:hlinkClick r:id="rId8" invalidUrl="" action="" tgtFrame="" tooltip="https://www.bsi.bund.de/DE/Service-Navi/Presse/Pressemitteilungen/Presse2025/251209_Verbesserungsbedarf_Passwortmanager.html" history="1" highlightClick="0" endSnd="0">
                  <a:extLst>
                    <a:ext uri="{A12FA001-AC4F-418D-AE19-62706E023703}">
                      <ahyp:hlinkClr xmlns:ahyp="http://schemas.microsoft.com/office/drawing/2018/hyperlinkcolor" val="tx"/>
                    </a:ext>
                  </a:extLst>
                </a:hlinkClick>
              </a:rPr>
              <a:t>BSI – Pressemitteilung „Verbesserungsbedarf bei Passwortmanagern“ (09.12.2025)</a:t>
            </a:r>
            <a:pPr indent="0" marL="0">
              <a:spcAft>
                <a:spcPts val="400"/>
              </a:spcAft>
              <a:buNone/>
            </a:pPr>
            <a:r>
              <a:rPr lang="en-US" sz="1100" dirty="0">
                <a:solidFill>
                  <a:schemeClr val="accent6"/>
                </a:solidFill>
              </a:rPr>
              <a:t> · bsi.bund.de</a:t>
            </a:r>
            <a:endParaRPr lang="en-US" sz="1100" dirty="0"/>
          </a:p>
          <a:p>
            <a:pPr indent="0" marL="0">
              <a:spcAft>
                <a:spcPts val="400"/>
              </a:spcAft>
              <a:buNone/>
            </a:pPr>
            <a:r>
              <a:rPr lang="en-US" sz="1100" b="1" dirty="0">
                <a:solidFill>
                  <a:schemeClr val="tx2"/>
                </a:solidFill>
              </a:rPr>
              <a:t>[9] </a:t>
            </a:r>
            <a:pPr indent="0" marL="0">
              <a:spcAft>
                <a:spcPts val="400"/>
              </a:spcAft>
              <a:buNone/>
            </a:pPr>
            <a:r>
              <a:rPr lang="en-US" sz="1100" u="sng" dirty="0">
                <a:solidFill>
                  <a:schemeClr val="tx1"/>
                </a:solidFill>
                <a:hlinkClick r:id="rId9" invalidUrl="" action="" tgtFrame="" tooltip="https://www.bsi.bund.de/DE/Themen/Verbraucherinnen-und-Verbraucher/Informationen-und-Empfehlungen/Cyber-Sicherheitsempfehlungen/Accountschutz/Sichere-Passwoerter-erstellen/Passwort-Manager/passwort-manager_node.html" history="1" highlightClick="0" endSnd="0">
                  <a:extLst>
                    <a:ext uri="{A12FA001-AC4F-418D-AE19-62706E023703}">
                      <ahyp:hlinkClr xmlns:ahyp="http://schemas.microsoft.com/office/drawing/2018/hyperlinkcolor" val="tx"/>
                    </a:ext>
                  </a:extLst>
                </a:hlinkClick>
              </a:rPr>
              <a:t>BSI – Passwörter verwalten mit dem Passwort-Manager</a:t>
            </a:r>
            <a:pPr indent="0" marL="0">
              <a:spcAft>
                <a:spcPts val="400"/>
              </a:spcAft>
              <a:buNone/>
            </a:pPr>
            <a:r>
              <a:rPr lang="en-US" sz="1100" dirty="0">
                <a:solidFill>
                  <a:schemeClr val="accent6"/>
                </a:solidFill>
              </a:rPr>
              <a:t> · bsi.bund.de</a:t>
            </a:r>
            <a:endParaRPr lang="en-US" sz="1100" dirty="0"/>
          </a:p>
          <a:p>
            <a:pPr indent="0" marL="0">
              <a:spcAft>
                <a:spcPts val="400"/>
              </a:spcAft>
              <a:buNone/>
            </a:pPr>
            <a:r>
              <a:rPr lang="en-US" sz="1100" b="1" dirty="0">
                <a:solidFill>
                  <a:schemeClr val="tx2"/>
                </a:solidFill>
              </a:rPr>
              <a:t>[10] </a:t>
            </a:r>
            <a:pPr indent="0" marL="0">
              <a:spcAft>
                <a:spcPts val="400"/>
              </a:spcAft>
              <a:buNone/>
            </a:pPr>
            <a:r>
              <a:rPr lang="en-US" sz="1100" u="sng" dirty="0">
                <a:solidFill>
                  <a:schemeClr val="tx1"/>
                </a:solidFill>
                <a:hlinkClick r:id="rId10" invalidUrl="" action="" tgtFrame="" tooltip="https://support.google.com/chrome/answer/95606?hl=de" history="1" highlightClick="0" endSnd="0">
                  <a:extLst>
                    <a:ext uri="{A12FA001-AC4F-418D-AE19-62706E023703}">
                      <ahyp:hlinkClr xmlns:ahyp="http://schemas.microsoft.com/office/drawing/2018/hyperlinkcolor" val="tx"/>
                    </a:ext>
                  </a:extLst>
                </a:hlinkClick>
              </a:rPr>
              <a:t>Google Chrome-Hilfe – Passwörter in Chrome verwalten</a:t>
            </a:r>
            <a:pPr indent="0" marL="0">
              <a:spcAft>
                <a:spcPts val="400"/>
              </a:spcAft>
              <a:buNone/>
            </a:pPr>
            <a:r>
              <a:rPr lang="en-US" sz="1100" dirty="0">
                <a:solidFill>
                  <a:schemeClr val="accent6"/>
                </a:solidFill>
              </a:rPr>
              <a:t> · support.google.com</a:t>
            </a:r>
            <a:endParaRPr lang="en-US" sz="1100" dirty="0"/>
          </a:p>
          <a:p>
            <a:pPr indent="0" marL="0">
              <a:spcAft>
                <a:spcPts val="400"/>
              </a:spcAft>
              <a:buNone/>
            </a:pPr>
            <a:r>
              <a:rPr lang="en-US" sz="1100" b="1" dirty="0">
                <a:solidFill>
                  <a:schemeClr val="tx2"/>
                </a:solidFill>
              </a:rPr>
              <a:t>[11] </a:t>
            </a:r>
            <a:pPr indent="0" marL="0">
              <a:spcAft>
                <a:spcPts val="400"/>
              </a:spcAft>
              <a:buNone/>
            </a:pPr>
            <a:r>
              <a:rPr lang="en-US" sz="1100" u="sng" dirty="0">
                <a:solidFill>
                  <a:schemeClr val="tx1"/>
                </a:solidFill>
                <a:hlinkClick r:id="rId11" invalidUrl="" action="" tgtFrame="" tooltip="https://support.mozilla.org/de/kb/passworter-verwalten-speichern-loeschen-aendern" history="1" highlightClick="0" endSnd="0">
                  <a:extLst>
                    <a:ext uri="{A12FA001-AC4F-418D-AE19-62706E023703}">
                      <ahyp:hlinkClr xmlns:ahyp="http://schemas.microsoft.com/office/drawing/2018/hyperlinkcolor" val="tx"/>
                    </a:ext>
                  </a:extLst>
                </a:hlinkClick>
              </a:rPr>
              <a:t>Mozilla Support – Passwortverwaltung in Firefox</a:t>
            </a:r>
            <a:pPr indent="0" marL="0">
              <a:spcAft>
                <a:spcPts val="400"/>
              </a:spcAft>
              <a:buNone/>
            </a:pPr>
            <a:r>
              <a:rPr lang="en-US" sz="1100" dirty="0">
                <a:solidFill>
                  <a:schemeClr val="accent6"/>
                </a:solidFill>
              </a:rPr>
              <a:t> · support.mozilla.org</a:t>
            </a:r>
            <a:endParaRPr lang="en-US" sz="1100" dirty="0"/>
          </a:p>
          <a:p>
            <a:pPr indent="0" marL="0">
              <a:spcAft>
                <a:spcPts val="400"/>
              </a:spcAft>
              <a:buNone/>
            </a:pPr>
            <a:r>
              <a:rPr lang="en-US" sz="1100" b="1" dirty="0">
                <a:solidFill>
                  <a:schemeClr val="tx2"/>
                </a:solidFill>
              </a:rPr>
              <a:t>[12] </a:t>
            </a:r>
            <a:pPr indent="0" marL="0">
              <a:spcAft>
                <a:spcPts val="400"/>
              </a:spcAft>
              <a:buNone/>
            </a:pPr>
            <a:r>
              <a:rPr lang="en-US" sz="1100" u="sng" dirty="0">
                <a:solidFill>
                  <a:schemeClr val="tx1"/>
                </a:solidFill>
                <a:hlinkClick r:id="rId12" invalidUrl="" action="" tgtFrame="" tooltip="https://support.google.com/accounts/answer/9457609?hl=de" history="1" highlightClick="0" endSnd="0">
                  <a:extLst>
                    <a:ext uri="{A12FA001-AC4F-418D-AE19-62706E023703}">
                      <ahyp:hlinkClr xmlns:ahyp="http://schemas.microsoft.com/office/drawing/2018/hyperlinkcolor" val="tx"/>
                    </a:ext>
                  </a:extLst>
                </a:hlinkClick>
              </a:rPr>
              <a:t>Google-Konto-Hilfe – Kompromittierte Passwörter ändern (Passwortcheck)</a:t>
            </a:r>
            <a:pPr indent="0" marL="0">
              <a:spcAft>
                <a:spcPts val="400"/>
              </a:spcAft>
              <a:buNone/>
            </a:pPr>
            <a:r>
              <a:rPr lang="en-US" sz="1100" dirty="0">
                <a:solidFill>
                  <a:schemeClr val="accent6"/>
                </a:solidFill>
              </a:rPr>
              <a:t> · support.google.com</a:t>
            </a:r>
            <a:endParaRPr lang="en-US" sz="1100" dirty="0"/>
          </a:p>
        </p:txBody>
      </p:sp>
      <p:sp>
        <p:nvSpPr>
          <p:cNvPr id="5" name="Text 3"/>
          <p:cNvSpPr txBox="1"/>
          <p:nvPr/>
        </p:nvSpPr>
        <p:spPr>
          <a:xfrm>
            <a:off x="6217920" y="1691640"/>
            <a:ext cx="5440680" cy="443484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[13] </a:t>
            </a:r>
            <a:pPr indent="0" marL="0">
              <a:spcAft>
                <a:spcPts val="400"/>
              </a:spcAft>
              <a:buNone/>
            </a:pPr>
            <a:r>
              <a:rPr lang="en-US" sz="1100" u="sng" dirty="0">
                <a:solidFill>
                  <a:schemeClr val="tx1"/>
                </a:solidFill>
                <a:hlinkClick r:id="rId13" invalidUrl="" action="" tgtFrame="" tooltip="https://support.apple.com/de-de/120758" history="1" highlightClick="0" endSnd="0">
                  <a:extLst>
                    <a:ext uri="{A12FA001-AC4F-418D-AE19-62706E023703}">
                      <ahyp:hlinkClr xmlns:ahyp="http://schemas.microsoft.com/office/drawing/2018/hyperlinkcolor" val="tx"/>
                    </a:ext>
                  </a:extLst>
                </a:hlinkClick>
              </a:rPr>
              <a:t>Apple Support – Die App „Passwörter“</a:t>
            </a:r>
            <a:pPr indent="0" marL="0">
              <a:spcAft>
                <a:spcPts val="400"/>
              </a:spcAft>
              <a:buNone/>
            </a:pPr>
            <a:r>
              <a:rPr lang="en-US" sz="1100" dirty="0">
                <a:solidFill>
                  <a:schemeClr val="accent6"/>
                </a:solidFill>
              </a:rPr>
              <a:t> · support.apple.com</a:t>
            </a:r>
            <a:endParaRPr lang="en-US" sz="1100" dirty="0"/>
          </a:p>
          <a:p>
            <a:pPr indent="0" marL="0">
              <a:spcAft>
                <a:spcPts val="400"/>
              </a:spcAft>
              <a:buNone/>
            </a:pPr>
            <a:r>
              <a:rPr lang="en-US" sz="1100" b="1" dirty="0">
                <a:solidFill>
                  <a:schemeClr val="tx2"/>
                </a:solidFill>
              </a:rPr>
              <a:t>[14] </a:t>
            </a:r>
            <a:pPr indent="0" marL="0">
              <a:spcAft>
                <a:spcPts val="400"/>
              </a:spcAft>
              <a:buNone/>
            </a:pPr>
            <a:r>
              <a:rPr lang="en-US" sz="1100" u="sng" dirty="0">
                <a:solidFill>
                  <a:schemeClr val="tx1"/>
                </a:solidFill>
                <a:hlinkClick r:id="rId14" invalidUrl="" action="" tgtFrame="" tooltip="https://support.apple.com/de-de/104955" history="1" highlightClick="0" endSnd="0">
                  <a:extLst>
                    <a:ext uri="{A12FA001-AC4F-418D-AE19-62706E023703}">
                      <ahyp:hlinkClr xmlns:ahyp="http://schemas.microsoft.com/office/drawing/2018/hyperlinkcolor" val="tx"/>
                    </a:ext>
                  </a:extLst>
                </a:hlinkClick>
              </a:rPr>
              <a:t>Apple Support – Gespeicherte Passwörter und Passkeys auf dem iPhone</a:t>
            </a:r>
            <a:pPr indent="0" marL="0">
              <a:spcAft>
                <a:spcPts val="400"/>
              </a:spcAft>
              <a:buNone/>
            </a:pPr>
            <a:r>
              <a:rPr lang="en-US" sz="1100" dirty="0">
                <a:solidFill>
                  <a:schemeClr val="accent6"/>
                </a:solidFill>
              </a:rPr>
              <a:t> · support.apple.com</a:t>
            </a:r>
            <a:endParaRPr lang="en-US" sz="1100" dirty="0"/>
          </a:p>
          <a:p>
            <a:pPr indent="0" marL="0">
              <a:spcAft>
                <a:spcPts val="400"/>
              </a:spcAft>
              <a:buNone/>
            </a:pPr>
            <a:r>
              <a:rPr lang="en-US" sz="1100" b="1" dirty="0">
                <a:solidFill>
                  <a:schemeClr val="tx2"/>
                </a:solidFill>
              </a:rPr>
              <a:t>[15] </a:t>
            </a:r>
            <a:pPr indent="0" marL="0">
              <a:spcAft>
                <a:spcPts val="400"/>
              </a:spcAft>
              <a:buNone/>
            </a:pPr>
            <a:r>
              <a:rPr lang="en-US" sz="1100" u="sng" dirty="0">
                <a:solidFill>
                  <a:schemeClr val="tx1"/>
                </a:solidFill>
                <a:hlinkClick r:id="rId15" invalidUrl="" action="" tgtFrame="" tooltip="https://support.microsoft.com/de-de/microsoft-edge/anmelden-um-microsoft-edge-ger%C3%A4te%C3%BCbergreifend-zu-synchronisieren-e6ffa79b-ed52-aa32-47e2-5d5597fe4674" history="1" highlightClick="0" endSnd="0">
                  <a:extLst>
                    <a:ext uri="{A12FA001-AC4F-418D-AE19-62706E023703}">
                      <ahyp:hlinkClr xmlns:ahyp="http://schemas.microsoft.com/office/drawing/2018/hyperlinkcolor" val="tx"/>
                    </a:ext>
                  </a:extLst>
                </a:hlinkClick>
              </a:rPr>
              <a:t>Microsoft Support – Microsoft Edge geräteübergreifend synchronisieren</a:t>
            </a:r>
            <a:pPr indent="0" marL="0">
              <a:spcAft>
                <a:spcPts val="400"/>
              </a:spcAft>
              <a:buNone/>
            </a:pPr>
            <a:r>
              <a:rPr lang="en-US" sz="1100" dirty="0">
                <a:solidFill>
                  <a:schemeClr val="accent6"/>
                </a:solidFill>
              </a:rPr>
              <a:t> · support.microsoft.com</a:t>
            </a:r>
            <a:endParaRPr lang="en-US" sz="1100" dirty="0"/>
          </a:p>
          <a:p>
            <a:pPr indent="0" marL="0">
              <a:spcAft>
                <a:spcPts val="400"/>
              </a:spcAft>
              <a:buNone/>
            </a:pPr>
            <a:r>
              <a:rPr lang="en-US" sz="1100" b="1" dirty="0">
                <a:solidFill>
                  <a:schemeClr val="tx2"/>
                </a:solidFill>
              </a:rPr>
              <a:t>[16] </a:t>
            </a:r>
            <a:pPr indent="0" marL="0">
              <a:spcAft>
                <a:spcPts val="400"/>
              </a:spcAft>
              <a:buNone/>
            </a:pPr>
            <a:r>
              <a:rPr lang="en-US" sz="1100" u="sng" dirty="0">
                <a:solidFill>
                  <a:schemeClr val="tx1"/>
                </a:solidFill>
                <a:hlinkClick r:id="rId16" invalidUrl="" action="" tgtFrame="" tooltip="https://support.apple.com/de-de/102651" history="1" highlightClick="0" endSnd="0">
                  <a:extLst>
                    <a:ext uri="{A12FA001-AC4F-418D-AE19-62706E023703}">
                      <ahyp:hlinkClr xmlns:ahyp="http://schemas.microsoft.com/office/drawing/2018/hyperlinkcolor" val="tx"/>
                    </a:ext>
                  </a:extLst>
                </a:hlinkClick>
              </a:rPr>
              <a:t>Apple Support – Sicherheitsüberblick iCloud-Daten</a:t>
            </a:r>
            <a:pPr indent="0" marL="0">
              <a:spcAft>
                <a:spcPts val="400"/>
              </a:spcAft>
              <a:buNone/>
            </a:pPr>
            <a:r>
              <a:rPr lang="en-US" sz="1100" dirty="0">
                <a:solidFill>
                  <a:schemeClr val="accent6"/>
                </a:solidFill>
              </a:rPr>
              <a:t> · support.apple.com</a:t>
            </a:r>
            <a:endParaRPr lang="en-US" sz="1100" dirty="0"/>
          </a:p>
          <a:p>
            <a:pPr indent="0" marL="0">
              <a:spcAft>
                <a:spcPts val="400"/>
              </a:spcAft>
              <a:buNone/>
            </a:pPr>
            <a:r>
              <a:rPr lang="en-US" sz="1100" b="1" dirty="0">
                <a:solidFill>
                  <a:schemeClr val="tx2"/>
                </a:solidFill>
              </a:rPr>
              <a:t>[17] </a:t>
            </a:r>
            <a:pPr indent="0" marL="0">
              <a:spcAft>
                <a:spcPts val="400"/>
              </a:spcAft>
              <a:buNone/>
            </a:pPr>
            <a:r>
              <a:rPr lang="en-US" sz="1100" u="sng" dirty="0">
                <a:solidFill>
                  <a:schemeClr val="tx1"/>
                </a:solidFill>
                <a:hlinkClick r:id="rId17" invalidUrl="" action="" tgtFrame="" tooltip="https://support.apple.com/de-de/guide/icloud-windows/icw2babf5e03/icloud" history="1" highlightClick="0" endSnd="0">
                  <a:extLst>
                    <a:ext uri="{A12FA001-AC4F-418D-AE19-62706E023703}">
                      <ahyp:hlinkClr xmlns:ahyp="http://schemas.microsoft.com/office/drawing/2018/hyperlinkcolor" val="tx"/>
                    </a:ext>
                  </a:extLst>
                </a:hlinkClick>
              </a:rPr>
              <a:t>Apple Support – iCloud-Passwörter auf dem Windows-Computer einrichten</a:t>
            </a:r>
            <a:pPr indent="0" marL="0">
              <a:spcAft>
                <a:spcPts val="400"/>
              </a:spcAft>
              <a:buNone/>
            </a:pPr>
            <a:r>
              <a:rPr lang="en-US" sz="1100" dirty="0">
                <a:solidFill>
                  <a:schemeClr val="accent6"/>
                </a:solidFill>
              </a:rPr>
              <a:t> · support.apple.com</a:t>
            </a:r>
            <a:endParaRPr lang="en-US" sz="1100" dirty="0"/>
          </a:p>
          <a:p>
            <a:pPr indent="0" marL="0">
              <a:spcAft>
                <a:spcPts val="400"/>
              </a:spcAft>
              <a:buNone/>
            </a:pPr>
            <a:r>
              <a:rPr lang="en-US" sz="1100" b="1" dirty="0">
                <a:solidFill>
                  <a:schemeClr val="tx2"/>
                </a:solidFill>
              </a:rPr>
              <a:t>[18] </a:t>
            </a:r>
            <a:pPr indent="0" marL="0">
              <a:spcAft>
                <a:spcPts val="400"/>
              </a:spcAft>
              <a:buNone/>
            </a:pPr>
            <a:r>
              <a:rPr lang="en-US" sz="1100" u="sng" dirty="0">
                <a:solidFill>
                  <a:schemeClr val="tx1"/>
                </a:solidFill>
                <a:hlinkClick r:id="rId18" invalidUrl="" action="" tgtFrame="" tooltip="https://support.microsoft.com/de-de/edge/use-password-monitor-to-help-protect-your-passwords-in-microsoft-edge" history="1" highlightClick="0" endSnd="0">
                  <a:extLst>
                    <a:ext uri="{A12FA001-AC4F-418D-AE19-62706E023703}">
                      <ahyp:hlinkClr xmlns:ahyp="http://schemas.microsoft.com/office/drawing/2018/hyperlinkcolor" val="tx"/>
                    </a:ext>
                  </a:extLst>
                </a:hlinkClick>
              </a:rPr>
              <a:t>Microsoft Support – Kennwortmonitor in Microsoft Edge</a:t>
            </a:r>
            <a:pPr indent="0" marL="0">
              <a:spcAft>
                <a:spcPts val="400"/>
              </a:spcAft>
              <a:buNone/>
            </a:pPr>
            <a:r>
              <a:rPr lang="en-US" sz="1100" dirty="0">
                <a:solidFill>
                  <a:schemeClr val="accent6"/>
                </a:solidFill>
              </a:rPr>
              <a:t> · support.microsoft.com</a:t>
            </a:r>
            <a:endParaRPr lang="en-US" sz="1100" dirty="0"/>
          </a:p>
          <a:p>
            <a:pPr indent="0" marL="0">
              <a:spcAft>
                <a:spcPts val="400"/>
              </a:spcAft>
              <a:buNone/>
            </a:pPr>
            <a:r>
              <a:rPr lang="en-US" sz="1100" b="1" dirty="0">
                <a:solidFill>
                  <a:schemeClr val="tx2"/>
                </a:solidFill>
              </a:rPr>
              <a:t>[19] </a:t>
            </a:r>
            <a:pPr indent="0" marL="0">
              <a:spcAft>
                <a:spcPts val="400"/>
              </a:spcAft>
              <a:buNone/>
            </a:pPr>
            <a:r>
              <a:rPr lang="en-US" sz="1100" u="sng" dirty="0">
                <a:solidFill>
                  <a:schemeClr val="tx1"/>
                </a:solidFill>
                <a:hlinkClick r:id="rId19" invalidUrl="" action="" tgtFrame="" tooltip="https://chromium.googlesource.com/chromium/src/+/main/docs/linux/password_storage.md" history="1" highlightClick="0" endSnd="0">
                  <a:extLst>
                    <a:ext uri="{A12FA001-AC4F-418D-AE19-62706E023703}">
                      <ahyp:hlinkClr xmlns:ahyp="http://schemas.microsoft.com/office/drawing/2018/hyperlinkcolor" val="tx"/>
                    </a:ext>
                  </a:extLst>
                </a:hlinkClick>
              </a:rPr>
              <a:t>Chromium-Dokumentation – Passwortspeicher unter Linux</a:t>
            </a:r>
            <a:pPr indent="0" marL="0">
              <a:spcAft>
                <a:spcPts val="400"/>
              </a:spcAft>
              <a:buNone/>
            </a:pPr>
            <a:r>
              <a:rPr lang="en-US" sz="1100" dirty="0">
                <a:solidFill>
                  <a:schemeClr val="accent6"/>
                </a:solidFill>
              </a:rPr>
              <a:t> · chromium.googlesource.com</a:t>
            </a:r>
            <a:endParaRPr lang="en-US" sz="1100" dirty="0"/>
          </a:p>
          <a:p>
            <a:pPr indent="0" marL="0">
              <a:spcAft>
                <a:spcPts val="400"/>
              </a:spcAft>
              <a:buNone/>
            </a:pPr>
            <a:r>
              <a:rPr lang="en-US" sz="1100" b="1" dirty="0">
                <a:solidFill>
                  <a:schemeClr val="tx2"/>
                </a:solidFill>
              </a:rPr>
              <a:t>[20] </a:t>
            </a:r>
            <a:pPr indent="0" marL="0">
              <a:spcAft>
                <a:spcPts val="400"/>
              </a:spcAft>
              <a:buNone/>
            </a:pPr>
            <a:r>
              <a:rPr lang="en-US" sz="1100" u="sng" dirty="0">
                <a:solidFill>
                  <a:schemeClr val="tx1"/>
                </a:solidFill>
                <a:hlinkClick r:id="rId20" invalidUrl="" action="" tgtFrame="" tooltip="https://manpages.debian.org/bookworm/gnome-keyring/gnome-keyring-daemon.1.en.html" history="1" highlightClick="0" endSnd="0">
                  <a:extLst>
                    <a:ext uri="{A12FA001-AC4F-418D-AE19-62706E023703}">
                      <ahyp:hlinkClr xmlns:ahyp="http://schemas.microsoft.com/office/drawing/2018/hyperlinkcolor" val="tx"/>
                    </a:ext>
                  </a:extLst>
                </a:hlinkClick>
              </a:rPr>
              <a:t>Debian-Manpage – gnome-keyring-daemon</a:t>
            </a:r>
            <a:pPr indent="0" marL="0">
              <a:spcAft>
                <a:spcPts val="400"/>
              </a:spcAft>
              <a:buNone/>
            </a:pPr>
            <a:r>
              <a:rPr lang="en-US" sz="1100" dirty="0">
                <a:solidFill>
                  <a:schemeClr val="accent6"/>
                </a:solidFill>
              </a:rPr>
              <a:t> · manpages.debian.org</a:t>
            </a:r>
            <a:endParaRPr lang="en-US" sz="1100" dirty="0"/>
          </a:p>
          <a:p>
            <a:pPr indent="0" marL="0">
              <a:spcAft>
                <a:spcPts val="400"/>
              </a:spcAft>
              <a:buNone/>
            </a:pPr>
            <a:r>
              <a:rPr lang="en-US" sz="1100" b="1" dirty="0">
                <a:solidFill>
                  <a:schemeClr val="tx2"/>
                </a:solidFill>
              </a:rPr>
              <a:t>[21] </a:t>
            </a:r>
            <a:pPr indent="0" marL="0">
              <a:spcAft>
                <a:spcPts val="400"/>
              </a:spcAft>
              <a:buNone/>
            </a:pPr>
            <a:r>
              <a:rPr lang="en-US" sz="1100" u="sng" dirty="0">
                <a:solidFill>
                  <a:schemeClr val="tx1"/>
                </a:solidFill>
                <a:hlinkClick r:id="rId21" invalidUrl="" action="" tgtFrame="" tooltip="https://apps.kde.org/de/kwalletmanager5/" history="1" highlightClick="0" endSnd="0">
                  <a:extLst>
                    <a:ext uri="{A12FA001-AC4F-418D-AE19-62706E023703}">
                      <ahyp:hlinkClr xmlns:ahyp="http://schemas.microsoft.com/office/drawing/2018/hyperlinkcolor" val="tx"/>
                    </a:ext>
                  </a:extLst>
                </a:hlinkClick>
              </a:rPr>
              <a:t>KDE – KWalletManager (Digitale Brieftasche)</a:t>
            </a:r>
            <a:pPr indent="0" marL="0">
              <a:spcAft>
                <a:spcPts val="400"/>
              </a:spcAft>
              <a:buNone/>
            </a:pPr>
            <a:r>
              <a:rPr lang="en-US" sz="1100" dirty="0">
                <a:solidFill>
                  <a:schemeClr val="accent6"/>
                </a:solidFill>
              </a:rPr>
              <a:t> · apps.kde.org</a:t>
            </a:r>
            <a:endParaRPr lang="en-US" sz="1100" dirty="0"/>
          </a:p>
          <a:p>
            <a:pPr indent="0" marL="0">
              <a:spcAft>
                <a:spcPts val="400"/>
              </a:spcAft>
              <a:buNone/>
            </a:pPr>
            <a:r>
              <a:rPr lang="en-US" sz="1100" b="1" dirty="0">
                <a:solidFill>
                  <a:schemeClr val="tx2"/>
                </a:solidFill>
              </a:rPr>
              <a:t>[22] </a:t>
            </a:r>
            <a:pPr indent="0" marL="0">
              <a:spcAft>
                <a:spcPts val="400"/>
              </a:spcAft>
              <a:buNone/>
            </a:pPr>
            <a:r>
              <a:rPr lang="en-US" sz="1100" u="sng" dirty="0">
                <a:solidFill>
                  <a:schemeClr val="tx1"/>
                </a:solidFill>
                <a:hlinkClick r:id="rId22" invalidUrl="" action="" tgtFrame="" tooltip="https://bitwarden.com/" history="1" highlightClick="0" endSnd="0">
                  <a:extLst>
                    <a:ext uri="{A12FA001-AC4F-418D-AE19-62706E023703}">
                      <ahyp:hlinkClr xmlns:ahyp="http://schemas.microsoft.com/office/drawing/2018/hyperlinkcolor" val="tx"/>
                    </a:ext>
                  </a:extLst>
                </a:hlinkClick>
              </a:rPr>
              <a:t>Bitwarden – Startseite</a:t>
            </a:r>
            <a:pPr indent="0" marL="0">
              <a:spcAft>
                <a:spcPts val="400"/>
              </a:spcAft>
              <a:buNone/>
            </a:pPr>
            <a:r>
              <a:rPr lang="en-US" sz="1100" dirty="0">
                <a:solidFill>
                  <a:schemeClr val="accent6"/>
                </a:solidFill>
              </a:rPr>
              <a:t> · bitwarden.com</a:t>
            </a:r>
            <a:endParaRPr lang="en-US" sz="1100" dirty="0"/>
          </a:p>
          <a:p>
            <a:pPr indent="0" marL="0">
              <a:spcAft>
                <a:spcPts val="400"/>
              </a:spcAft>
              <a:buNone/>
            </a:pPr>
            <a:r>
              <a:rPr lang="en-US" sz="1100" b="1" dirty="0">
                <a:solidFill>
                  <a:schemeClr val="tx2"/>
                </a:solidFill>
              </a:rPr>
              <a:t>[23] </a:t>
            </a:r>
            <a:pPr indent="0" marL="0">
              <a:spcAft>
                <a:spcPts val="400"/>
              </a:spcAft>
              <a:buNone/>
            </a:pPr>
            <a:r>
              <a:rPr lang="en-US" sz="1100" u="sng" dirty="0">
                <a:solidFill>
                  <a:schemeClr val="tx1"/>
                </a:solidFill>
                <a:hlinkClick r:id="rId23" invalidUrl="" action="" tgtFrame="" tooltip="https://bitwarden.com/help/server-geographies/" history="1" highlightClick="0" endSnd="0">
                  <a:extLst>
                    <a:ext uri="{A12FA001-AC4F-418D-AE19-62706E023703}">
                      <ahyp:hlinkClr xmlns:ahyp="http://schemas.microsoft.com/office/drawing/2018/hyperlinkcolor" val="tx"/>
                    </a:ext>
                  </a:extLst>
                </a:hlinkClick>
              </a:rPr>
              <a:t>Bitwarden-Hilfe – Server-Regionen (USA und EU)</a:t>
            </a:r>
            <a:pPr indent="0" marL="0">
              <a:spcAft>
                <a:spcPts val="400"/>
              </a:spcAft>
              <a:buNone/>
            </a:pPr>
            <a:r>
              <a:rPr lang="en-US" sz="1100" dirty="0">
                <a:solidFill>
                  <a:schemeClr val="accent6"/>
                </a:solidFill>
              </a:rPr>
              <a:t> · bitwarden.com</a:t>
            </a:r>
            <a:endParaRPr lang="en-US" sz="1100" dirty="0"/>
          </a:p>
        </p:txBody>
      </p:sp>
      <p:sp>
        <p:nvSpPr>
          <p:cNvPr id="6"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Lizenz: </a:t>
            </a:r>
            <a:pPr indent="0" marL="0">
              <a:buNone/>
            </a:pPr>
            <a:r>
              <a:rPr lang="en-US" sz="900" dirty="0">
                <a:solidFill>
                  <a:schemeClr val="accent6"/>
                </a:solidFill>
              </a:rPr>
              <a:t>Folien: CC BY 4.0 · Icons: Lucide (ISC), Simple Icons (CC0), Font Awesome Free (CC BY 4.0) · Markenlogos gehören ihren Inhabern.</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9418320" cy="749808"/>
          </a:xfrm>
          <a:prstGeom prst="rect">
            <a:avLst/>
          </a:prstGeom>
          <a:noFill/>
          <a:ln/>
        </p:spPr>
        <p:txBody>
          <a:bodyPr wrap="square" lIns="0" tIns="0" rIns="0" bIns="0" rtlCol="0" anchor="ctr"/>
          <a:lstStyle/>
          <a:p>
            <a:pPr algn="l" indent="0" marL="0">
              <a:buNone/>
            </a:pPr>
            <a:r>
              <a:rPr lang="en-US" sz="3000" b="1" dirty="0">
                <a:solidFill>
                  <a:schemeClr val="tx2"/>
                </a:solidFill>
              </a:rPr>
              <a:t>Quellen (2/2)</a:t>
            </a:r>
            <a:endParaRPr lang="en-US" sz="3000" dirty="0"/>
          </a:p>
        </p:txBody>
      </p:sp>
      <p:sp>
        <p:nvSpPr>
          <p:cNvPr id="3" name="Text 2"/>
          <p:cNvSpPr/>
          <p:nvPr>
            <p:ph idx="104" type="body" hasCustomPrompt="1"/>
          </p:nvPr>
        </p:nvSpPr>
        <p:spPr>
          <a:xfrm>
            <a:off x="548640" y="1097280"/>
            <a:ext cx="11064240" cy="329184"/>
          </a:xfrm>
          <a:prstGeom prst="rect">
            <a:avLst/>
          </a:prstGeom>
          <a:noFill/>
          <a:ln/>
        </p:spPr>
        <p:txBody>
          <a:bodyPr wrap="square" lIns="0" tIns="0" rIns="0" bIns="0" rtlCol="0" anchor="t"/>
          <a:lstStyle/>
          <a:p>
            <a:pPr indent="0" marL="0">
              <a:buNone/>
            </a:pPr>
            <a:r>
              <a:rPr lang="en-US" sz="1500" dirty="0">
                <a:solidFill>
                  <a:schemeClr val="tx2"/>
                </a:solidFill>
              </a:rPr>
              <a:t>Alle Seiten abgerufen am 27.10.2026 – ein Klick auf einen Eintrag öffnet die Seite.</a:t>
            </a:r>
            <a:endParaRPr lang="en-US" sz="1500" dirty="0"/>
          </a:p>
        </p:txBody>
      </p:sp>
      <p:sp>
        <p:nvSpPr>
          <p:cNvPr id="4" name="Text 2"/>
          <p:cNvSpPr txBox="1"/>
          <p:nvPr/>
        </p:nvSpPr>
        <p:spPr>
          <a:xfrm>
            <a:off x="548640" y="1691640"/>
            <a:ext cx="5440680" cy="443484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[24] </a:t>
            </a:r>
            <a:pPr indent="0" marL="0">
              <a:spcAft>
                <a:spcPts val="400"/>
              </a:spcAft>
              <a:buNone/>
            </a:pPr>
            <a:r>
              <a:rPr lang="en-US" sz="1100" u="sng" dirty="0">
                <a:solidFill>
                  <a:schemeClr val="tx1"/>
                </a:solidFill>
                <a:hlinkClick r:id="rId1" invalidUrl="" action="" tgtFrame="" tooltip="https://github.com/dani-garcia/vaultwarden" history="1" highlightClick="0" endSnd="0">
                  <a:extLst>
                    <a:ext uri="{A12FA001-AC4F-418D-AE19-62706E023703}">
                      <ahyp:hlinkClr xmlns:ahyp="http://schemas.microsoft.com/office/drawing/2018/hyperlinkcolor" val="tx"/>
                    </a:ext>
                  </a:extLst>
                </a:hlinkClick>
              </a:rPr>
              <a:t>Vaultwarden – selbst gehosteter Bitwarden-kompatibler Server (GitHub)</a:t>
            </a:r>
            <a:pPr indent="0" marL="0">
              <a:spcAft>
                <a:spcPts val="400"/>
              </a:spcAft>
              <a:buNone/>
            </a:pPr>
            <a:r>
              <a:rPr lang="en-US" sz="1100" dirty="0">
                <a:solidFill>
                  <a:schemeClr val="accent6"/>
                </a:solidFill>
              </a:rPr>
              <a:t> · github.com</a:t>
            </a:r>
            <a:endParaRPr lang="en-US" sz="1100" dirty="0"/>
          </a:p>
          <a:p>
            <a:pPr indent="0" marL="0">
              <a:spcAft>
                <a:spcPts val="400"/>
              </a:spcAft>
              <a:buNone/>
            </a:pPr>
            <a:r>
              <a:rPr lang="en-US" sz="1100" b="1" dirty="0">
                <a:solidFill>
                  <a:schemeClr val="tx2"/>
                </a:solidFill>
              </a:rPr>
              <a:t>[25] </a:t>
            </a:r>
            <a:pPr indent="0" marL="0">
              <a:spcAft>
                <a:spcPts val="400"/>
              </a:spcAft>
              <a:buNone/>
            </a:pPr>
            <a:r>
              <a:rPr lang="en-US" sz="1100" u="sng" dirty="0">
                <a:solidFill>
                  <a:schemeClr val="tx1"/>
                </a:solidFill>
                <a:hlinkClick r:id="rId2" invalidUrl="" action="" tgtFrame="" tooltip="https://keepassxc.org/" history="1" highlightClick="0" endSnd="0">
                  <a:extLst>
                    <a:ext uri="{A12FA001-AC4F-418D-AE19-62706E023703}">
                      <ahyp:hlinkClr xmlns:ahyp="http://schemas.microsoft.com/office/drawing/2018/hyperlinkcolor" val="tx"/>
                    </a:ext>
                  </a:extLst>
                </a:hlinkClick>
              </a:rPr>
              <a:t>KeePassXC – Startseite</a:t>
            </a:r>
            <a:pPr indent="0" marL="0">
              <a:spcAft>
                <a:spcPts val="400"/>
              </a:spcAft>
              <a:buNone/>
            </a:pPr>
            <a:r>
              <a:rPr lang="en-US" sz="1100" dirty="0">
                <a:solidFill>
                  <a:schemeClr val="accent6"/>
                </a:solidFill>
              </a:rPr>
              <a:t> · keepassxc.org</a:t>
            </a:r>
            <a:endParaRPr lang="en-US" sz="1100" dirty="0"/>
          </a:p>
          <a:p>
            <a:pPr indent="0" marL="0">
              <a:spcAft>
                <a:spcPts val="400"/>
              </a:spcAft>
              <a:buNone/>
            </a:pPr>
            <a:r>
              <a:rPr lang="en-US" sz="1100" b="1" dirty="0">
                <a:solidFill>
                  <a:schemeClr val="tx2"/>
                </a:solidFill>
              </a:rPr>
              <a:t>[26] </a:t>
            </a:r>
            <a:pPr indent="0" marL="0">
              <a:spcAft>
                <a:spcPts val="400"/>
              </a:spcAft>
              <a:buNone/>
            </a:pPr>
            <a:r>
              <a:rPr lang="en-US" sz="1100" u="sng" dirty="0">
                <a:solidFill>
                  <a:schemeClr val="tx1"/>
                </a:solidFill>
                <a:hlinkClick r:id="rId3" invalidUrl="" action="" tgtFrame="" tooltip="https://proton.me/de/pass" history="1" highlightClick="0" endSnd="0">
                  <a:extLst>
                    <a:ext uri="{A12FA001-AC4F-418D-AE19-62706E023703}">
                      <ahyp:hlinkClr xmlns:ahyp="http://schemas.microsoft.com/office/drawing/2018/hyperlinkcolor" val="tx"/>
                    </a:ext>
                  </a:extLst>
                </a:hlinkClick>
              </a:rPr>
              <a:t>Proton Pass – Startseite</a:t>
            </a:r>
            <a:pPr indent="0" marL="0">
              <a:spcAft>
                <a:spcPts val="400"/>
              </a:spcAft>
              <a:buNone/>
            </a:pPr>
            <a:r>
              <a:rPr lang="en-US" sz="1100" dirty="0">
                <a:solidFill>
                  <a:schemeClr val="accent6"/>
                </a:solidFill>
              </a:rPr>
              <a:t> · proton.me</a:t>
            </a:r>
            <a:endParaRPr lang="en-US" sz="1100" dirty="0"/>
          </a:p>
          <a:p>
            <a:pPr indent="0" marL="0">
              <a:spcAft>
                <a:spcPts val="400"/>
              </a:spcAft>
              <a:buNone/>
            </a:pPr>
            <a:r>
              <a:rPr lang="en-US" sz="1100" b="1" dirty="0">
                <a:solidFill>
                  <a:schemeClr val="tx2"/>
                </a:solidFill>
              </a:rPr>
              <a:t>[27] </a:t>
            </a:r>
            <a:pPr indent="0" marL="0">
              <a:spcAft>
                <a:spcPts val="400"/>
              </a:spcAft>
              <a:buNone/>
            </a:pPr>
            <a:r>
              <a:rPr lang="en-US" sz="1100" u="sng" dirty="0">
                <a:solidFill>
                  <a:schemeClr val="tx1"/>
                </a:solidFill>
                <a:hlinkClick r:id="rId4" invalidUrl="" action="" tgtFrame="" tooltip="https://bitwarden.com/blog/how-to-use-the-bitwarden-forwarded-email-alias-generator/" history="1" highlightClick="0" endSnd="0">
                  <a:extLst>
                    <a:ext uri="{A12FA001-AC4F-418D-AE19-62706E023703}">
                      <ahyp:hlinkClr xmlns:ahyp="http://schemas.microsoft.com/office/drawing/2018/hyperlinkcolor" val="tx"/>
                    </a:ext>
                  </a:extLst>
                </a:hlinkClick>
              </a:rPr>
              <a:t>Bitwarden-Blog – Forwarded email alias generator (08.04.2026)</a:t>
            </a:r>
            <a:pPr indent="0" marL="0">
              <a:spcAft>
                <a:spcPts val="400"/>
              </a:spcAft>
              <a:buNone/>
            </a:pPr>
            <a:r>
              <a:rPr lang="en-US" sz="1100" dirty="0">
                <a:solidFill>
                  <a:schemeClr val="accent6"/>
                </a:solidFill>
              </a:rPr>
              <a:t> · bitwarden.com</a:t>
            </a:r>
            <a:endParaRPr lang="en-US" sz="1100" dirty="0"/>
          </a:p>
          <a:p>
            <a:pPr indent="0" marL="0">
              <a:spcAft>
                <a:spcPts val="400"/>
              </a:spcAft>
              <a:buNone/>
            </a:pPr>
            <a:r>
              <a:rPr lang="en-US" sz="1100" b="1" dirty="0">
                <a:solidFill>
                  <a:schemeClr val="tx2"/>
                </a:solidFill>
              </a:rPr>
              <a:t>[28] </a:t>
            </a:r>
            <a:pPr indent="0" marL="0">
              <a:spcAft>
                <a:spcPts val="400"/>
              </a:spcAft>
              <a:buNone/>
            </a:pPr>
            <a:r>
              <a:rPr lang="en-US" sz="1100" u="sng" dirty="0">
                <a:solidFill>
                  <a:schemeClr val="tx1"/>
                </a:solidFill>
                <a:hlinkClick r:id="rId5" invalidUrl="" action="" tgtFrame="" tooltip="https://bitwarden.com/help/generator/" history="1" highlightClick="0" endSnd="0">
                  <a:extLst>
                    <a:ext uri="{A12FA001-AC4F-418D-AE19-62706E023703}">
                      <ahyp:hlinkClr xmlns:ahyp="http://schemas.microsoft.com/office/drawing/2018/hyperlinkcolor" val="tx"/>
                    </a:ext>
                  </a:extLst>
                </a:hlinkClick>
              </a:rPr>
              <a:t>Bitwarden-Hilfe – Generator (Benutzernamen-Typen)</a:t>
            </a:r>
            <a:pPr indent="0" marL="0">
              <a:spcAft>
                <a:spcPts val="400"/>
              </a:spcAft>
              <a:buNone/>
            </a:pPr>
            <a:r>
              <a:rPr lang="en-US" sz="1100" dirty="0">
                <a:solidFill>
                  <a:schemeClr val="accent6"/>
                </a:solidFill>
              </a:rPr>
              <a:t> · bitwarden.com</a:t>
            </a:r>
            <a:endParaRPr lang="en-US" sz="1100" dirty="0"/>
          </a:p>
          <a:p>
            <a:pPr indent="0" marL="0">
              <a:spcAft>
                <a:spcPts val="400"/>
              </a:spcAft>
              <a:buNone/>
            </a:pPr>
            <a:r>
              <a:rPr lang="en-US" sz="1100" b="1" dirty="0">
                <a:solidFill>
                  <a:schemeClr val="tx2"/>
                </a:solidFill>
              </a:rPr>
              <a:t>[29] </a:t>
            </a:r>
            <a:pPr indent="0" marL="0">
              <a:spcAft>
                <a:spcPts val="400"/>
              </a:spcAft>
              <a:buNone/>
            </a:pPr>
            <a:r>
              <a:rPr lang="en-US" sz="1100" u="sng" dirty="0">
                <a:solidFill>
                  <a:schemeClr val="tx1"/>
                </a:solidFill>
                <a:hlinkClick r:id="rId6" invalidUrl="" action="" tgtFrame="" tooltip="https://proton.me/blog/fake-email" history="1" highlightClick="0" endSnd="0">
                  <a:extLst>
                    <a:ext uri="{A12FA001-AC4F-418D-AE19-62706E023703}">
                      <ahyp:hlinkClr xmlns:ahyp="http://schemas.microsoft.com/office/drawing/2018/hyperlinkcolor" val="tx"/>
                    </a:ext>
                  </a:extLst>
                </a:hlinkClick>
              </a:rPr>
              <a:t>Proton-Blog – Why email aliases are better than fake email addresses</a:t>
            </a:r>
            <a:pPr indent="0" marL="0">
              <a:spcAft>
                <a:spcPts val="400"/>
              </a:spcAft>
              <a:buNone/>
            </a:pPr>
            <a:r>
              <a:rPr lang="en-US" sz="1100" dirty="0">
                <a:solidFill>
                  <a:schemeClr val="accent6"/>
                </a:solidFill>
              </a:rPr>
              <a:t> · proton.me</a:t>
            </a:r>
            <a:endParaRPr lang="en-US" sz="1100" dirty="0"/>
          </a:p>
          <a:p>
            <a:pPr indent="0" marL="0">
              <a:spcAft>
                <a:spcPts val="400"/>
              </a:spcAft>
              <a:buNone/>
            </a:pPr>
            <a:r>
              <a:rPr lang="en-US" sz="1100" b="1" dirty="0">
                <a:solidFill>
                  <a:schemeClr val="tx2"/>
                </a:solidFill>
              </a:rPr>
              <a:t>[30] </a:t>
            </a:r>
            <a:pPr indent="0" marL="0">
              <a:spcAft>
                <a:spcPts val="400"/>
              </a:spcAft>
              <a:buNone/>
            </a:pPr>
            <a:r>
              <a:rPr lang="en-US" sz="1100" u="sng" dirty="0">
                <a:solidFill>
                  <a:schemeClr val="tx1"/>
                </a:solidFill>
                <a:hlinkClick r:id="rId7" invalidUrl="" action="" tgtFrame="" tooltip="https://support.apple.com/de-de/guide/icloud/mme38e1602db/icloud" history="1" highlightClick="0" endSnd="0">
                  <a:extLst>
                    <a:ext uri="{A12FA001-AC4F-418D-AE19-62706E023703}">
                      <ahyp:hlinkClr xmlns:ahyp="http://schemas.microsoft.com/office/drawing/2018/hyperlinkcolor" val="tx"/>
                    </a:ext>
                  </a:extLst>
                </a:hlinkClick>
              </a:rPr>
              <a:t>Apple Support – „E-Mail-Adresse verbergen“ mit iCloud+</a:t>
            </a:r>
            <a:pPr indent="0" marL="0">
              <a:spcAft>
                <a:spcPts val="400"/>
              </a:spcAft>
              <a:buNone/>
            </a:pPr>
            <a:r>
              <a:rPr lang="en-US" sz="1100" dirty="0">
                <a:solidFill>
                  <a:schemeClr val="accent6"/>
                </a:solidFill>
              </a:rPr>
              <a:t> · support.apple.com</a:t>
            </a:r>
            <a:endParaRPr lang="en-US" sz="1100" dirty="0"/>
          </a:p>
          <a:p>
            <a:pPr indent="0" marL="0">
              <a:spcAft>
                <a:spcPts val="400"/>
              </a:spcAft>
              <a:buNone/>
            </a:pPr>
            <a:r>
              <a:rPr lang="en-US" sz="1100" b="1" dirty="0">
                <a:solidFill>
                  <a:schemeClr val="tx2"/>
                </a:solidFill>
              </a:rPr>
              <a:t>[31] </a:t>
            </a:r>
            <a:pPr indent="0" marL="0">
              <a:spcAft>
                <a:spcPts val="400"/>
              </a:spcAft>
              <a:buNone/>
            </a:pPr>
            <a:r>
              <a:rPr lang="en-US" sz="1100" u="sng" dirty="0">
                <a:solidFill>
                  <a:schemeClr val="tx1"/>
                </a:solidFill>
                <a:hlinkClick r:id="rId8" invalidUrl="" action="" tgtFrame="" tooltip="https://proton.me/pass/pricing" history="1" highlightClick="0" endSnd="0">
                  <a:extLst>
                    <a:ext uri="{A12FA001-AC4F-418D-AE19-62706E023703}">
                      <ahyp:hlinkClr xmlns:ahyp="http://schemas.microsoft.com/office/drawing/2018/hyperlinkcolor" val="tx"/>
                    </a:ext>
                  </a:extLst>
                </a:hlinkClick>
              </a:rPr>
              <a:t>Proton Pass – Preise und Pläne</a:t>
            </a:r>
            <a:pPr indent="0" marL="0">
              <a:spcAft>
                <a:spcPts val="400"/>
              </a:spcAft>
              <a:buNone/>
            </a:pPr>
            <a:r>
              <a:rPr lang="en-US" sz="1100" dirty="0">
                <a:solidFill>
                  <a:schemeClr val="accent6"/>
                </a:solidFill>
              </a:rPr>
              <a:t> · proton.me</a:t>
            </a:r>
            <a:endParaRPr lang="en-US" sz="1100" dirty="0"/>
          </a:p>
          <a:p>
            <a:pPr indent="0" marL="0">
              <a:spcAft>
                <a:spcPts val="400"/>
              </a:spcAft>
              <a:buNone/>
            </a:pPr>
            <a:r>
              <a:rPr lang="en-US" sz="1100" b="1" dirty="0">
                <a:solidFill>
                  <a:schemeClr val="tx2"/>
                </a:solidFill>
              </a:rPr>
              <a:t>[32] </a:t>
            </a:r>
            <a:pPr indent="0" marL="0">
              <a:spcAft>
                <a:spcPts val="400"/>
              </a:spcAft>
              <a:buNone/>
            </a:pPr>
            <a:r>
              <a:rPr lang="en-US" sz="1100" u="sng" dirty="0">
                <a:solidFill>
                  <a:schemeClr val="tx1"/>
                </a:solidFill>
                <a:hlinkClick r:id="rId9" invalidUrl="" action="" tgtFrame="" tooltip="https://www.bsi.bund.de/DE/Themen/Verbraucherinnen-und-Verbraucher/Informationen-und-Empfehlungen/Cyber-Sicherheitsempfehlungen/Accountschutz/Zwei-Faktor-Authentisierung/zwei-faktor-authentisierung_node.html" history="1" highlightClick="0" endSnd="0">
                  <a:extLst>
                    <a:ext uri="{A12FA001-AC4F-418D-AE19-62706E023703}">
                      <ahyp:hlinkClr xmlns:ahyp="http://schemas.microsoft.com/office/drawing/2018/hyperlinkcolor" val="tx"/>
                    </a:ext>
                  </a:extLst>
                </a:hlinkClick>
              </a:rPr>
              <a:t>BSI – Zwei-Faktor-Authentisierung</a:t>
            </a:r>
            <a:pPr indent="0" marL="0">
              <a:spcAft>
                <a:spcPts val="400"/>
              </a:spcAft>
              <a:buNone/>
            </a:pPr>
            <a:r>
              <a:rPr lang="en-US" sz="1100" dirty="0">
                <a:solidFill>
                  <a:schemeClr val="accent6"/>
                </a:solidFill>
              </a:rPr>
              <a:t> · bsi.bund.de</a:t>
            </a:r>
            <a:endParaRPr lang="en-US" sz="1100" dirty="0"/>
          </a:p>
          <a:p>
            <a:pPr indent="0" marL="0">
              <a:spcAft>
                <a:spcPts val="400"/>
              </a:spcAft>
              <a:buNone/>
            </a:pPr>
            <a:r>
              <a:rPr lang="en-US" sz="1100" b="1" dirty="0">
                <a:solidFill>
                  <a:schemeClr val="tx2"/>
                </a:solidFill>
              </a:rPr>
              <a:t>[33] </a:t>
            </a:r>
            <a:pPr indent="0" marL="0">
              <a:spcAft>
                <a:spcPts val="400"/>
              </a:spcAft>
              <a:buNone/>
            </a:pPr>
            <a:r>
              <a:rPr lang="en-US" sz="1100" u="sng" dirty="0">
                <a:solidFill>
                  <a:schemeClr val="tx1"/>
                </a:solidFill>
                <a:hlinkClick r:id="rId10" invalidUrl="" action="" tgtFrame="" tooltip="https://www.rfc-editor.org/rfc/rfc6238" history="1" highlightClick="0" endSnd="0">
                  <a:extLst>
                    <a:ext uri="{A12FA001-AC4F-418D-AE19-62706E023703}">
                      <ahyp:hlinkClr xmlns:ahyp="http://schemas.microsoft.com/office/drawing/2018/hyperlinkcolor" val="tx"/>
                    </a:ext>
                  </a:extLst>
                </a:hlinkClick>
              </a:rPr>
              <a:t>RFC 6238 – TOTP, Abschnitt 5.2 (Zeitschritt 30 Sekunden)</a:t>
            </a:r>
            <a:pPr indent="0" marL="0">
              <a:spcAft>
                <a:spcPts val="400"/>
              </a:spcAft>
              <a:buNone/>
            </a:pPr>
            <a:r>
              <a:rPr lang="en-US" sz="1100" dirty="0">
                <a:solidFill>
                  <a:schemeClr val="accent6"/>
                </a:solidFill>
              </a:rPr>
              <a:t> · rfc-editor.org</a:t>
            </a:r>
            <a:endParaRPr lang="en-US" sz="1100" dirty="0"/>
          </a:p>
          <a:p>
            <a:pPr indent="0" marL="0">
              <a:spcAft>
                <a:spcPts val="400"/>
              </a:spcAft>
              <a:buNone/>
            </a:pPr>
            <a:r>
              <a:rPr lang="en-US" sz="1100" b="1" dirty="0">
                <a:solidFill>
                  <a:schemeClr val="tx2"/>
                </a:solidFill>
              </a:rPr>
              <a:t>[34] </a:t>
            </a:r>
            <a:pPr indent="0" marL="0">
              <a:spcAft>
                <a:spcPts val="400"/>
              </a:spcAft>
              <a:buNone/>
            </a:pPr>
            <a:r>
              <a:rPr lang="en-US" sz="1100" u="sng" dirty="0">
                <a:solidFill>
                  <a:schemeClr val="tx1"/>
                </a:solidFill>
                <a:hlinkClick r:id="rId11" invalidUrl="" action="" tgtFrame="" tooltip="https://2fas.com/auth/" history="1" highlightClick="0" endSnd="0">
                  <a:extLst>
                    <a:ext uri="{A12FA001-AC4F-418D-AE19-62706E023703}">
                      <ahyp:hlinkClr xmlns:ahyp="http://schemas.microsoft.com/office/drawing/2018/hyperlinkcolor" val="tx"/>
                    </a:ext>
                  </a:extLst>
                </a:hlinkClick>
              </a:rPr>
              <a:t>2FAS Auth – Produktseite</a:t>
            </a:r>
            <a:pPr indent="0" marL="0">
              <a:spcAft>
                <a:spcPts val="400"/>
              </a:spcAft>
              <a:buNone/>
            </a:pPr>
            <a:r>
              <a:rPr lang="en-US" sz="1100" dirty="0">
                <a:solidFill>
                  <a:schemeClr val="accent6"/>
                </a:solidFill>
              </a:rPr>
              <a:t> · 2fas.com</a:t>
            </a:r>
            <a:endParaRPr lang="en-US" sz="1100" dirty="0"/>
          </a:p>
          <a:p>
            <a:pPr indent="0" marL="0">
              <a:spcAft>
                <a:spcPts val="400"/>
              </a:spcAft>
              <a:buNone/>
            </a:pPr>
            <a:r>
              <a:rPr lang="en-US" sz="1100" b="1" dirty="0">
                <a:solidFill>
                  <a:schemeClr val="tx2"/>
                </a:solidFill>
              </a:rPr>
              <a:t>[35] </a:t>
            </a:r>
            <a:pPr indent="0" marL="0">
              <a:spcAft>
                <a:spcPts val="400"/>
              </a:spcAft>
              <a:buNone/>
            </a:pPr>
            <a:r>
              <a:rPr lang="en-US" sz="1100" u="sng" dirty="0">
                <a:solidFill>
                  <a:schemeClr val="tx1"/>
                </a:solidFill>
                <a:hlinkClick r:id="rId12" invalidUrl="" action="" tgtFrame="" tooltip="https://getaegis.app/" history="1" highlightClick="0" endSnd="0">
                  <a:extLst>
                    <a:ext uri="{A12FA001-AC4F-418D-AE19-62706E023703}">
                      <ahyp:hlinkClr xmlns:ahyp="http://schemas.microsoft.com/office/drawing/2018/hyperlinkcolor" val="tx"/>
                    </a:ext>
                  </a:extLst>
                </a:hlinkClick>
              </a:rPr>
              <a:t>Aegis Authenticator – Startseite</a:t>
            </a:r>
            <a:pPr indent="0" marL="0">
              <a:spcAft>
                <a:spcPts val="400"/>
              </a:spcAft>
              <a:buNone/>
            </a:pPr>
            <a:r>
              <a:rPr lang="en-US" sz="1100" dirty="0">
                <a:solidFill>
                  <a:schemeClr val="accent6"/>
                </a:solidFill>
              </a:rPr>
              <a:t> · getaegis.app</a:t>
            </a:r>
            <a:endParaRPr lang="en-US" sz="1100" dirty="0"/>
          </a:p>
        </p:txBody>
      </p:sp>
      <p:sp>
        <p:nvSpPr>
          <p:cNvPr id="5" name="Text 3"/>
          <p:cNvSpPr txBox="1"/>
          <p:nvPr/>
        </p:nvSpPr>
        <p:spPr>
          <a:xfrm>
            <a:off x="6217920" y="1691640"/>
            <a:ext cx="5440680" cy="443484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[36] </a:t>
            </a:r>
            <a:pPr indent="0" marL="0">
              <a:spcAft>
                <a:spcPts val="400"/>
              </a:spcAft>
              <a:buNone/>
            </a:pPr>
            <a:r>
              <a:rPr lang="en-US" sz="1100" u="sng" dirty="0">
                <a:solidFill>
                  <a:schemeClr val="tx1"/>
                </a:solidFill>
                <a:hlinkClick r:id="rId13" invalidUrl="" action="" tgtFrame="" tooltip="https://ente.com/auth/" history="1" highlightClick="0" endSnd="0">
                  <a:extLst>
                    <a:ext uri="{A12FA001-AC4F-418D-AE19-62706E023703}">
                      <ahyp:hlinkClr xmlns:ahyp="http://schemas.microsoft.com/office/drawing/2018/hyperlinkcolor" val="tx"/>
                    </a:ext>
                  </a:extLst>
                </a:hlinkClick>
              </a:rPr>
              <a:t>Ente Auth – Startseite</a:t>
            </a:r>
            <a:pPr indent="0" marL="0">
              <a:spcAft>
                <a:spcPts val="400"/>
              </a:spcAft>
              <a:buNone/>
            </a:pPr>
            <a:r>
              <a:rPr lang="en-US" sz="1100" dirty="0">
                <a:solidFill>
                  <a:schemeClr val="accent6"/>
                </a:solidFill>
              </a:rPr>
              <a:t> · ente.com</a:t>
            </a:r>
            <a:endParaRPr lang="en-US" sz="1100" dirty="0"/>
          </a:p>
          <a:p>
            <a:pPr indent="0" marL="0">
              <a:spcAft>
                <a:spcPts val="400"/>
              </a:spcAft>
              <a:buNone/>
            </a:pPr>
            <a:r>
              <a:rPr lang="en-US" sz="1100" b="1" dirty="0">
                <a:solidFill>
                  <a:schemeClr val="tx2"/>
                </a:solidFill>
              </a:rPr>
              <a:t>[37] </a:t>
            </a:r>
            <a:pPr indent="0" marL="0">
              <a:spcAft>
                <a:spcPts val="400"/>
              </a:spcAft>
              <a:buNone/>
            </a:pPr>
            <a:r>
              <a:rPr lang="en-US" sz="1100" u="sng" dirty="0">
                <a:solidFill>
                  <a:schemeClr val="tx1"/>
                </a:solidFill>
                <a:hlinkClick r:id="rId14" invalidUrl="" action="" tgtFrame="" tooltip="https://proton.me/de/authenticator" history="1" highlightClick="0" endSnd="0">
                  <a:extLst>
                    <a:ext uri="{A12FA001-AC4F-418D-AE19-62706E023703}">
                      <ahyp:hlinkClr xmlns:ahyp="http://schemas.microsoft.com/office/drawing/2018/hyperlinkcolor" val="tx"/>
                    </a:ext>
                  </a:extLst>
                </a:hlinkClick>
              </a:rPr>
              <a:t>Proton Authenticator – Startseite</a:t>
            </a:r>
            <a:pPr indent="0" marL="0">
              <a:spcAft>
                <a:spcPts val="400"/>
              </a:spcAft>
              <a:buNone/>
            </a:pPr>
            <a:r>
              <a:rPr lang="en-US" sz="1100" dirty="0">
                <a:solidFill>
                  <a:schemeClr val="accent6"/>
                </a:solidFill>
              </a:rPr>
              <a:t> · proton.me</a:t>
            </a:r>
            <a:endParaRPr lang="en-US" sz="1100" dirty="0"/>
          </a:p>
          <a:p>
            <a:pPr indent="0" marL="0">
              <a:spcAft>
                <a:spcPts val="400"/>
              </a:spcAft>
              <a:buNone/>
            </a:pPr>
            <a:r>
              <a:rPr lang="en-US" sz="1100" b="1" dirty="0">
                <a:solidFill>
                  <a:schemeClr val="tx2"/>
                </a:solidFill>
              </a:rPr>
              <a:t>[38] </a:t>
            </a:r>
            <a:pPr indent="0" marL="0">
              <a:spcAft>
                <a:spcPts val="400"/>
              </a:spcAft>
              <a:buNone/>
            </a:pPr>
            <a:r>
              <a:rPr lang="en-US" sz="1100" u="sng" dirty="0">
                <a:solidFill>
                  <a:schemeClr val="tx1"/>
                </a:solidFill>
                <a:hlinkClick r:id="rId15" invalidUrl="" action="" tgtFrame="" tooltip="https://freeotp.github.io/" history="1" highlightClick="0" endSnd="0">
                  <a:extLst>
                    <a:ext uri="{A12FA001-AC4F-418D-AE19-62706E023703}">
                      <ahyp:hlinkClr xmlns:ahyp="http://schemas.microsoft.com/office/drawing/2018/hyperlinkcolor" val="tx"/>
                    </a:ext>
                  </a:extLst>
                </a:hlinkClick>
              </a:rPr>
              <a:t>FreeOTP – Startseite</a:t>
            </a:r>
            <a:pPr indent="0" marL="0">
              <a:spcAft>
                <a:spcPts val="400"/>
              </a:spcAft>
              <a:buNone/>
            </a:pPr>
            <a:r>
              <a:rPr lang="en-US" sz="1100" dirty="0">
                <a:solidFill>
                  <a:schemeClr val="accent6"/>
                </a:solidFill>
              </a:rPr>
              <a:t> · freeotp.github.io</a:t>
            </a:r>
            <a:endParaRPr lang="en-US" sz="1100" dirty="0"/>
          </a:p>
          <a:p>
            <a:pPr indent="0" marL="0">
              <a:spcAft>
                <a:spcPts val="400"/>
              </a:spcAft>
              <a:buNone/>
            </a:pPr>
            <a:r>
              <a:rPr lang="en-US" sz="1100" b="1" dirty="0">
                <a:solidFill>
                  <a:schemeClr val="tx2"/>
                </a:solidFill>
              </a:rPr>
              <a:t>[39] </a:t>
            </a:r>
            <a:pPr indent="0" marL="0">
              <a:spcAft>
                <a:spcPts val="400"/>
              </a:spcAft>
              <a:buNone/>
            </a:pPr>
            <a:r>
              <a:rPr lang="en-US" sz="1100" u="sng" dirty="0">
                <a:solidFill>
                  <a:schemeClr val="tx1"/>
                </a:solidFill>
                <a:hlinkClick r:id="rId16" invalidUrl="" action="" tgtFrame="" tooltip="https://bitwarden.com/products/authenticator/" history="1" highlightClick="0" endSnd="0">
                  <a:extLst>
                    <a:ext uri="{A12FA001-AC4F-418D-AE19-62706E023703}">
                      <ahyp:hlinkClr xmlns:ahyp="http://schemas.microsoft.com/office/drawing/2018/hyperlinkcolor" val="tx"/>
                    </a:ext>
                  </a:extLst>
                </a:hlinkClick>
              </a:rPr>
              <a:t>Bitwarden Authenticator – Produktseite</a:t>
            </a:r>
            <a:pPr indent="0" marL="0">
              <a:spcAft>
                <a:spcPts val="400"/>
              </a:spcAft>
              <a:buNone/>
            </a:pPr>
            <a:r>
              <a:rPr lang="en-US" sz="1100" dirty="0">
                <a:solidFill>
                  <a:schemeClr val="accent6"/>
                </a:solidFill>
              </a:rPr>
              <a:t> · bitwarden.com</a:t>
            </a:r>
            <a:endParaRPr lang="en-US" sz="1100" dirty="0"/>
          </a:p>
          <a:p>
            <a:pPr indent="0" marL="0">
              <a:spcAft>
                <a:spcPts val="400"/>
              </a:spcAft>
              <a:buNone/>
            </a:pPr>
            <a:r>
              <a:rPr lang="en-US" sz="1100" b="1" dirty="0">
                <a:solidFill>
                  <a:schemeClr val="tx2"/>
                </a:solidFill>
              </a:rPr>
              <a:t>[40] </a:t>
            </a:r>
            <a:pPr indent="0" marL="0">
              <a:spcAft>
                <a:spcPts val="400"/>
              </a:spcAft>
              <a:buNone/>
            </a:pPr>
            <a:r>
              <a:rPr lang="en-US" sz="1100" u="sng" dirty="0">
                <a:solidFill>
                  <a:schemeClr val="tx1"/>
                </a:solidFill>
                <a:hlinkClick r:id="rId17" invalidUrl="" action="" tgtFrame="" tooltip="https://2fas.com/download/" history="1" highlightClick="0" endSnd="0">
                  <a:extLst>
                    <a:ext uri="{A12FA001-AC4F-418D-AE19-62706E023703}">
                      <ahyp:hlinkClr xmlns:ahyp="http://schemas.microsoft.com/office/drawing/2018/hyperlinkcolor" val="tx"/>
                    </a:ext>
                  </a:extLst>
                </a:hlinkClick>
              </a:rPr>
              <a:t>2FAS – Download</a:t>
            </a:r>
            <a:pPr indent="0" marL="0">
              <a:spcAft>
                <a:spcPts val="400"/>
              </a:spcAft>
              <a:buNone/>
            </a:pPr>
            <a:r>
              <a:rPr lang="en-US" sz="1100" dirty="0">
                <a:solidFill>
                  <a:schemeClr val="accent6"/>
                </a:solidFill>
              </a:rPr>
              <a:t> · 2fas.com</a:t>
            </a:r>
            <a:endParaRPr lang="en-US" sz="1100" dirty="0"/>
          </a:p>
          <a:p>
            <a:pPr indent="0" marL="0">
              <a:spcAft>
                <a:spcPts val="400"/>
              </a:spcAft>
              <a:buNone/>
            </a:pPr>
            <a:r>
              <a:rPr lang="en-US" sz="1100" b="1" dirty="0">
                <a:solidFill>
                  <a:schemeClr val="tx2"/>
                </a:solidFill>
              </a:rPr>
              <a:t>[41] </a:t>
            </a:r>
            <a:pPr indent="0" marL="0">
              <a:spcAft>
                <a:spcPts val="400"/>
              </a:spcAft>
              <a:buNone/>
            </a:pPr>
            <a:r>
              <a:rPr lang="en-US" sz="1100" u="sng" dirty="0">
                <a:solidFill>
                  <a:schemeClr val="tx1"/>
                </a:solidFill>
                <a:hlinkClick r:id="rId18" invalidUrl="" action="" tgtFrame="" tooltip="https://2fas.com/support/2fas-auth-security-privacy/is-2fas-backup-safe/" history="1" highlightClick="0" endSnd="0">
                  <a:extLst>
                    <a:ext uri="{A12FA001-AC4F-418D-AE19-62706E023703}">
                      <ahyp:hlinkClr xmlns:ahyp="http://schemas.microsoft.com/office/drawing/2018/hyperlinkcolor" val="tx"/>
                    </a:ext>
                  </a:extLst>
                </a:hlinkClick>
              </a:rPr>
              <a:t>2FAS Support – Is 2FAS Auth Backup safe?</a:t>
            </a:r>
            <a:pPr indent="0" marL="0">
              <a:spcAft>
                <a:spcPts val="400"/>
              </a:spcAft>
              <a:buNone/>
            </a:pPr>
            <a:r>
              <a:rPr lang="en-US" sz="1100" dirty="0">
                <a:solidFill>
                  <a:schemeClr val="accent6"/>
                </a:solidFill>
              </a:rPr>
              <a:t> · 2fas.com</a:t>
            </a:r>
            <a:endParaRPr lang="en-US" sz="1100" dirty="0"/>
          </a:p>
          <a:p>
            <a:pPr indent="0" marL="0">
              <a:spcAft>
                <a:spcPts val="400"/>
              </a:spcAft>
              <a:buNone/>
            </a:pPr>
            <a:r>
              <a:rPr lang="en-US" sz="1100" b="1" dirty="0">
                <a:solidFill>
                  <a:schemeClr val="tx2"/>
                </a:solidFill>
              </a:rPr>
              <a:t>[42] </a:t>
            </a:r>
            <a:pPr indent="0" marL="0">
              <a:spcAft>
                <a:spcPts val="400"/>
              </a:spcAft>
              <a:buNone/>
            </a:pPr>
            <a:r>
              <a:rPr lang="en-US" sz="1100" u="sng" dirty="0">
                <a:solidFill>
                  <a:schemeClr val="tx1"/>
                </a:solidFill>
                <a:hlinkClick r:id="rId19" invalidUrl="" action="" tgtFrame="" tooltip="https://github.com/twofas" history="1" highlightClick="0" endSnd="0">
                  <a:extLst>
                    <a:ext uri="{A12FA001-AC4F-418D-AE19-62706E023703}">
                      <ahyp:hlinkClr xmlns:ahyp="http://schemas.microsoft.com/office/drawing/2018/hyperlinkcolor" val="tx"/>
                    </a:ext>
                  </a:extLst>
                </a:hlinkClick>
              </a:rPr>
              <a:t>2FAS – Quellcode auf GitHub</a:t>
            </a:r>
            <a:pPr indent="0" marL="0">
              <a:spcAft>
                <a:spcPts val="400"/>
              </a:spcAft>
              <a:buNone/>
            </a:pPr>
            <a:r>
              <a:rPr lang="en-US" sz="1100" dirty="0">
                <a:solidFill>
                  <a:schemeClr val="accent6"/>
                </a:solidFill>
              </a:rPr>
              <a:t> · github.com</a:t>
            </a:r>
            <a:endParaRPr lang="en-US" sz="1100" dirty="0"/>
          </a:p>
          <a:p>
            <a:pPr indent="0" marL="0">
              <a:spcAft>
                <a:spcPts val="400"/>
              </a:spcAft>
              <a:buNone/>
            </a:pPr>
            <a:r>
              <a:rPr lang="en-US" sz="1100" b="1" dirty="0">
                <a:solidFill>
                  <a:schemeClr val="tx2"/>
                </a:solidFill>
              </a:rPr>
              <a:t>[43] </a:t>
            </a:r>
            <a:pPr indent="0" marL="0">
              <a:spcAft>
                <a:spcPts val="400"/>
              </a:spcAft>
              <a:buNone/>
            </a:pPr>
            <a:r>
              <a:rPr lang="en-US" sz="1100" u="sng" dirty="0">
                <a:solidFill>
                  <a:schemeClr val="tx1"/>
                </a:solidFill>
                <a:hlinkClick r:id="rId20" invalidUrl="" action="" tgtFrame="" tooltip="https://www.bsi.bund.de/DE/Themen/Verbraucherinnen-und-Verbraucher/Informationen-und-Empfehlungen/Cyber-Sicherheitsempfehlungen/Accountschutz/Passkeys/passkeys-anmelden-ohne-passwort_node.html" history="1" highlightClick="0" endSnd="0">
                  <a:extLst>
                    <a:ext uri="{A12FA001-AC4F-418D-AE19-62706E023703}">
                      <ahyp:hlinkClr xmlns:ahyp="http://schemas.microsoft.com/office/drawing/2018/hyperlinkcolor" val="tx"/>
                    </a:ext>
                  </a:extLst>
                </a:hlinkClick>
              </a:rPr>
              <a:t>BSI – Passkeys: Anmelden ohne Passwort</a:t>
            </a:r>
            <a:pPr indent="0" marL="0">
              <a:spcAft>
                <a:spcPts val="400"/>
              </a:spcAft>
              <a:buNone/>
            </a:pPr>
            <a:r>
              <a:rPr lang="en-US" sz="1100" dirty="0">
                <a:solidFill>
                  <a:schemeClr val="accent6"/>
                </a:solidFill>
              </a:rPr>
              <a:t> · bsi.bund.de</a:t>
            </a:r>
            <a:endParaRPr lang="en-US" sz="1100" dirty="0"/>
          </a:p>
          <a:p>
            <a:pPr indent="0" marL="0">
              <a:spcAft>
                <a:spcPts val="400"/>
              </a:spcAft>
              <a:buNone/>
            </a:pPr>
            <a:r>
              <a:rPr lang="en-US" sz="1100" b="1" dirty="0">
                <a:solidFill>
                  <a:schemeClr val="tx2"/>
                </a:solidFill>
              </a:rPr>
              <a:t>[44] </a:t>
            </a:r>
            <a:pPr indent="0" marL="0">
              <a:spcAft>
                <a:spcPts val="400"/>
              </a:spcAft>
              <a:buNone/>
            </a:pPr>
            <a:r>
              <a:rPr lang="en-US" sz="1100" u="sng" dirty="0">
                <a:solidFill>
                  <a:schemeClr val="tx1"/>
                </a:solidFill>
                <a:hlinkClick r:id="rId21" invalidUrl="" action="" tgtFrame="" tooltip="https://fidoalliance.org/passkeys/" history="1" highlightClick="0" endSnd="0">
                  <a:extLst>
                    <a:ext uri="{A12FA001-AC4F-418D-AE19-62706E023703}">
                      <ahyp:hlinkClr xmlns:ahyp="http://schemas.microsoft.com/office/drawing/2018/hyperlinkcolor" val="tx"/>
                    </a:ext>
                  </a:extLst>
                </a:hlinkClick>
              </a:rPr>
              <a:t>FIDO Alliance – Passkeys</a:t>
            </a:r>
            <a:pPr indent="0" marL="0">
              <a:spcAft>
                <a:spcPts val="400"/>
              </a:spcAft>
              <a:buNone/>
            </a:pPr>
            <a:r>
              <a:rPr lang="en-US" sz="1100" dirty="0">
                <a:solidFill>
                  <a:schemeClr val="accent6"/>
                </a:solidFill>
              </a:rPr>
              <a:t> · fidoalliance.org</a:t>
            </a:r>
            <a:endParaRPr lang="en-US" sz="1100" dirty="0"/>
          </a:p>
          <a:p>
            <a:pPr indent="0" marL="0">
              <a:spcAft>
                <a:spcPts val="400"/>
              </a:spcAft>
              <a:buNone/>
            </a:pPr>
            <a:r>
              <a:rPr lang="en-US" sz="1100" b="1" dirty="0">
                <a:solidFill>
                  <a:schemeClr val="tx2"/>
                </a:solidFill>
              </a:rPr>
              <a:t>[45] </a:t>
            </a:r>
            <a:pPr indent="0" marL="0">
              <a:spcAft>
                <a:spcPts val="400"/>
              </a:spcAft>
              <a:buNone/>
            </a:pPr>
            <a:r>
              <a:rPr lang="en-US" sz="1100" u="sng" dirty="0">
                <a:solidFill>
                  <a:schemeClr val="tx1"/>
                </a:solidFill>
                <a:hlinkClick r:id="rId22" invalidUrl="" action="" tgtFrame="" tooltip="https://support.google.com/chrome/answer/13168025?hl=de" history="1" highlightClick="0" endSnd="0">
                  <a:extLst>
                    <a:ext uri="{A12FA001-AC4F-418D-AE19-62706E023703}">
                      <ahyp:hlinkClr xmlns:ahyp="http://schemas.microsoft.com/office/drawing/2018/hyperlinkcolor" val="tx"/>
                    </a:ext>
                  </a:extLst>
                </a:hlinkClick>
              </a:rPr>
              <a:t>Google Chrome-Hilfe – Passkeys in Chrome verwalten</a:t>
            </a:r>
            <a:pPr indent="0" marL="0">
              <a:spcAft>
                <a:spcPts val="400"/>
              </a:spcAft>
              <a:buNone/>
            </a:pPr>
            <a:r>
              <a:rPr lang="en-US" sz="1100" dirty="0">
                <a:solidFill>
                  <a:schemeClr val="accent6"/>
                </a:solidFill>
              </a:rPr>
              <a:t> · support.google.com</a:t>
            </a:r>
            <a:endParaRPr lang="en-US" sz="1100" dirty="0"/>
          </a:p>
          <a:p>
            <a:pPr indent="0" marL="0">
              <a:spcAft>
                <a:spcPts val="400"/>
              </a:spcAft>
              <a:buNone/>
            </a:pPr>
            <a:r>
              <a:rPr lang="en-US" sz="1100" b="1" dirty="0">
                <a:solidFill>
                  <a:schemeClr val="tx2"/>
                </a:solidFill>
              </a:rPr>
              <a:t>[46] </a:t>
            </a:r>
            <a:pPr indent="0" marL="0">
              <a:spcAft>
                <a:spcPts val="400"/>
              </a:spcAft>
              <a:buNone/>
            </a:pPr>
            <a:r>
              <a:rPr lang="en-US" sz="1100" u="sng" dirty="0">
                <a:solidFill>
                  <a:schemeClr val="tx1"/>
                </a:solidFill>
                <a:hlinkClick r:id="rId23" invalidUrl="" action="" tgtFrame="" tooltip="https://bitwarden.com/help/storing-passkeys/" history="1" highlightClick="0" endSnd="0">
                  <a:extLst>
                    <a:ext uri="{A12FA001-AC4F-418D-AE19-62706E023703}">
                      <ahyp:hlinkClr xmlns:ahyp="http://schemas.microsoft.com/office/drawing/2018/hyperlinkcolor" val="tx"/>
                    </a:ext>
                  </a:extLst>
                </a:hlinkClick>
              </a:rPr>
              <a:t>Bitwarden-Hilfe – Passkeys speichern</a:t>
            </a:r>
            <a:pPr indent="0" marL="0">
              <a:spcAft>
                <a:spcPts val="400"/>
              </a:spcAft>
              <a:buNone/>
            </a:pPr>
            <a:r>
              <a:rPr lang="en-US" sz="1100" dirty="0">
                <a:solidFill>
                  <a:schemeClr val="accent6"/>
                </a:solidFill>
              </a:rPr>
              <a:t> · bitwarden.com</a:t>
            </a:r>
            <a:endParaRPr lang="en-US" sz="1100" dirty="0"/>
          </a:p>
        </p:txBody>
      </p:sp>
      <p:sp>
        <p:nvSpPr>
          <p:cNvPr id="6" name="Text 2"/>
          <p:cNvSpPr/>
          <p:nvPr>
            <p:ph idx="105" type="body" hasCustomPrompt="1"/>
          </p:nvPr>
        </p:nvSpPr>
        <p:spPr>
          <a:xfrm>
            <a:off x="548640" y="6199632"/>
            <a:ext cx="11064240" cy="310896"/>
          </a:xfrm>
          <a:prstGeom prst="rect">
            <a:avLst/>
          </a:prstGeom>
          <a:noFill/>
          <a:ln/>
        </p:spPr>
        <p:txBody>
          <a:bodyPr wrap="square" lIns="0" tIns="0" rIns="0" bIns="0" rtlCol="0" anchor="t"/>
          <a:lstStyle/>
          <a:p>
            <a:pPr indent="0" marL="0">
              <a:buNone/>
            </a:pPr>
            <a:r>
              <a:rPr lang="en-US" sz="900" b="1" dirty="0">
                <a:solidFill>
                  <a:schemeClr val="accent6"/>
                </a:solidFill>
              </a:rPr>
              <a:t>Lizenz: </a:t>
            </a:r>
            <a:pPr indent="0" marL="0">
              <a:buNone/>
            </a:pPr>
            <a:r>
              <a:rPr lang="en-US" sz="900" dirty="0">
                <a:solidFill>
                  <a:schemeClr val="accent6"/>
                </a:solidFill>
              </a:rPr>
              <a:t>Folien: CC BY 4.0 · Icons: Lucide (ISC), Simple Icons (CC0), Font Awesome Free (CC BY 4.0) · Markenlogos gehören ihren Inhabern.</a:t>
            </a:r>
            <a:endParaRPr lang="en-US" sz="900" dirty="0"/>
          </a:p>
        </p:txBody>
      </p:sp>
      <p:sp>
        <p:nvSpPr>
          <p:cNvPr id="25" name="Slide Number Placeholder 0"/>
          <p:cNvSpPr>
            <a:spLocks noGrp="1"/>
          </p:cNvSpPr>
          <p:nvPr>
            <p:ph type="sldNum" sz="quarter" idx="4294967295"/>
          </p:nvPr>
        </p:nvSpPr>
        <p:spPr>
          <a:xfrm>
            <a:off x="10881360" y="6530645"/>
            <a:ext cx="868680" cy="32735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chemeClr val="tx2"/>
                </a:solidFill>
              </a:defRPr>
            </a:lvl1pPr>
          </a:lstStyle>
          <a:p>
            <a:pPr algn="l"/>
            <a:fld id="{F7021451-1387-4CA6-816F-3879F97B5CBC}" type="slidenum">
              <a:rPr b="1" lang="en-US"/>
              <a:t>21</a:t>
            </a:fld>
            <a:endParaRPr lang="en-US"/>
          </a:p>
        </p:txBody>
      </p:sp>
    </p:spTree>
  </p:cSld>
  <p:clrMapOvr>
    <a:masterClrMapping/>
  </p:clrMapOvr>
</p:sld>
</file>

<file path=ppt/theme/theme1.xml><?xml version="1.0" encoding="utf-8"?>
<a:theme xmlns:a="http://schemas.openxmlformats.org/drawingml/2006/main" name="DIDAY">
  <a:themeElements>
    <a:clrScheme name="DIDAY">
      <a:dk1>
        <a:srgbClr val="1D1D1B"/>
      </a:dk1>
      <a:lt1>
        <a:srgbClr val="FFFFFF"/>
      </a:lt1>
      <a:dk2>
        <a:srgbClr val="595082"/>
      </a:dk2>
      <a:lt2>
        <a:srgbClr val="EFEDF7"/>
      </a:lt2>
      <a:accent1>
        <a:srgbClr val="F8C662"/>
      </a:accent1>
      <a:accent2>
        <a:srgbClr val="4E46DC"/>
      </a:accent2>
      <a:accent3>
        <a:srgbClr val="C8443F"/>
      </a:accent3>
      <a:accent4>
        <a:srgbClr val="2E9361"/>
      </a:accent4>
      <a:accent5>
        <a:srgbClr val="D6D2EE"/>
      </a:accent5>
      <a:accent6>
        <a:srgbClr val="6B6787"/>
      </a:accent6>
      <a:hlink>
        <a:srgbClr val="4E46DC"/>
      </a:hlink>
      <a:folHlink>
        <a:srgbClr val="6B6787"/>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Passwörter und Zwei-Faktor – einfach sicher</dc:title>
  <dc:subject>Passwortmanager und Authenticator-Apps nach den di.day-Wechselrezepten</dc:subject>
  <dc:creator>bmmmm</dc:creator>
  <cp:lastModifiedBy>bmmmm</cp:lastModifiedBy>
  <cp:revision>1</cp:revision>
  <dcterms:created xsi:type="dcterms:W3CDTF">2026-10-30T12:40:49Z</dcterms:created>
  <dcterms:modified xsi:type="dcterms:W3CDTF">2026-10-30T12:40:49Z</dcterms:modified>
</cp:coreProperties>
</file>